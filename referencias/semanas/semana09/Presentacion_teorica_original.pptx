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73152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EVOLUCIÓN Y CONFIGURACIÓN DE SOFTWARE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Gestión del Cambio en Software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Fundamentos Teóricos, Proceso de Control y su Aplicación en Git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INTEGRANTES: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CUBA GONZALEZ, Adrian Giovanni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GORAY GONZALES, Nicolas Alexander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29768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DOCENTE DEL CURSO: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Ing. VILCHEZ VALDEZ, Edgard William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Trujillo – Perú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FUNDAMENTOS Y NECESIDAD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¿Qué es un Cambio y por qué Controlarlo?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El impacto de la disciplina frente a la modificación descontrolada del código.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90007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358487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EL RIESGO SIN CONTROL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Cambios No Evaluados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Consecuencias críticas de alterar código sin análisis previo: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Regresiones y fallos en módulos previamente estables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Aparición de brechas de seguridad inadvertidas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Desviación descontrolada del alcance (Scope Creep)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Incapacidad de recuperación rápida ante caídas en 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103120"/>
            <a:ext cx="5090007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4487" y="2468880"/>
            <a:ext cx="4358487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EL CONTROL ESTRUCTURADO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Gobernanza del Software (SCM)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Beneficios de un marco de control sistemático: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Preservación de la arquitectura y la mantenibilidad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Trazabilidad inmutable de cada decisión técnica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Alineación con prioridades de negocio y calidad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Capacidad de reversión inmediata (Plan de Rollback)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TAXONOMÍA DEL MANTENIMIENTO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Los 4 Tipos de Cambios en Software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Clasificación estándar según el origen y la finalidad de la modificación.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430703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1882063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Cambio Correctivo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Repara defectos o inconsistencias en la lógica del sistema reportados tras el despliegue.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Causa: Reporte de bug o alerta de log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Ejemplo: Corregir error de cálculo en pasarela de pagos que arrojaba excepción 500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7983" y="2103120"/>
            <a:ext cx="2430703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2303" y="2423160"/>
            <a:ext cx="1882063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Cambio Adaptativo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Ajusta el software a nuevas condiciones de su entorno, tecnología o marco regulatorio.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Causa: Actualización de SO o contrato de API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Ejemplo: Migrar autenticación a OAuth 2.0 y cumplir con normativa de privacidad RGPD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103120"/>
            <a:ext cx="2430703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423160"/>
            <a:ext cx="1882063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Cambio Perfectivo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Añade nuevas funcionalidades o mejora sustancialmente el rendimiento y la usabilidad.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Causa: Requerimientos de negocio y feedback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Ejemplo: Indexar búsquedas con Elasticsearch, reduciendo respuesta de 3.8s a 150ms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8031" y="2103120"/>
            <a:ext cx="2430703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2351" y="2423160"/>
            <a:ext cx="1882063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Cambio Preventivo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Modifica el código para anticipar fallas futuras y reducir la deuda técnica acumulada.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Causa: Auditorías de código y mantenibilidad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Ejemplo: Refactorizar módulo monolítico y elevar cobertura de tests del 35% al 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CICLO DE VIDA DEL CAMBIO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El Proceso de Gestión en 4 Fases Macro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Secuencia estructurada que abarca las 8 etapas fundamentales del cambio.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10545775" cy="365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30703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188206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PASO 01</a:t>
            </a:r>
          </a:p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1. Solicitud &amp; Diagnóstico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Recepción formal de la petición (RFC / Issue) y análisis inicial de viabilidad técnica y funcional.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7983" y="2377440"/>
            <a:ext cx="2430703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2303" y="2697480"/>
            <a:ext cx="188206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PASO 02</a:t>
            </a:r>
          </a:p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2. Impacto &amp; Aprobación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Evaluación del radio de alcance (blast radius) y dictamen colegiado del comité (CAB / Lead).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377440"/>
            <a:ext cx="2430703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697480"/>
            <a:ext cx="188206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PASO 03</a:t>
            </a:r>
          </a:p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3. Aislamiento &amp; Desarrollo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Planificación del sprint, creación de rama dedicada en Git e implementación con commits atómicos.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8031" y="2377440"/>
            <a:ext cx="2430703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2351" y="2697480"/>
            <a:ext cx="188206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PASO 04</a:t>
            </a:r>
          </a:p>
          <a:p>
            <a:pPr>
              <a:spcAft>
                <a:spcPts val="800"/>
              </a:spcAft>
              <a:defRPr sz="1700" b="1">
                <a:solidFill>
                  <a:srgbClr val="F8FAFC"/>
                </a:solidFill>
                <a:latin typeface="Segoe UI"/>
              </a:defRPr>
            </a:pPr>
            <a:r>
              <a:t>4. Verificación &amp; Cierre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Tests automatizados en CI, code review en PR, despliegue controlado, changelog y cierre formal.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 LA TEORÍA A LA PRÁCTICA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El Puente con el Mundo Real: Git &amp; GitHub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Cómo los flujos DevOps modernos materializan los principios de ITIL y SCM.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90007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358487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CONCEPTO CLÁSICO / FORMAL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Marco Tradicional (ITIL / SCM)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Mecanismos históricos de control documental: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Solicitud formal de cambio (RFC en formulario)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Reunión presencial del comité asesor (CAB)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Auditoría manual de cumplimiento y riesgos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•  Acta de cierre y actualización de bitácora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103120"/>
            <a:ext cx="5090007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4487" y="2468880"/>
            <a:ext cx="4358487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IMPLEMENTACIÓN MODERNA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Flujo Ágil (GitHub &amp; CI/CD)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Automatización integrada en el ciclo de desarrollo: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GitHub Issues estructurados con plantillas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Pull Requests con revisión de pares obligatoria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Pipelines de CI/CD ejecutando tests automáticos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 Cierre automático con 'Closes #123' y Releases SemVer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GOBERNANZA Y EQUIPO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Roles Clave en la Gestión del Cambio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Distribución de responsabilidades para evitar modificaciones clandestinas.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Solicitante &amp; Product Owner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Identifican la necesidad y definen la prioridad estratégica del cambio.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Apertura formal del Issue / RFC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Alineación con el roadmap de negocio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Aprobación de criterios de aceptación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3978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Desarrollador &amp; Tech Lead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Aseguran la calidad técnica de la implementación y el diseño del código.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Desarrollo aislado en rama (branch)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Apertura de Pull Request con evidencias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Revisión por pares y cumplimiento de guías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QA &amp; Comité de Cambios (CAB)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Garantizan que la modificación no altere la estabilidad de producción.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Validación integral en staging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Evaluación de riesgos y dependencias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Autorización formal del pase a producción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ARTEFACTOS Y CONTROL</a:t>
            </a:r>
          </a:p>
          <a:p>
            <a:pPr>
              <a:spcAft>
                <a:spcPts val="400"/>
              </a:spcAft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Artefactos Esenciales y Buenas Prácticas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Elementos tangibles que blindan la calidad del código y la operación.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Documentos &amp; Plantillas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Estandarización de la información para agilizar revisiones.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Issue Templates con checklist obligatorio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PR Template con descripción del cambio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CHANGELOG.md siguiendo Versionado Semántico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3978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Protección de Ramas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Reglas que impiden saltarse la cadena de control de calidad.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Bloqueo de push directo a rama main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Exigencia de mínimo 1-2 aprobaciones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Superación obligatoria de todos los checks de 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2103120"/>
            <a:ext cx="3332378" cy="4023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0676" y="2423160"/>
            <a:ext cx="2783738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Segoe UI"/>
              </a:defRPr>
            </a:pPr>
            <a:r>
              <a:t>Mitigación de Riesgos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Mecanismos de contingencia para actuar ante imprevistos.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Plan de marcha atrás predefinido (Rollback)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Uso de Feature Flags para encendido seguro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Commits atómicos y trazables (Conventional Commits)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194560"/>
            <a:ext cx="798545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CONCLUSIÓN ESTRATÉGICA</a:t>
            </a:r>
          </a:p>
          <a:p>
            <a:pPr>
              <a:spcAft>
                <a:spcPts val="1800"/>
              </a:spcAft>
              <a:defRPr sz="2600" i="1">
                <a:solidFill>
                  <a:srgbClr val="F8FAFC"/>
                </a:solidFill>
                <a:latin typeface="Segoe UI"/>
              </a:defRPr>
            </a:pPr>
            <a:r>
              <a:t>“La gestión del cambio no busca frenar la innovación, sino construir el andamiaje que permite a los equipos desplegar código con alta frecuencia y máxima confianza.”</a:t>
            </a:r>
          </a:p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Ingeniería de Software &amp; DevOps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Cultura de Excelencia y Estabilidad Continua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