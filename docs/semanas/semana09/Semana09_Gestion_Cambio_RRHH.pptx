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0115602df04d20" /><Relationship Type="http://schemas.openxmlformats.org/officeDocument/2006/relationships/extended-properties" Target="/docProps/app.xml" Id="Rd0b7dd581a8c473b" /><Relationship Type="http://schemas.openxmlformats.org/officeDocument/2006/relationships/officeDocument" Target="/ppt/presentation.xml" Id="R12f9db7c4f604553" /></Relationships>
</file>

<file path=ppt/presentation.xml><?xml version="1.0" encoding="utf-8"?>
<p:presentation xmlns:p="http://schemas.openxmlformats.org/presentationml/2006/main">
  <p:sldMasterIdLst>
    <p:sldMasterId xmlns:r="http://schemas.openxmlformats.org/officeDocument/2006/relationships" id="2147483648" r:id="Racd722c15e2d476e"/>
  </p:sldMasterIdLst>
  <p:notesMasterIdLst>
    <p:notesMasterId xmlns:r="http://schemas.openxmlformats.org/officeDocument/2006/relationships" r:id="R4faec591fd7f4517"/>
  </p:notesMasterIdLst>
  <p:sldIdLst>
    <p:sldId xmlns:r="http://schemas.openxmlformats.org/officeDocument/2006/relationships" id="256" r:id="Re29cfb8d2aa14804"/>
    <p:sldId xmlns:r="http://schemas.openxmlformats.org/officeDocument/2006/relationships" id="257" r:id="Re24c964512574f73"/>
    <p:sldId xmlns:r="http://schemas.openxmlformats.org/officeDocument/2006/relationships" id="258" r:id="R6068d538f6ea4b5b"/>
    <p:sldId xmlns:r="http://schemas.openxmlformats.org/officeDocument/2006/relationships" id="259" r:id="R4d6549ed8d9b4067"/>
    <p:sldId xmlns:r="http://schemas.openxmlformats.org/officeDocument/2006/relationships" id="260" r:id="Ra52d4dd2839d43f4"/>
    <p:sldId xmlns:r="http://schemas.openxmlformats.org/officeDocument/2006/relationships" id="261" r:id="R4905086542194cc1"/>
    <p:sldId xmlns:r="http://schemas.openxmlformats.org/officeDocument/2006/relationships" id="262" r:id="R957f755a64784f08"/>
    <p:sldId xmlns:r="http://schemas.openxmlformats.org/officeDocument/2006/relationships" id="263" r:id="R8e237d0afefe4838"/>
    <p:sldId xmlns:r="http://schemas.openxmlformats.org/officeDocument/2006/relationships" id="264" r:id="R4ec3e131aab341c4"/>
    <p:sldId xmlns:r="http://schemas.openxmlformats.org/officeDocument/2006/relationships" id="265" r:id="R9225631ee0e54d52"/>
    <p:sldId xmlns:r="http://schemas.openxmlformats.org/officeDocument/2006/relationships" id="266" r:id="Ree087fe6cb694887"/>
    <p:sldId xmlns:r="http://schemas.openxmlformats.org/officeDocument/2006/relationships" id="267" r:id="R703afde14d8745dc"/>
    <p:sldId xmlns:r="http://schemas.openxmlformats.org/officeDocument/2006/relationships" id="268" r:id="Ra56bf1076d264530"/>
    <p:sldId xmlns:r="http://schemas.openxmlformats.org/officeDocument/2006/relationships" id="269" r:id="R6b59e62514134e82"/>
    <p:sldId xmlns:r="http://schemas.openxmlformats.org/officeDocument/2006/relationships" id="270" r:id="Ra9c4091d76704377"/>
    <p:sldId xmlns:r="http://schemas.openxmlformats.org/officeDocument/2006/relationships" id="271" r:id="Rc67ae22ce9694f1e"/>
    <p:sldId xmlns:r="http://schemas.openxmlformats.org/officeDocument/2006/relationships" id="272" r:id="R517021c11b3946e4"/>
    <p:sldId xmlns:r="http://schemas.openxmlformats.org/officeDocument/2006/relationships" id="273" r:id="R9fa9ac33b4ee4ae4"/>
    <p:sldId xmlns:r="http://schemas.openxmlformats.org/officeDocument/2006/relationships" id="274" r:id="R09ad449b35eb4108"/>
    <p:sldId xmlns:r="http://schemas.openxmlformats.org/officeDocument/2006/relationships" id="275" r:id="Rea575623cab44525"/>
    <p:sldId xmlns:r="http://schemas.openxmlformats.org/officeDocument/2006/relationships" id="276" r:id="R092619d1494e4131"/>
    <p:sldId xmlns:r="http://schemas.openxmlformats.org/officeDocument/2006/relationships" id="277" r:id="R197ed21eb23e4e84"/>
    <p:sldId xmlns:r="http://schemas.openxmlformats.org/officeDocument/2006/relationships" id="278" r:id="R366d765add124815"/>
    <p:sldId xmlns:r="http://schemas.openxmlformats.org/officeDocument/2006/relationships" id="279" r:id="R694bffd72532463c"/>
    <p:sldId xmlns:r="http://schemas.openxmlformats.org/officeDocument/2006/relationships" id="280" r:id="R8f35e22830164d1d"/>
    <p:sldId xmlns:r="http://schemas.openxmlformats.org/officeDocument/2006/relationships" id="281" r:id="R2a48a5f99ab746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cae9db31474cc5" /><Relationship Type="http://schemas.openxmlformats.org/officeDocument/2006/relationships/slideMaster" Target="/ppt/slideMasters/slideMaster1.xml" Id="Racd722c15e2d476e" /><Relationship Type="http://schemas.openxmlformats.org/officeDocument/2006/relationships/notesMaster" Target="/ppt/notesMasters/notesMaster1.xml" Id="R4faec591fd7f4517" /><Relationship Type="http://schemas.openxmlformats.org/officeDocument/2006/relationships/presProps" Target="/ppt/presProps.xml" Id="R8ec23986ae0b4570" /><Relationship Type="http://schemas.openxmlformats.org/officeDocument/2006/relationships/tableStyles" Target="/ppt/tableStyles.xml" Id="Ree618ee8d90a4ad8" /><Relationship Type="http://schemas.openxmlformats.org/officeDocument/2006/relationships/slide" Target="/ppt/slides/slide1.xml" Id="Re29cfb8d2aa14804" /><Relationship Type="http://schemas.openxmlformats.org/officeDocument/2006/relationships/slide" Target="/ppt/slides/slide2.xml" Id="Re24c964512574f73" /><Relationship Type="http://schemas.openxmlformats.org/officeDocument/2006/relationships/slide" Target="/ppt/slides/slide3.xml" Id="R6068d538f6ea4b5b" /><Relationship Type="http://schemas.openxmlformats.org/officeDocument/2006/relationships/slide" Target="/ppt/slides/slide4.xml" Id="R4d6549ed8d9b4067" /><Relationship Type="http://schemas.openxmlformats.org/officeDocument/2006/relationships/slide" Target="/ppt/slides/slide5.xml" Id="Ra52d4dd2839d43f4" /><Relationship Type="http://schemas.openxmlformats.org/officeDocument/2006/relationships/slide" Target="/ppt/slides/slide6.xml" Id="R4905086542194cc1" /><Relationship Type="http://schemas.openxmlformats.org/officeDocument/2006/relationships/slide" Target="/ppt/slides/slide7.xml" Id="R957f755a64784f08" /><Relationship Type="http://schemas.openxmlformats.org/officeDocument/2006/relationships/slide" Target="/ppt/slides/slide8.xml" Id="R8e237d0afefe4838" /><Relationship Type="http://schemas.openxmlformats.org/officeDocument/2006/relationships/slide" Target="/ppt/slides/slide9.xml" Id="R4ec3e131aab341c4" /><Relationship Type="http://schemas.openxmlformats.org/officeDocument/2006/relationships/slide" Target="/ppt/slides/slide10.xml" Id="R9225631ee0e54d52" /><Relationship Type="http://schemas.openxmlformats.org/officeDocument/2006/relationships/slide" Target="/ppt/slides/slide11.xml" Id="Ree087fe6cb694887" /><Relationship Type="http://schemas.openxmlformats.org/officeDocument/2006/relationships/slide" Target="/ppt/slides/slide12.xml" Id="R703afde14d8745dc" /><Relationship Type="http://schemas.openxmlformats.org/officeDocument/2006/relationships/slide" Target="/ppt/slides/slide13.xml" Id="Ra56bf1076d264530" /><Relationship Type="http://schemas.openxmlformats.org/officeDocument/2006/relationships/slide" Target="/ppt/slides/slide14.xml" Id="R6b59e62514134e82" /><Relationship Type="http://schemas.openxmlformats.org/officeDocument/2006/relationships/slide" Target="/ppt/slides/slide15.xml" Id="Ra9c4091d76704377" /><Relationship Type="http://schemas.openxmlformats.org/officeDocument/2006/relationships/slide" Target="/ppt/slides/slide16.xml" Id="Rc67ae22ce9694f1e" /><Relationship Type="http://schemas.openxmlformats.org/officeDocument/2006/relationships/slide" Target="/ppt/slides/slide17.xml" Id="R517021c11b3946e4" /><Relationship Type="http://schemas.openxmlformats.org/officeDocument/2006/relationships/slide" Target="/ppt/slides/slide18.xml" Id="R9fa9ac33b4ee4ae4" /><Relationship Type="http://schemas.openxmlformats.org/officeDocument/2006/relationships/slide" Target="/ppt/slides/slide19.xml" Id="R09ad449b35eb4108" /><Relationship Type="http://schemas.openxmlformats.org/officeDocument/2006/relationships/slide" Target="/ppt/slides/slide20.xml" Id="Rea575623cab44525" /><Relationship Type="http://schemas.openxmlformats.org/officeDocument/2006/relationships/slide" Target="/ppt/slides/slide21.xml" Id="R092619d1494e4131" /><Relationship Type="http://schemas.openxmlformats.org/officeDocument/2006/relationships/slide" Target="/ppt/slides/slide22.xml" Id="R197ed21eb23e4e84" /><Relationship Type="http://schemas.openxmlformats.org/officeDocument/2006/relationships/slide" Target="/ppt/slides/slide23.xml" Id="R366d765add124815" /><Relationship Type="http://schemas.openxmlformats.org/officeDocument/2006/relationships/slide" Target="/ppt/slides/slide24.xml" Id="R694bffd72532463c" /><Relationship Type="http://schemas.openxmlformats.org/officeDocument/2006/relationships/slide" Target="/ppt/slides/slide25.xml" Id="R8f35e22830164d1d" /><Relationship Type="http://schemas.openxmlformats.org/officeDocument/2006/relationships/slide" Target="/ppt/slides/slide26.xml" Id="R2a48a5f99ab746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a013e263ba4c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c6ff1b1c6946ec" /><Relationship Type="http://schemas.openxmlformats.org/officeDocument/2006/relationships/notesMaster" Target="/ppt/notesMasters/notesMaster1.xml" Id="Rcc516f8dc8004b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e74c1849a146f4" /><Relationship Type="http://schemas.openxmlformats.org/officeDocument/2006/relationships/notesMaster" Target="/ppt/notesMasters/notesMaster1.xml" Id="R7cda89a7cf674f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5ed6822bc74446" /><Relationship Type="http://schemas.openxmlformats.org/officeDocument/2006/relationships/notesMaster" Target="/ppt/notesMasters/notesMaster1.xml" Id="R1f29f59817de4c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af3623f3544210" /><Relationship Type="http://schemas.openxmlformats.org/officeDocument/2006/relationships/notesMaster" Target="/ppt/notesMasters/notesMaster1.xml" Id="Rbf88eef1540744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f4d75b82d14b43" /><Relationship Type="http://schemas.openxmlformats.org/officeDocument/2006/relationships/notesMaster" Target="/ppt/notesMasters/notesMaster1.xml" Id="Raf794abce4cb40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dee2c3b7074214" /><Relationship Type="http://schemas.openxmlformats.org/officeDocument/2006/relationships/notesMaster" Target="/ppt/notesMasters/notesMaster1.xml" Id="Race52223ddc940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f9ca0543604105" /><Relationship Type="http://schemas.openxmlformats.org/officeDocument/2006/relationships/notesMaster" Target="/ppt/notesMasters/notesMaster1.xml" Id="Rc079ca8e473d41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a838d260c3445b" /><Relationship Type="http://schemas.openxmlformats.org/officeDocument/2006/relationships/notesMaster" Target="/ppt/notesMasters/notesMaster1.xml" Id="R9bf2c9f448124b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7a05bbba994dfd" /><Relationship Type="http://schemas.openxmlformats.org/officeDocument/2006/relationships/notesMaster" Target="/ppt/notesMasters/notesMaster1.xml" Id="Rafb8e1ada70748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504257304c47e4" /><Relationship Type="http://schemas.openxmlformats.org/officeDocument/2006/relationships/notesMaster" Target="/ppt/notesMasters/notesMaster1.xml" Id="R01f1b7af56f945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cdf20ad34644ec" /><Relationship Type="http://schemas.openxmlformats.org/officeDocument/2006/relationships/notesMaster" Target="/ppt/notesMasters/notesMaster1.xml" Id="R3dd9b91cc57246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f3ab260cd64fd2" /><Relationship Type="http://schemas.openxmlformats.org/officeDocument/2006/relationships/notesMaster" Target="/ppt/notesMasters/notesMaster1.xml" Id="R6a8434e52af743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bb2e089d9a4699" /><Relationship Type="http://schemas.openxmlformats.org/officeDocument/2006/relationships/notesMaster" Target="/ppt/notesMasters/notesMaster1.xml" Id="R351cee7f78d546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857ed459ac4ed0" /><Relationship Type="http://schemas.openxmlformats.org/officeDocument/2006/relationships/notesMaster" Target="/ppt/notesMasters/notesMaster1.xml" Id="R3ed6cf0b04d14c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e632c793fd4dc9" /><Relationship Type="http://schemas.openxmlformats.org/officeDocument/2006/relationships/notesMaster" Target="/ppt/notesMasters/notesMaster1.xml" Id="R396a3a77855a4c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6f3e0b5fd7408d" /><Relationship Type="http://schemas.openxmlformats.org/officeDocument/2006/relationships/notesMaster" Target="/ppt/notesMasters/notesMaster1.xml" Id="R1431e376747349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abe3916f5a44da" /><Relationship Type="http://schemas.openxmlformats.org/officeDocument/2006/relationships/notesMaster" Target="/ppt/notesMasters/notesMaster1.xml" Id="R0ce3e011e6fb47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f1bab1dc8e64812" /><Relationship Type="http://schemas.openxmlformats.org/officeDocument/2006/relationships/notesMaster" Target="/ppt/notesMasters/notesMaster1.xml" Id="Rdff1edfe33ad45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04fdc8b99e4612" /><Relationship Type="http://schemas.openxmlformats.org/officeDocument/2006/relationships/notesMaster" Target="/ppt/notesMasters/notesMaster1.xml" Id="Rde9bc3fbb74640a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a7c15b189e34439" /><Relationship Type="http://schemas.openxmlformats.org/officeDocument/2006/relationships/notesMaster" Target="/ppt/notesMasters/notesMaster1.xml" Id="Rc5621b5cbd9c4d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1e347761834bac" /><Relationship Type="http://schemas.openxmlformats.org/officeDocument/2006/relationships/notesMaster" Target="/ppt/notesMasters/notesMaster1.xml" Id="R2516deb075924c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068339459e42cb" /><Relationship Type="http://schemas.openxmlformats.org/officeDocument/2006/relationships/notesMaster" Target="/ppt/notesMasters/notesMaster1.xml" Id="R26e32c9580b640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19e02da3194db9" /><Relationship Type="http://schemas.openxmlformats.org/officeDocument/2006/relationships/notesMaster" Target="/ppt/notesMasters/notesMaster1.xml" Id="R80c6167dae0641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4d0da2508a4d71" /><Relationship Type="http://schemas.openxmlformats.org/officeDocument/2006/relationships/notesMaster" Target="/ppt/notesMasters/notesMaster1.xml" Id="Rf676d7fe91ab45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02bdda5378c4207" /><Relationship Type="http://schemas.openxmlformats.org/officeDocument/2006/relationships/notesMaster" Target="/ppt/notesMasters/notesMaster1.xml" Id="R9b0c77ed6b2845f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acf09d60cd54e68" /><Relationship Type="http://schemas.openxmlformats.org/officeDocument/2006/relationships/notesMaster" Target="/ppt/notesMasters/notesMaster1.xml" Id="R7c550018d91c49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Hoy explicaremos cómo gestionar una modificación de software y lo aplicaremos a nuestro RRHH. El proyecto parte de un sistema de 2008 y avanza mediante mejoras semanales. Esta semana seguimos una solicitud concreta: definir quién libera el comando que utiliza el generador de reportes. Veremos cómo reconocer el problema, evaluar su impacto y presentar una solución comprobable. También registraremos dos propuestas que todavía no implementamos. La diferencia importa: identificar una mejora no significa que ya esté terminada. La exposición relaciona conceptos con decisiones reales y termina mostrando dónde consultar el código, las pruebas y el seguimiento en GitHub.</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1</a:t>
            </a:r>
          </a:p>
          <a:p xmlns:a="http://schemas.openxmlformats.org/drawingml/2006/main">
            <a:r>
              <a:t>specs/c07_gestion_cambio.json autorización y CAM-S09-001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cambio puede modificar código, configuración, documentación o datos. Su tamaño aparente no determina todo su impacto. En nuestro caso, el generador prepara un comando, lo entrega a un ejecutor y devuelve un DataSet. Si queremos liberar ese comando, debemos conocer quién lo creó, quién lo utiliza y cuándo termina su uso. Cerrar además la conexión podría introducir otro comportamiento porque pertenece al llamador. Controlar el cambio significa delimitar esta responsabilidad y comprobar que conservamos el resultado y los errores esperados. Así protegemos la mantenibilidad sin prometer que una modificación pequeña elimina todos los riesgos del sistema completo.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2</a:t>
            </a:r>
          </a:p>
          <a:p xmlns:a="http://schemas.openxmlformats.org/drawingml/2006/main">
            <a:r>
              <a:t>Informe_Gestion_del_Cambio_Software.docx sección 2</a:t>
            </a:r>
          </a:p>
          <a:p xmlns:a="http://schemas.openxmlformats.org/drawingml/2006/main">
            <a:r>
              <a:t>specs/c07_gestion_cambio.json CAM-S09-001</a:t>
            </a:r>
          </a:p>
          <a:p xmlns:a="http://schemas.openxmlformats.org/drawingml/2006/main">
            <a:r>
              <a:t>src/v4/caso_ioc/GeneradorReportes.cs</a:t>
            </a:r>
          </a:p>
          <a:p xmlns:a="http://schemas.openxmlformats.org/drawingml/2006/main">
            <a:r>
              <a:t>src/v3/caso_reportes/ComandoReporte.cs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cambio correctivo responde a un defecto que podemos identificar. En el código v4, Generar obtiene un ComandoReporte y lo entrega al ejecutor sin delimitar su liberación. Esa clase implementa IDisposable, por lo que necesitamos una responsabilidad explícita sobre su ciclo de vida. La solicitud CAM-S09-001 propone que Generar lo libere al finalizar la ejecución síncrona, tanto si termina correctamente como si el ejecutor lanza una excepción. No afirmamos haber observado una fuga en producción. El defecto y su corrección se estudian en el código y mediante pruebas aisladas. En la parte práctica veremos la evidencia disponible y sus límites.</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3: correctivo</a:t>
            </a:r>
          </a:p>
          <a:p xmlns:a="http://schemas.openxmlformats.org/drawingml/2006/main">
            <a:r>
              <a:t>specs/c07_gestion_cambio.json CAM-S09-001</a:t>
            </a:r>
          </a:p>
          <a:p xmlns:a="http://schemas.openxmlformats.org/drawingml/2006/main">
            <a:r>
              <a:t>src/v4/caso_ioc/GeneradorReportes.cs</a:t>
            </a:r>
          </a:p>
          <a:p xmlns:a="http://schemas.openxmlformats.org/drawingml/2006/main">
            <a:r>
              <a:t>src/v3/caso_reportes/ComandoReporte.cs</a:t>
            </a:r>
          </a:p>
          <a:p xmlns:a="http://schemas.openxmlformats.org/drawingml/2006/main">
            <a:r>
              <a:t>https://www.computer.org/resources/software-maintenance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cambio adaptativo aparece porque cambia el entorno del software. Imaginemos que un proveedor anuncia el retiro de su API de autenticación v1. Aunque nuestra integración todavía funcione, debemos adaptar el cliente a v2 antes del retiro. Evaluaríamos el contrato de solicitudes, las respuestas y los errores, y comprobaríamos que los usuarios mantienen el acceso previsto. El motivo principal es la evolución de una dependencia externa. Este ejemplo es ilustrativo: no afirmamos que nuestro RRHH utilice esa API ni que esta semana hayamos cambiado su autenticación. Así distinguimos una categoría del mantenimiento de los cambios que realmente registramos en el proyecto.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3: adaptativo</a:t>
            </a:r>
          </a:p>
          <a:p xmlns:a="http://schemas.openxmlformats.org/drawingml/2006/main">
            <a:r>
              <a:t>Informe_Gestion_del_Cambio_Software.docx sección 3: adaptativo</a:t>
            </a:r>
          </a:p>
          <a:p xmlns:a="http://schemas.openxmlformats.org/drawingml/2006/main">
            <a:r>
              <a:t>https://www.computer.org/resources/software-maintenance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cambio perfectivo mejora una capacidad según una necesidad. Nuestra propuesta CAM-S09-003 estudia permitir configurar CommandTimeout para un reporte, conservando un valor predeterminado compatible. Esto permitiría expresar una política de espera, pero no demuestra que una consulta sea más rápida. Antes de implementarlo debemos definir las unidades, los valores permitidos y el comportamiento ante entradas inválidas. También tendríamos que comprobar que la configuración llega al comando correcto. La Issue número doce conserva esta propuesta como pendiente. La clasificación describe su propósito principal. Una misma entrega puede combinar correcciones y mejoras, siempre que identifiquemos y justifiquemos cada alcance por separado.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3: perfectivo</a:t>
            </a:r>
          </a:p>
          <a:p xmlns:a="http://schemas.openxmlformats.org/drawingml/2006/main">
            <a:r>
              <a:t>specs/c07_gestion_cambio.json CAM-S09-003</a:t>
            </a:r>
          </a:p>
          <a:p xmlns:a="http://schemas.openxmlformats.org/drawingml/2006/main">
            <a:r>
              <a:t>https://www.computer.org/resources/software-maintenance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cambio preventivo busca reducir riesgos antes de que provoquen fallas difíciles de diagnosticar. CAM-S09-002 propone validar argumentos nulos al entrar al generador. Por ejemplo, una dependencia inválida podría rechazarse mediante ArgumentNullException en un punto claramente documentado. Debemos tener cuidado: adelantar un error o cambiar su tipo modifica el comportamiento y necesita un contrato, pruebas y decisión explícita. Esta propuesta permanece pendiente y no se incorpora dentro de la corrección del comando. Además, la inyección de dependencias ya existe desde semana siete. Esta semana no debemos atribuirnos otra vez esa refactorización al explicar una mejora preventiva diferente.</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3: preventivo</a:t>
            </a:r>
          </a:p>
          <a:p xmlns:a="http://schemas.openxmlformats.org/drawingml/2006/main">
            <a:r>
              <a:t>specs/c07_gestion_cambio.json CAM-S09-002</a:t>
            </a:r>
          </a:p>
          <a:p xmlns:a="http://schemas.openxmlformats.org/drawingml/2006/main">
            <a:r>
              <a:t>src/v4/caso_ioc/GeneradorReportes.cs</a:t>
            </a:r>
          </a:p>
          <a:p xmlns:a="http://schemas.openxmlformats.org/drawingml/2006/main">
            <a:r>
              <a:t>https://www.computer.org/resources/software-maintenance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proceso ordena una necesidad hasta su cierre. La solicitud describe qué problema queremos resolver. El análisis considera causas y alternativas. El impacto identifica componentes afectados y riesgos. La decisión puede aprobar, posponer o rechazar con un motivo. Después planificamos responsables, criterios y contingencia. La implementación concreta la solución y la verificación contrasta sus resultados con lo acordado. Finalmente registramos e integramos la entrega, conservando sus evidencias. En RRHH seguimos ese recorrido con CAM-S09-001. Las otras dos solicitudes también tienen análisis y seguimiento, aunque permanezcan propuestas. No es necesario implementar todo lo registrado para demostrar que gestionamos correctamente su estado.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4</a:t>
            </a:r>
          </a:p>
          <a:p xmlns:a="http://schemas.openxmlformats.org/drawingml/2006/main">
            <a:r>
              <a:t>Informe_Gestion_del_Cambio_Software.docx sección 4</a:t>
            </a:r>
          </a:p>
          <a:p xmlns:a="http://schemas.openxmlformats.org/drawingml/2006/main">
            <a:r>
              <a:t>specs/c07_gestion_cambio.json solicitudes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análisis de impacto responde hasta dónde llega nuestra modificación. Generar prepara el comando para usarlo dentro de una ejecución síncrona, así que puede delimitar su vida. Preparar, en cambio, entrega el comando al llamador, que podría necesitarlo después. Liberarlo antes de devolverlo rompería ese contrato. También distinguimos el comando de la conexión y del adaptador, porque no debemos apropiarnos de recursos compartidos. Por eso comprobamos que el comando siga disponible durante Ejecutar y se libere después, mientras el DataSet devuelto conserva su identidad y utilidad. La excepción del ejecutor debe propagarse como antes. Estos límites guían la revisión técnica del cambio.</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4: impacto</a:t>
            </a:r>
          </a:p>
          <a:p xmlns:a="http://schemas.openxmlformats.org/drawingml/2006/main">
            <a:r>
              <a:t>specs/c07_gestion_cambio.json CAM-S09-001 y criterios</a:t>
            </a:r>
          </a:p>
          <a:p xmlns:a="http://schemas.openxmlformats.org/drawingml/2006/main">
            <a:r>
              <a:t>src/v4/caso_ioc/GeneradorReportes.cs</a:t>
            </a:r>
          </a:p>
          <a:p xmlns:a="http://schemas.openxmlformats.org/drawingml/2006/main">
            <a:r>
              <a:t>src/v3/caso_reportes/ComandoReporte.cs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roles aclaran responsabilidades, aunque un equipo pequeño puede reunir varias funciones en una persona. El solicitante explica la necesidad. El responsable decide prioridad y alcance. El desarrollador presenta la solución. La revisión técnica examina el código y QA contrasta los criterios de aceptación. El integrador incorpora la entrega. En nuestro proyecto, el responsable indicó que él revisa e integra los cambios. Esto no acredita una revisión de otra persona ni un comité formal. En organizaciones de mayor criticidad puede intervenir un comité de cambios. El control adecuado depende del contexto, y debemos representar lo que nuestro equipo realmente hace y registra.</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6</a:t>
            </a:r>
          </a:p>
          <a:p xmlns:a="http://schemas.openxmlformats.org/drawingml/2006/main">
            <a:r>
              <a:t>Informe_Gestion_del_Cambio_Software.docx sección 7.1</a:t>
            </a:r>
          </a:p>
          <a:p xmlns:a="http://schemas.openxmlformats.org/drawingml/2006/main">
            <a:r>
              <a:t>specs/c07_gestion_cambio.json autorización.revisor_integrador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conserva versiones y GitHub permite alojar el proyecto y organizar colaboración. La Issue explica el problema y su estado. La rama separa el trabajo mientras preparamos la solución. El commit registra cambios concretos y el Pull Request muestra el conjunto que proponemos integrar. Los enlaces permiten seguir esa relación sin depender de conversaciones externas. Un mensaje como fix puede comunicar que corregimos un defecto, pero su contenido debe explicar la modificación. El historial permite inspeccionar versiones y diferencias, aunque puede reescribirse bajo ciertas operaciones. Por eso evitamos llamarlo imposible de alterar o presentarlo como una garantía absoluta de autoría.</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5</a:t>
            </a:r>
          </a:p>
          <a:p xmlns:a="http://schemas.openxmlformats.org/drawingml/2006/main">
            <a:r>
              <a:t>Informe_Gestion_del_Cambio_Software.docx sección 5</a:t>
            </a:r>
          </a:p>
          <a:p xmlns:a="http://schemas.openxmlformats.org/drawingml/2006/main">
            <a:r>
              <a:t>specs/c07_gestion_cambio.json base.rama_trabajo y CAM-S09-001</a:t>
            </a:r>
          </a:p>
          <a:p xmlns:a="http://schemas.openxmlformats.org/drawingml/2006/main">
            <a:r>
              <a:t>https://docs.github.com/en/issues/tracking-your-work-with-issues/using-issues/linking-a-pull-request-to-an-issue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solicitud útil permite decidir cuándo el trabajo está terminado. En CAM-S09-001 describimos el problema y fijamos criterios observables. El comando debe existir mientras el ejecutor lo utiliza y liberarse después, tanto en éxito como ante excepción. El resultado debe conservarse y la excepción debe propagarse sin sustitución intencional. También delimitamos lo que no afirmaremos: las pruebas aisladas no demuestran la integración real con CMI. Estos criterios son más precisos que pedir simplemente mejorar los recursos. La plantilla de una Issue facilita reunir motivo, prioridad, impacto, decisión y evidencia. Después podemos revisar si el código y sus pruebas responden realmente a esa petición.</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7: artefactos</a:t>
            </a:r>
          </a:p>
          <a:p xmlns:a="http://schemas.openxmlformats.org/drawingml/2006/main">
            <a:r>
              <a:t>specs/c07_gestion_cambio.json CAM-S09-001.criterios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revisión analiza si el cambio tiene un alcance coherente y si las pruebas observan lo que prometemos. Para este caso necesitamos examinar el ciclo de vida del comando, su disponibilidad durante la ejecución y su liberación al finalizar. Además, repetimos los escenarios de regresión del generador para comprobar comportamientos anteriores. El número final de casos y su resultado deben salir de la evidencia ejecutada, que mostraremos en el bloque práctico. Una compilación exitosa es una comprobación distinta de una prueba aprobada. Los sustitutos permiten aislar la lógica, pero no verifican procedimientos almacenados, datos reales ni el funcionamiento completo del programa original.</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diapositivas 4 y 7: verificación</a:t>
            </a:r>
          </a:p>
          <a:p xmlns:a="http://schemas.openxmlformats.org/drawingml/2006/main">
            <a:r>
              <a:t>specs/c07_gestion_cambio.json CAM-S09-001.criterios</a:t>
            </a:r>
          </a:p>
          <a:p xmlns:a="http://schemas.openxmlformats.org/drawingml/2006/main">
            <a:r>
              <a:t>evidencia/semanas/semana07/README.md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gestión se apoya en artefactos sencillos. Una plantilla de Issue ayuda a explicar la necesidad y una de Pull Request reúne el alcance, las pruebas y los pendientes. El registro de cambios comunica qué contiene cada entrega. Las reglas de rama pueden exigir verificaciones o revisiones, pero solo si las configuramos y comprobamos. La integración continua puede ejecutar pruebas automáticamente cuando el proyecto dispone de ese flujo. No debemos confundir una recomendación con una configuración existente. En nuestro caso mostraremos los controles realmente publicados. Las versiones y los mensajes de commit también deben describir la evolución sin atribuir a semanas anteriores trabajo que realizamos ahora.</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7</a:t>
            </a:r>
          </a:p>
          <a:p xmlns:a="http://schemas.openxmlformats.org/drawingml/2006/main">
            <a:r>
              <a:t>Informe_Gestion_del_Cambio_Software.docx secciones 7.2 y 7.3</a:t>
            </a:r>
          </a:p>
          <a:p xmlns:a="http://schemas.openxmlformats.org/drawingml/2006/main">
            <a:r>
              <a:t>specs/c07_gestion_cambio.json autorización y 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Planificar la reversión significa saber cómo actuar si la modificación falla. Antes de integrar podemos detener el cambio y corregirlo. Si ya se incorporó, git revert permite registrar un nuevo commit que deshace modificaciones de código. Esto no restaura automáticamente datos, migraciones ni un despliegue en producción. En nuestro caso no modificamos el esquema ni abrimos SQL para probar la corrección, así que debemos describir una contingencia ajustada a ese alcance. Las banderas de funcionalidad permiten activar gradualmente funciones cuando se han diseñado para ello. Son una técnica general, no una capacidad que afirmemos haber añadido al RRHH esta semana.</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7: mitigación</a:t>
            </a:r>
          </a:p>
          <a:p xmlns:a="http://schemas.openxmlformats.org/drawingml/2006/main">
            <a:r>
              <a:t>Informe_Gestion_del_Cambio_Software.docx sección 7.2: rollback</a:t>
            </a:r>
          </a:p>
          <a:p xmlns:a="http://schemas.openxmlformats.org/drawingml/2006/main">
            <a:r>
              <a:t>specs/c07_gestion_cambio.json implementación.fuera_de_alcance</a:t>
            </a:r>
          </a:p>
          <a:p xmlns:a="http://schemas.openxmlformats.org/drawingml/2006/main">
            <a:r>
              <a:t>https://git-scm.com/docs/git-revert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Hasta aquí relacionamos la teoría con nuestro proyecto. Registramos tres necesidades y seleccionamos una corrección acotada para llevarla al código. Las otras dos permanecen propuestas, porque gestionar el cambio también implica decidir qué dejamos fuera de una entrega. Ahora mostraremos el estado anterior, la solución de v5 y las comprobaciones que efectivamente ejecutamos. Después recorreremos sus registros y enlaces de GitHub. El objetivo es que otra persona pueda entender por qué modificamos el generador y qué evidencia respalda esa decisión. Mantendremos claros los límites: una mejora diagnóstica y pruebas aisladas no equivalen a validar el RRHH completo contra su base de datos real.</a:t>
            </a:r>
          </a:p>
          <a:p xmlns:a="http://schemas.openxmlformats.org/drawingml/2006/main">
            <a:r>
              <a:t/>
            </a:r>
          </a:p>
          <a:p xmlns:a="http://schemas.openxmlformats.org/drawingml/2006/main">
            <a:r>
              <a:t>Fuentes y procedencia:</a:t>
            </a:r>
          </a:p>
          <a:p xmlns:a="http://schemas.openxmlformats.org/drawingml/2006/main">
            <a:r>
              <a:t>referencias/semanas/semana09/Semana09_EVO_TG.pdf, páginas 9–13</a:t>
            </a:r>
          </a:p>
          <a:p xmlns:a="http://schemas.openxmlformats.org/drawingml/2006/main">
            <a:r>
              <a:t>Presentacion_Gestion_del_Cambio_Software.pptx diapositiva 8</a:t>
            </a:r>
          </a:p>
          <a:p xmlns:a="http://schemas.openxmlformats.org/drawingml/2006/main">
            <a:r>
              <a:t>specs/c07_gestion_cambio.json solicitudes y límites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práctica pide al menos tres solicitudes relacionadas con RRHH. Registramos las tres en GitHub antes de escribir la nueva implementación. La primera corrige la liberación del comando que crea el generador. La segunda propone validar argumentos nulos. La tercera propone configurar el tiempo de espera. Elegimos la primera porque encontramos una responsabilidad de recurso sin delimitar y podemos comprobar una solución pequeña sin acceder a CMI. Las otras dos continúan abiertas: haberlas identificado no significa que estén aprobadas ni terminadas. Esta distinción demuestra control del alcance. Cada solicitud tiene su motivo, impacto, prioridad propuesta y criterios, y puede seguirse desde la matriz hasta su Issue.</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matriz compara las tres solicitudes usando los mismos criterios. En la primera cambia el final de vida del comando, con el riesgo de que alguien lo quiera reutilizar después. En la segunda cambiarían el tipo y el momento del error ante un argumento nulo, por lo que habría que revisar los consumidores. En la tercera cambiaría la configuración del comando y necesitaríamos definir límites y un valor predeterminado compatible. No asignamos horas o porcentajes de mejora sin medición. Las prioridades son propuestas para esta práctica. La matriz permite justificar la selección y evita que la corrección inicial se convierta informalmente en tres implementaciones distintas.</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solicitud que sí ejecutamos. Su origen es la revisión del generador v4, no un incidente reportado por un usuario de producción. El formato identifica el problema, la razón, el alcance y la evidencia que necesitamos. Definimos dos caminos obligatorios: ejecución con resultado y ejecución con excepción. También dejamos claro qué debemos conservar: el mismo DataSet, la misma excepción del ejecutor y la propiedad del recurso cuando alguien usa Preparar directamente. La autorización general del usuario nos permite realizar la práctica y publicarla. La selección técnica queda documentada sin inventar una aprobación de un comité o una revisión independiente que no ocurrió.</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lado izquierdo muestra la ruta anterior: Preparar crea el contenedor del comando y el ejecutor lo utiliza. El método termina sin llamar explícitamente a Dispose sobre el contenedor. A la derecha delimitamos esa responsabilidad con using. El comando permanece disponible durante la llamada síncrona y se libera antes de salir del método, tanto al devolver el resultado como al propagarse un error del ejecutor. No copiamos ni reescribimos toda la aplicación. La biblioteca v5 selecciona este generador y reutiliza los componentes anteriores. Esta es la implementación visible del cambio; la explicación de gestión está en por qué lo solicitamos, qué riesgos evaluamos y cómo lo comprobamos.</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a:p xmlns:a="http://schemas.openxmlformats.org/drawingml/2006/main">
            <a:r>
              <a:t>src/v4/caso_ioc/GeneradorReportes.cs</a:t>
            </a:r>
          </a:p>
          <a:p xmlns:a="http://schemas.openxmlformats.org/drawingml/2006/main">
            <a:r>
              <a:t>src/v5/caso_cambio/GeneradorReportes.cs</a:t>
            </a:r>
          </a:p>
          <a:p xmlns:a="http://schemas.openxmlformats.org/drawingml/2006/main">
            <a:r>
              <a:t>https://learn.microsoft.com/dotnet/csharp/language-reference/statements/using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importante es quién conserva la responsabilidad sobre cada recurso. Si llamamos Generar, el método crea el ComandoReporte para la ejecución y lo libera al terminar. Si llamamos Preparar directamente, recibimos el contenedor y debemos liberarlo nosotros. El DataSet devuelto es un objeto distinto: la prueba confirma que sigue siendo el mismo resultado y que podemos leer su tabla sintética. La conexión y el adaptador no pasan a ser propiedad del generador. Existe un límite relevante: el adaptador conserva SelectCommand apuntando al comando dispuesto. Por eso necesitamos revisar posibles consumidores externos antes de integrar esta biblioteca con la interfaz y CMI reales.</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comenzamos mostrando solamente pruebas que pasan. Ejecutamos la suite nueva contra el generador anterior para comprobar que detecta precisamente la ausencia de liberación. Cuatro escenarios aprueban y dos fallan: Dispose después del éxito y después del error. La biblioteca y el harness sí compilan, por lo que este resultado no es un fallo de instalación. El ejecutor espía observa el evento Disposed del comando y devuelve datos sintéticos o lanza una excepción controlada. El harness limpia después de observar, para no confundir su propia limpieza con la del generador. Esto reproduce el comportamiento estudiado sin abrir una conexión ni medir una supuesta fuga en producción.</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 el nuevo generador, la misma suite de ciclo de vida aprueba sus seis escenarios. Además repetimos los dieciséis escenarios de IoC anteriores contra v5. Así comprobamos tanto el objetivo nuevo como los contratos que ya conocíamos. Las pruebas observan que el comando está disponible dentro del ejecutor y que después recibe Dispose. También comprueban la identidad del resultado y de la excepción, y la responsabilidad del llamador al usar Preparar. La biblioteca diagnóstica compila veintidós fuentes reutilizadas y nuevas. Estos números describen escenarios concretos y compilación; no son un porcentaje de cobertura ni demuestran que el sistema completo funcione conectado al servidor.</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reproducir el resultado se ejecuta primero compilar_v5.py y después verificar_v5.py. El primer comando compila la selección de fuentes y ejecuta los harness nuevos y de regresión. El segundo comprueba que los hashes, los artefactos y la evidencia corresponden al código actual; también verifica los archivos históricos protegidos y las exclusiones privadas. No usamos los main de las herramientas antiguas porque generarían resultados sobre sus carpetas históricas. Los compilados quedan en .local y los resultados permitidos en evidencia de semana nueve. El verificador conservó quinientos dieciséis blobs protegidos respecto de la base. El índice Git se revisa por separado antes de publicar.</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trazabilidad se puede recorrer en GitHub. Partimos de la Issue diez, donde registramos la solicitud antes de implementar. En la rama semanal aislamos el código, las pruebas y la documentación. El Pull Request trece reúne el diff y explica los resultados y los riesgos. Al integrarlo mediante squash en main, la referencia Closes cierra la solicitud implementada. Las Issues once y doce permanecen abiertas porque no las ejecutamos. Los commits mantienen sus fechas reales. Main es la línea de integración del proyecto académico y no representa un despliegue productivo. El estado definitivo y el identificador del commit pueden comprobarse desde el propio PR.</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a:p xmlns:a="http://schemas.openxmlformats.org/drawingml/2006/main">
            <a:r>
              <a:t>https://github.com/KirderFaid13/RRHH-EvolucionSoftware/issues/10</a:t>
            </a:r>
          </a:p>
          <a:p xmlns:a="http://schemas.openxmlformats.org/drawingml/2006/main">
            <a:r>
              <a:t>https://github.com/KirderFaid13/RRHH-EvolucionSoftware/pull/13</a:t>
            </a:r>
          </a:p>
          <a:p xmlns:a="http://schemas.openxmlformats.org/drawingml/2006/main">
            <a:r>
              <a:t>https://docs.github.com/en/issues/tracking-your-work-with-issues/using-issues/linking-a-pull-request-to-an-issue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plan de reversión depende del estado real del cambio. Antes de integrar, una prueba fallida obliga a detenernos y revisar la propuesta. Después de integrar, una reversión debe identificar el commit correcto y crear una nueva revisión, conservando el historial. También requiere recompilar y comprobar el comportamiento restaurado; recuperar archivos por sí solo no verifica funcionamiento. En este caso no hay migraciones ni datos escritos, de modo que no existe una reversión de base asociada. Si otro cambio incluyera datos, necesitaría un procedimiento específico. Este es un plan previsto: no aplicamos una reversión sobre main para aparentar una recuperación que no necesitábamos.</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a:p xmlns:a="http://schemas.openxmlformats.org/drawingml/2006/main">
            <a:r>
              <a:t>docs/semanas/semana09/04_flujo_y_reversion.md</a:t>
            </a:r>
          </a:p>
          <a:p xmlns:a="http://schemas.openxmlformats.org/drawingml/2006/main">
            <a:r>
              <a:t>https://git-scm.com/docs/git-revert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Concluimos mostrando el resultado y su alcance. Mejoramos una responsabilidad concreta sobre el comando y demostramos el cambio con pruebas antes y después, más regresión. También aplicamos el proceso de gestión: registramos tres solicitudes, analizamos su impacto, seleccionamos una y conservamos las demás como propuestas pendientes. La integración real con CMI y la interfaz no se ha probado. Tampoco medimos memoria, handles, rendimiento o seguridad. El adaptador y los consumidores no recuperados siguen siendo un punto de revisión. Si el docente pregunta por qué no implementamos las tres, la respuesta es que el enunciado pide identificarlas y evaluarlas, y el control del alcance permite demostrar correctamente una intervención seleccionada.</a:t>
            </a:r>
          </a:p>
          <a:p xmlns:a="http://schemas.openxmlformats.org/drawingml/2006/main">
            <a:r>
              <a:t/>
            </a:r>
          </a:p>
          <a:p xmlns:a="http://schemas.openxmlformats.org/drawingml/2006/main">
            <a:r>
              <a:t>Fuentes y procedencia:</a:t>
            </a:r>
          </a:p>
          <a:p xmlns:a="http://schemas.openxmlformats.org/drawingml/2006/main">
            <a:r>
              <a:t>specs/c07_gestion_cambio.json</a:t>
            </a:r>
          </a:p>
          <a:p xmlns:a="http://schemas.openxmlformats.org/drawingml/2006/main">
            <a:r>
              <a:t>docs/semanas/semana09/01_gestion_cambio.md</a:t>
            </a:r>
          </a:p>
          <a:p xmlns:a="http://schemas.openxmlformats.org/drawingml/2006/main">
            <a:r>
              <a:t>evidencia/semanas/semana09/compilacion_y_pruebas.json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d02ef8c3d647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5c1b07c25548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814ff601f643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afc7291a7649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cd643b74a644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ed4db3beb449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782BB6-F4F6-4A0E-A9FE-AE7CF94DEFD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A84D9F-F4D3-40C1-8D8C-8F86347BCE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576F3C-8037-453E-85C1-E3C3EA0CD8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253C7C-6B09-4695-9B7C-174AC464F2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11B3EB1-5501-449C-968B-C58B5EB5D7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EA6D91-EAFB-47FD-934C-2D3E942BDA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0E87C9-9AC0-462B-A278-8DAC671E48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A644DF-8215-4FE7-9484-174FF7A022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AC79D5-BD19-4C00-92E3-64181C2EDA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DBC036-CB2E-41DD-ACED-B6F763BD6C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ca80bdca864925" /><Relationship Type="http://schemas.openxmlformats.org/officeDocument/2006/relationships/slideLayout" Target="/ppt/slideLayouts/slideLayout1.xml" Id="R3057ac4928e747e6" /><Relationship Type="http://schemas.openxmlformats.org/officeDocument/2006/relationships/slideLayout" Target="/ppt/slideLayouts/slideLayout2.xml" Id="R0f9bc8f559904ffe" /><Relationship Type="http://schemas.openxmlformats.org/officeDocument/2006/relationships/slideLayout" Target="/ppt/slideLayouts/slideLayout3.xml" Id="R305dc5cc7d9a4de4" /><Relationship Type="http://schemas.openxmlformats.org/officeDocument/2006/relationships/slideLayout" Target="/ppt/slideLayouts/slideLayout4.xml" Id="Rf177680b4b06432f" /><Relationship Type="http://schemas.openxmlformats.org/officeDocument/2006/relationships/slideLayout" Target="/ppt/slideLayouts/slideLayout5.xml" Id="R786cbfad05d34cb2" /><Relationship Type="http://schemas.openxmlformats.org/officeDocument/2006/relationships/slideLayout" Target="/ppt/slideLayouts/slideLayout6.xml" Id="R7dd76367c7b945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57ac4928e747e6"/>
    <p:sldLayoutId xmlns:r="http://schemas.openxmlformats.org/officeDocument/2006/relationships" id="2147483650" r:id="R0f9bc8f559904ffe"/>
    <p:sldLayoutId xmlns:r="http://schemas.openxmlformats.org/officeDocument/2006/relationships" id="2147483651" r:id="R305dc5cc7d9a4de4"/>
    <p:sldLayoutId xmlns:r="http://schemas.openxmlformats.org/officeDocument/2006/relationships" id="2147483652" r:id="Rf177680b4b06432f"/>
    <p:sldLayoutId xmlns:r="http://schemas.openxmlformats.org/officeDocument/2006/relationships" id="2147483653" r:id="R786cbfad05d34cb2"/>
    <p:sldLayoutId xmlns:r="http://schemas.openxmlformats.org/officeDocument/2006/relationships" id="2147483654" r:id="R7dd76367c7b945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023b7fe13a41d9" /><Relationship Type="http://schemas.openxmlformats.org/officeDocument/2006/relationships/image" Target="/ppt/media/image.png" Id="R72846dd654fc4d84" /><Relationship Type="http://schemas.openxmlformats.org/officeDocument/2006/relationships/notesSlide" Target="/ppt/notesSlides/notesSlide1.xml" Id="Rc8d946a92b8f40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8c584dc12c4b12" /><Relationship Type="http://schemas.openxmlformats.org/officeDocument/2006/relationships/notesSlide" Target="/ppt/notesSlides/notesSlide2.xml" Id="R1ccd9f7ce4f449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bab5214d0a4203" /><Relationship Type="http://schemas.openxmlformats.org/officeDocument/2006/relationships/notesSlide" Target="/ppt/notesSlides/notesSlide3.xml" Id="Rc99beca5d4c040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535312843e4811" /><Relationship Type="http://schemas.openxmlformats.org/officeDocument/2006/relationships/notesSlide" Target="/ppt/notesSlides/notesSlide4.xml" Id="R6bdbe5ebffa74c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6fb16fc6474798" /><Relationship Type="http://schemas.openxmlformats.org/officeDocument/2006/relationships/notesSlide" Target="/ppt/notesSlides/notesSlide5.xml" Id="Rd200f320e1d546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c96f8c8f04e4bb5" /><Relationship Type="http://schemas.openxmlformats.org/officeDocument/2006/relationships/notesSlide" Target="/ppt/notesSlides/notesSlide6.xml" Id="R954c676d01d14a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ea510c2b1142c5" /><Relationship Type="http://schemas.openxmlformats.org/officeDocument/2006/relationships/notesSlide" Target="/ppt/notesSlides/notesSlide7.xml" Id="R1fa45565e27a4a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941c8ad63b479f" /><Relationship Type="http://schemas.openxmlformats.org/officeDocument/2006/relationships/notesSlide" Target="/ppt/notesSlides/notesSlide8.xml" Id="Rcc6de33dff1943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458e5fde73745b6" /><Relationship Type="http://schemas.openxmlformats.org/officeDocument/2006/relationships/notesSlide" Target="/ppt/notesSlides/notesSlide9.xml" Id="Rfaa4896804aa4b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6a68f16e414777" /><Relationship Type="http://schemas.openxmlformats.org/officeDocument/2006/relationships/notesSlide" Target="/ppt/notesSlides/notesSlide10.xml" Id="R345fae25841b42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e162073d7a64a79" /><Relationship Type="http://schemas.openxmlformats.org/officeDocument/2006/relationships/notesSlide" Target="/ppt/notesSlides/notesSlide11.xml" Id="R0384709d96374a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2bc2859cfb54aca" /><Relationship Type="http://schemas.openxmlformats.org/officeDocument/2006/relationships/notesSlide" Target="/ppt/notesSlides/notesSlide12.xml" Id="R922b1237ae1a46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e641055119b43ff" /><Relationship Type="http://schemas.openxmlformats.org/officeDocument/2006/relationships/notesSlide" Target="/ppt/notesSlides/notesSlide13.xml" Id="R00c28437e5434e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6e231276ddb4c38" /><Relationship Type="http://schemas.openxmlformats.org/officeDocument/2006/relationships/notesSlide" Target="/ppt/notesSlides/notesSlide14.xml" Id="R2604df84915e46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b136026f0f4f05" /><Relationship Type="http://schemas.openxmlformats.org/officeDocument/2006/relationships/notesSlide" Target="/ppt/notesSlides/notesSlide15.xml" Id="R232f234cf9504a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a92b4750c914934" /><Relationship Type="http://schemas.openxmlformats.org/officeDocument/2006/relationships/notesSlide" Target="/ppt/notesSlides/notesSlide16.xml" Id="Rbd758f03a42647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876ffa0af484599" /><Relationship Type="http://schemas.openxmlformats.org/officeDocument/2006/relationships/notesSlide" Target="/ppt/notesSlides/notesSlide17.xml" Id="R7bc61e5eed2246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f36c75fc1c64f85" /><Relationship Type="http://schemas.openxmlformats.org/officeDocument/2006/relationships/notesSlide" Target="/ppt/notesSlides/notesSlide18.xml" Id="R0907d67418c848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d976ac08bd743d4" /><Relationship Type="http://schemas.openxmlformats.org/officeDocument/2006/relationships/notesSlide" Target="/ppt/notesSlides/notesSlide19.xml" Id="R009cd65a7c864e2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1be2d356d8646b9" /><Relationship Type="http://schemas.openxmlformats.org/officeDocument/2006/relationships/notesSlide" Target="/ppt/notesSlides/notesSlide20.xml" Id="Rc478c607ef6d43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2b7c7205bb84ba7" /><Relationship Type="http://schemas.openxmlformats.org/officeDocument/2006/relationships/notesSlide" Target="/ppt/notesSlides/notesSlide21.xml" Id="R24a9a51a8f2445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7c8ee29d15f4bbc" /><Relationship Type="http://schemas.openxmlformats.org/officeDocument/2006/relationships/notesSlide" Target="/ppt/notesSlides/notesSlide22.xml" Id="Rd12d469a675b4b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d464bfb00646dd" /><Relationship Type="http://schemas.openxmlformats.org/officeDocument/2006/relationships/notesSlide" Target="/ppt/notesSlides/notesSlide23.xml" Id="R1a365ebd00544f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f5bf2c2158e434e" /><Relationship Type="http://schemas.openxmlformats.org/officeDocument/2006/relationships/notesSlide" Target="/ppt/notesSlides/notesSlide24.xml" Id="Rab9983e1394c4e1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7b6ff22ce144340" /><Relationship Type="http://schemas.openxmlformats.org/officeDocument/2006/relationships/notesSlide" Target="/ppt/notesSlides/notesSlide25.xml" Id="R7c0e46ddc590402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e6e8dc534c4901" /><Relationship Type="http://schemas.openxmlformats.org/officeDocument/2006/relationships/notesSlide" Target="/ppt/notesSlides/notesSlide26.xml" Id="R161940b9ef174b8c" /></Relationships>
</file>

<file path=ppt/slides/slide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5049FF4-1AC4-409C-BF91-57FB45811F3E}"/>
              </a:ext>
            </a:extLst>
          </p:cNvPr>
          <p:cNvPicPr>
            <a:picLocks xmlns:a="http://schemas.openxmlformats.org/drawingml/2006/main" noChangeAspect="1"/>
          </p:cNvPicPr>
          <p:nvPr/>
        </p:nvPicPr>
        <p:blipFill>
          <a:blip xmlns:r="http://schemas.openxmlformats.org/officeDocument/2006/relationships" xmlns:a="http://schemas.openxmlformats.org/drawingml/2006/main" r:embed="R72846dd654fc4d8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ulo-portada">
            <a:extLst xmlns:a="http://schemas.openxmlformats.org/drawingml/2006/main">
              <a:ext uri="{FF2B5EF4-FFF2-40B4-BE49-F238E27FC236}">
                <a16:creationId xmlns:a16="http://schemas.microsoft.com/office/drawing/2014/main" id="{C562C865-62B9-4495-8A14-BF5111E98633}"/>
              </a:ext>
            </a:extLst>
          </p:cNvPr>
          <p:cNvSpPr>
            <a:spLocks xmlns:a="http://schemas.openxmlformats.org/drawingml/2006/main" noGrp="1"/>
          </p:cNvSpPr>
          <p:nvPr/>
        </p:nvSpPr>
        <p:spPr>
          <a:xfrm xmlns:a="http://schemas.openxmlformats.org/drawingml/2006/main">
            <a:off x="609600" y="609600"/>
            <a:ext cx="4810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1233E"/>
                </a:solidFill>
                <a:latin typeface="Arial"/>
                <a:ea typeface="Arial"/>
                <a:cs typeface="Arial"/>
              </a:defRPr>
            </a:defPPr>
          </a:lstStyle>
          <a:p xmlns:a="http://schemas.openxmlformats.org/drawingml/2006/main">
            <a:pPr algn="l">
              <a:lnSpc>
                <a:spcPct val="108000"/>
              </a:lnSpc>
              <a:buNone/>
              <a:defRPr sz="4200" b="1">
                <a:solidFill>
                  <a:srgbClr val="11233E"/>
                </a:solidFill>
                <a:latin typeface="Arial"/>
                <a:ea typeface="Arial"/>
                <a:cs typeface="Arial"/>
              </a:defRPr>
            </a:pPr>
            <a:r>
              <a:rPr sz="4200" b="1">
                <a:solidFill>
                  <a:srgbClr val="11233E"/>
                </a:solidFill>
                <a:latin typeface="Arial"/>
                <a:ea typeface="Arial"/>
                <a:cs typeface="Arial"/>
              </a:rPr>
              <a:t>Gestión del cambio en software</a:t>
            </a:r>
          </a:p>
        </p:txBody>
      </p:sp>
      <p:sp>
        <p:nvSpPr>
          <p:cNvPr id="3" name="proposito-portada">
            <a:extLst xmlns:a="http://schemas.openxmlformats.org/drawingml/2006/main">
              <a:ext uri="{FF2B5EF4-FFF2-40B4-BE49-F238E27FC236}">
                <a16:creationId xmlns:a16="http://schemas.microsoft.com/office/drawing/2014/main" id="{2691EBC0-0C58-4E2A-AEAF-0D5F8C8594A4}"/>
              </a:ext>
            </a:extLst>
          </p:cNvPr>
          <p:cNvSpPr>
            <a:spLocks xmlns:a="http://schemas.openxmlformats.org/drawingml/2006/main" noGrp="1"/>
          </p:cNvSpPr>
          <p:nvPr/>
        </p:nvSpPr>
        <p:spPr>
          <a:xfrm xmlns:a="http://schemas.openxmlformats.org/drawingml/2006/main">
            <a:off x="609600" y="2628900"/>
            <a:ext cx="47053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56A6"/>
                </a:solidFill>
                <a:latin typeface="Arial"/>
                <a:ea typeface="Arial"/>
                <a:cs typeface="Arial"/>
              </a:defRPr>
            </a:defPPr>
          </a:lstStyle>
          <a:p xmlns:a="http://schemas.openxmlformats.org/drawingml/2006/main">
            <a:pPr algn="l">
              <a:lnSpc>
                <a:spcPct val="108000"/>
              </a:lnSpc>
              <a:buNone/>
              <a:defRPr sz="2400" b="0">
                <a:solidFill>
                  <a:srgbClr val="2456A6"/>
                </a:solidFill>
                <a:latin typeface="Arial"/>
                <a:ea typeface="Arial"/>
                <a:cs typeface="Arial"/>
              </a:defRPr>
            </a:pPr>
            <a:r>
              <a:rPr sz="2400" b="0">
                <a:solidFill>
                  <a:srgbClr val="2456A6"/>
                </a:solidFill>
                <a:latin typeface="Arial"/>
                <a:ea typeface="Arial"/>
                <a:cs typeface="Arial"/>
              </a:rPr>
              <a:t>Una solicitud, una decisión y evidencia para evolucionar RRHH.</a:t>
            </a:r>
          </a:p>
        </p:txBody>
      </p:sp>
      <p:sp>
        <p:nvSpPr>
          <p:cNvPr id="4" name="autoria-1">
            <a:extLst xmlns:a="http://schemas.openxmlformats.org/drawingml/2006/main">
              <a:ext uri="{FF2B5EF4-FFF2-40B4-BE49-F238E27FC236}">
                <a16:creationId xmlns:a16="http://schemas.microsoft.com/office/drawing/2014/main" id="{34F46ABC-4AA7-48EC-AB19-6ECA7A8C55DB}"/>
              </a:ext>
            </a:extLst>
          </p:cNvPr>
          <p:cNvSpPr>
            <a:spLocks xmlns:a="http://schemas.openxmlformats.org/drawingml/2006/main" noGrp="1"/>
          </p:cNvSpPr>
          <p:nvPr/>
        </p:nvSpPr>
        <p:spPr>
          <a:xfrm xmlns:a="http://schemas.openxmlformats.org/drawingml/2006/main">
            <a:off x="609600" y="38481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Arial"/>
                <a:ea typeface="Arial"/>
                <a:cs typeface="Arial"/>
              </a:defRPr>
            </a:defPPr>
          </a:lstStyle>
          <a:p xmlns:a="http://schemas.openxmlformats.org/drawingml/2006/main">
            <a:pPr algn="l">
              <a:lnSpc>
                <a:spcPct val="108000"/>
              </a:lnSpc>
              <a:buNone/>
              <a:defRPr sz="2250" b="0">
                <a:solidFill>
                  <a:srgbClr val="11233E"/>
                </a:solidFill>
                <a:latin typeface="Arial"/>
                <a:ea typeface="Arial"/>
                <a:cs typeface="Arial"/>
              </a:defRPr>
            </a:pPr>
            <a:r>
              <a:rPr sz="2250" b="0">
                <a:solidFill>
                  <a:srgbClr val="11233E"/>
                </a:solidFill>
                <a:latin typeface="Arial"/>
                <a:ea typeface="Arial"/>
                <a:cs typeface="Arial"/>
              </a:rPr>
              <a:t>CUBA GONZALEZ, Adrian Giovanni</a:t>
            </a:r>
          </a:p>
        </p:txBody>
      </p:sp>
      <p:sp>
        <p:nvSpPr>
          <p:cNvPr id="5" name="autoria-2">
            <a:extLst xmlns:a="http://schemas.openxmlformats.org/drawingml/2006/main">
              <a:ext uri="{FF2B5EF4-FFF2-40B4-BE49-F238E27FC236}">
                <a16:creationId xmlns:a16="http://schemas.microsoft.com/office/drawing/2014/main" id="{752FBFD7-1A16-4E1E-90F7-78AAB1ADB975}"/>
              </a:ext>
            </a:extLst>
          </p:cNvPr>
          <p:cNvSpPr>
            <a:spLocks xmlns:a="http://schemas.openxmlformats.org/drawingml/2006/main" noGrp="1"/>
          </p:cNvSpPr>
          <p:nvPr/>
        </p:nvSpPr>
        <p:spPr>
          <a:xfrm xmlns:a="http://schemas.openxmlformats.org/drawingml/2006/main">
            <a:off x="609600" y="43243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Arial"/>
                <a:ea typeface="Arial"/>
                <a:cs typeface="Arial"/>
              </a:defRPr>
            </a:defPPr>
          </a:lstStyle>
          <a:p xmlns:a="http://schemas.openxmlformats.org/drawingml/2006/main">
            <a:pPr algn="l">
              <a:lnSpc>
                <a:spcPct val="108000"/>
              </a:lnSpc>
              <a:buNone/>
              <a:defRPr sz="2250" b="0">
                <a:solidFill>
                  <a:srgbClr val="11233E"/>
                </a:solidFill>
                <a:latin typeface="Arial"/>
                <a:ea typeface="Arial"/>
                <a:cs typeface="Arial"/>
              </a:defRPr>
            </a:pPr>
            <a:r>
              <a:rPr sz="2250" b="0">
                <a:solidFill>
                  <a:srgbClr val="11233E"/>
                </a:solidFill>
                <a:latin typeface="Arial"/>
                <a:ea typeface="Arial"/>
                <a:cs typeface="Arial"/>
              </a:rPr>
              <a:t>GORAY GONZALES, Nicolas Alexander</a:t>
            </a:r>
          </a:p>
        </p:txBody>
      </p:sp>
      <p:sp>
        <p:nvSpPr>
          <p:cNvPr id="6" name="autoria-3">
            <a:extLst xmlns:a="http://schemas.openxmlformats.org/drawingml/2006/main">
              <a:ext uri="{FF2B5EF4-FFF2-40B4-BE49-F238E27FC236}">
                <a16:creationId xmlns:a16="http://schemas.microsoft.com/office/drawing/2014/main" id="{96DA4597-DD28-4BB8-9C45-C5C97A9B98B1}"/>
              </a:ext>
            </a:extLst>
          </p:cNvPr>
          <p:cNvSpPr>
            <a:spLocks xmlns:a="http://schemas.openxmlformats.org/drawingml/2006/main" noGrp="1"/>
          </p:cNvSpPr>
          <p:nvPr/>
        </p:nvSpPr>
        <p:spPr>
          <a:xfrm xmlns:a="http://schemas.openxmlformats.org/drawingml/2006/main">
            <a:off x="609600" y="51816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Arial"/>
                <a:ea typeface="Arial"/>
                <a:cs typeface="Arial"/>
              </a:defRPr>
            </a:defPPr>
          </a:lstStyle>
          <a:p xmlns:a="http://schemas.openxmlformats.org/drawingml/2006/main">
            <a:pPr algn="l">
              <a:lnSpc>
                <a:spcPct val="108000"/>
              </a:lnSpc>
              <a:buNone/>
              <a:defRPr sz="2250" b="0">
                <a:solidFill>
                  <a:srgbClr val="11233E"/>
                </a:solidFill>
                <a:latin typeface="Arial"/>
                <a:ea typeface="Arial"/>
                <a:cs typeface="Arial"/>
              </a:defRPr>
            </a:pPr>
            <a:r>
              <a:rPr sz="2250" b="0">
                <a:solidFill>
                  <a:srgbClr val="11233E"/>
                </a:solidFill>
                <a:latin typeface="Arial"/>
                <a:ea typeface="Arial"/>
                <a:cs typeface="Arial"/>
              </a:rPr>
              <a:t>Docente: Ing. VILCHEZ VALDEZ, Edgard William</a:t>
            </a:r>
          </a:p>
        </p:txBody>
      </p:sp>
      <p:sp>
        <p:nvSpPr>
          <p:cNvPr id="7" name="autoria-4">
            <a:extLst xmlns:a="http://schemas.openxmlformats.org/drawingml/2006/main">
              <a:ext uri="{FF2B5EF4-FFF2-40B4-BE49-F238E27FC236}">
                <a16:creationId xmlns:a16="http://schemas.microsoft.com/office/drawing/2014/main" id="{AD338EB5-61E5-4F02-B17D-4431BE85D990}"/>
              </a:ext>
            </a:extLst>
          </p:cNvPr>
          <p:cNvSpPr>
            <a:spLocks xmlns:a="http://schemas.openxmlformats.org/drawingml/2006/main" noGrp="1"/>
          </p:cNvSpPr>
          <p:nvPr/>
        </p:nvSpPr>
        <p:spPr>
          <a:xfrm xmlns:a="http://schemas.openxmlformats.org/drawingml/2006/main">
            <a:off x="609600" y="60864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Arial"/>
                <a:ea typeface="Arial"/>
                <a:cs typeface="Arial"/>
              </a:defRPr>
            </a:defPPr>
          </a:lstStyle>
          <a:p xmlns:a="http://schemas.openxmlformats.org/drawingml/2006/main">
            <a:pPr algn="l">
              <a:lnSpc>
                <a:spcPct val="108000"/>
              </a:lnSpc>
              <a:buNone/>
              <a:defRPr sz="2250" b="0">
                <a:solidFill>
                  <a:srgbClr val="11233E"/>
                </a:solidFill>
                <a:latin typeface="Arial"/>
                <a:ea typeface="Arial"/>
                <a:cs typeface="Arial"/>
              </a:defRPr>
            </a:pPr>
            <a:r>
              <a:rPr sz="2250" b="0">
                <a:solidFill>
                  <a:srgbClr val="11233E"/>
                </a:solidFill>
                <a:latin typeface="Arial"/>
                <a:ea typeface="Arial"/>
                <a:cs typeface="Arial"/>
              </a:rPr>
              <a:t>UPN · Trujillo · 2026</a:t>
            </a:r>
          </a:p>
        </p:txBody>
      </p:sp>
      <p:sp>
        <p:nvSpPr>
          <p:cNvPr id="8" name="pie-1">
            <a:extLst xmlns:a="http://schemas.openxmlformats.org/drawingml/2006/main">
              <a:ext uri="{FF2B5EF4-FFF2-40B4-BE49-F238E27FC236}">
                <a16:creationId xmlns:a16="http://schemas.microsoft.com/office/drawing/2014/main" id="{8F039E84-1C02-47F5-943B-C928E9D844FA}"/>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01</a:t>
            </a:r>
          </a:p>
        </p:txBody>
      </p:sp>
    </p:spTree>
    <p:extLst>
      <p:ext uri="{BB962C8B-B14F-4D97-AF65-F5344CB8AC3E}">
        <p14:creationId xmlns:p14="http://schemas.microsoft.com/office/powerpoint/2010/main" val="2084477948"/>
      </p:ext>
    </p:extLst>
  </p:cSld>
</p:sld>
</file>

<file path=ppt/slides/slide2.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2">
            <a:extLst xmlns:a="http://schemas.openxmlformats.org/drawingml/2006/main">
              <a:ext uri="{FF2B5EF4-FFF2-40B4-BE49-F238E27FC236}">
                <a16:creationId xmlns:a16="http://schemas.microsoft.com/office/drawing/2014/main" id="{F932305F-984D-4862-BA80-9FCF7BB04529}"/>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Qué cambia y por qué lo controlamos</a:t>
            </a:r>
          </a:p>
        </p:txBody>
      </p:sp>
      <p:sp>
        <p:nvSpPr>
          <p:cNvPr id="2" name="contenido-1">
            <a:extLst xmlns:a="http://schemas.openxmlformats.org/drawingml/2006/main">
              <a:ext uri="{FF2B5EF4-FFF2-40B4-BE49-F238E27FC236}">
                <a16:creationId xmlns:a16="http://schemas.microsoft.com/office/drawing/2014/main" id="{E9FDF314-5D8A-48A5-84CF-5A669B133EB1}"/>
              </a:ext>
            </a:extLst>
          </p:cNvPr>
          <p:cNvSpPr>
            <a:spLocks xmlns:a="http://schemas.openxmlformats.org/drawingml/2006/main" noGrp="1"/>
          </p:cNvSpPr>
          <p:nvPr/>
        </p:nvSpPr>
        <p:spPr>
          <a:xfrm xmlns:a="http://schemas.openxmlformats.org/drawingml/2006/main">
            <a:off x="609600" y="2047875"/>
            <a:ext cx="10972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6F1E8"/>
                </a:solidFill>
                <a:latin typeface="Arial"/>
                <a:ea typeface="Arial"/>
                <a:cs typeface="Arial"/>
              </a:defRPr>
            </a:defPPr>
          </a:lstStyle>
          <a:p xmlns:a="http://schemas.openxmlformats.org/drawingml/2006/main">
            <a:pPr algn="l">
              <a:lnSpc>
                <a:spcPct val="108000"/>
              </a:lnSpc>
              <a:buNone/>
              <a:defRPr sz="2850" b="1">
                <a:solidFill>
                  <a:srgbClr val="F6F1E8"/>
                </a:solidFill>
                <a:latin typeface="Arial"/>
                <a:ea typeface="Arial"/>
                <a:cs typeface="Arial"/>
              </a:defRPr>
            </a:pPr>
            <a:r>
              <a:rPr sz="2850" b="1">
                <a:solidFill>
                  <a:srgbClr val="F6F1E8"/>
                </a:solidFill>
                <a:latin typeface="Arial"/>
                <a:ea typeface="Arial"/>
                <a:cs typeface="Arial"/>
              </a:rPr>
              <a:t>Cambiar código puede afectar otros componentes.</a:t>
            </a:r>
          </a:p>
        </p:txBody>
      </p:sp>
      <p:sp>
        <p:nvSpPr>
          <p:cNvPr id="3" name="contenido-2">
            <a:extLst xmlns:a="http://schemas.openxmlformats.org/drawingml/2006/main">
              <a:ext uri="{FF2B5EF4-FFF2-40B4-BE49-F238E27FC236}">
                <a16:creationId xmlns:a16="http://schemas.microsoft.com/office/drawing/2014/main" id="{3DF34935-48AC-4ABD-8FA5-0B207A4E12C1}"/>
              </a:ext>
            </a:extLst>
          </p:cNvPr>
          <p:cNvSpPr>
            <a:spLocks xmlns:a="http://schemas.openxmlformats.org/drawingml/2006/main" noGrp="1"/>
          </p:cNvSpPr>
          <p:nvPr/>
        </p:nvSpPr>
        <p:spPr>
          <a:xfrm xmlns:a="http://schemas.openxmlformats.org/drawingml/2006/main">
            <a:off x="609600" y="2815590"/>
            <a:ext cx="10972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6F1E8"/>
                </a:solidFill>
                <a:latin typeface="Arial"/>
                <a:ea typeface="Arial"/>
                <a:cs typeface="Arial"/>
              </a:defRPr>
            </a:defPPr>
          </a:lstStyle>
          <a:p xmlns:a="http://schemas.openxmlformats.org/drawingml/2006/main">
            <a:pPr algn="l">
              <a:lnSpc>
                <a:spcPct val="108000"/>
              </a:lnSpc>
              <a:buNone/>
              <a:defRPr sz="2850" b="0">
                <a:solidFill>
                  <a:srgbClr val="F6F1E8"/>
                </a:solidFill>
                <a:latin typeface="Arial"/>
                <a:ea typeface="Arial"/>
                <a:cs typeface="Arial"/>
              </a:defRPr>
            </a:pPr>
            <a:r>
              <a:rPr sz="2850" b="0">
                <a:solidFill>
                  <a:srgbClr val="F6F1E8"/>
                </a:solidFill>
                <a:latin typeface="Arial"/>
                <a:ea typeface="Arial"/>
                <a:cs typeface="Arial"/>
              </a:rPr>
              <a:t>Controlamos motivo, alcance, riesgos y comprobaciones.</a:t>
            </a:r>
          </a:p>
        </p:txBody>
      </p:sp>
      <p:sp>
        <p:nvSpPr>
          <p:cNvPr id="4" name="contenido-3">
            <a:extLst xmlns:a="http://schemas.openxmlformats.org/drawingml/2006/main">
              <a:ext uri="{FF2B5EF4-FFF2-40B4-BE49-F238E27FC236}">
                <a16:creationId xmlns:a16="http://schemas.microsoft.com/office/drawing/2014/main" id="{9EFBF2B9-C3E4-4BCA-9EFB-69168800EC2F}"/>
              </a:ext>
            </a:extLst>
          </p:cNvPr>
          <p:cNvSpPr>
            <a:spLocks xmlns:a="http://schemas.openxmlformats.org/drawingml/2006/main" noGrp="1"/>
          </p:cNvSpPr>
          <p:nvPr/>
        </p:nvSpPr>
        <p:spPr>
          <a:xfrm xmlns:a="http://schemas.openxmlformats.org/drawingml/2006/main">
            <a:off x="609600" y="3583305"/>
            <a:ext cx="10972800" cy="916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6F1E8"/>
                </a:solidFill>
                <a:latin typeface="Arial"/>
                <a:ea typeface="Arial"/>
                <a:cs typeface="Arial"/>
              </a:defRPr>
            </a:defPPr>
          </a:lstStyle>
          <a:p xmlns:a="http://schemas.openxmlformats.org/drawingml/2006/main">
            <a:pPr algn="l">
              <a:lnSpc>
                <a:spcPct val="108000"/>
              </a:lnSpc>
              <a:buNone/>
              <a:defRPr sz="2850" b="0">
                <a:solidFill>
                  <a:srgbClr val="F6F1E8"/>
                </a:solidFill>
                <a:latin typeface="Arial"/>
                <a:ea typeface="Arial"/>
                <a:cs typeface="Arial"/>
              </a:defRPr>
            </a:pPr>
            <a:r>
              <a:rPr sz="2850" b="0">
                <a:solidFill>
                  <a:srgbClr val="F6F1E8"/>
                </a:solidFill>
                <a:latin typeface="Arial"/>
                <a:ea typeface="Arial"/>
                <a:cs typeface="Arial"/>
              </a:rPr>
              <a:t>En RRHH: liberar el comando sin cerrar la conexión del llamador.</a:t>
            </a:r>
          </a:p>
        </p:txBody>
      </p:sp>
      <p:sp>
        <p:nvSpPr>
          <p:cNvPr id="5" name="pie-2">
            <a:extLst xmlns:a="http://schemas.openxmlformats.org/drawingml/2006/main">
              <a:ext uri="{FF2B5EF4-FFF2-40B4-BE49-F238E27FC236}">
                <a16:creationId xmlns:a16="http://schemas.microsoft.com/office/drawing/2014/main" id="{57E1D5C1-4469-44ED-9964-8574F7CAF832}"/>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02</a:t>
            </a:r>
          </a:p>
        </p:txBody>
      </p:sp>
    </p:spTree>
    <p:extLst>
      <p:ext uri="{BB962C8B-B14F-4D97-AF65-F5344CB8AC3E}">
        <p14:creationId xmlns:p14="http://schemas.microsoft.com/office/powerpoint/2010/main" val="1871502779"/>
      </p:ext>
    </p:extLst>
  </p:cSld>
</p:sld>
</file>

<file path=ppt/slides/slide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3">
            <a:extLst xmlns:a="http://schemas.openxmlformats.org/drawingml/2006/main">
              <a:ext uri="{FF2B5EF4-FFF2-40B4-BE49-F238E27FC236}">
                <a16:creationId xmlns:a16="http://schemas.microsoft.com/office/drawing/2014/main" id="{FA755568-43E2-444C-B7FD-B62FCAFA82C6}"/>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Cambio correctivo</a:t>
            </a:r>
          </a:p>
        </p:txBody>
      </p:sp>
      <p:sp>
        <p:nvSpPr>
          <p:cNvPr id="2" name="proposito-tipo">
            <a:extLst xmlns:a="http://schemas.openxmlformats.org/drawingml/2006/main">
              <a:ext uri="{FF2B5EF4-FFF2-40B4-BE49-F238E27FC236}">
                <a16:creationId xmlns:a16="http://schemas.microsoft.com/office/drawing/2014/main" id="{1806B71D-C55E-42E2-AA7F-12B7930026A5}"/>
              </a:ext>
            </a:extLst>
          </p:cNvPr>
          <p:cNvSpPr>
            <a:spLocks xmlns:a="http://schemas.openxmlformats.org/drawingml/2006/main" noGrp="1"/>
          </p:cNvSpPr>
          <p:nvPr/>
        </p:nvSpPr>
        <p:spPr>
          <a:xfrm xmlns:a="http://schemas.openxmlformats.org/drawingml/2006/main">
            <a:off x="609600" y="2038350"/>
            <a:ext cx="1047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1233E"/>
                </a:solidFill>
                <a:latin typeface="Arial"/>
                <a:ea typeface="Arial"/>
                <a:cs typeface="Arial"/>
              </a:defRPr>
            </a:defPPr>
          </a:lstStyle>
          <a:p xmlns:a="http://schemas.openxmlformats.org/drawingml/2006/main">
            <a:pPr algn="l">
              <a:lnSpc>
                <a:spcPct val="108000"/>
              </a:lnSpc>
              <a:buNone/>
              <a:defRPr sz="3225" b="1">
                <a:solidFill>
                  <a:srgbClr val="11233E"/>
                </a:solidFill>
                <a:latin typeface="Arial"/>
                <a:ea typeface="Arial"/>
                <a:cs typeface="Arial"/>
              </a:defRPr>
            </a:pPr>
            <a:r>
              <a:rPr sz="3225" b="1">
                <a:solidFill>
                  <a:srgbClr val="11233E"/>
                </a:solidFill>
                <a:latin typeface="Arial"/>
                <a:ea typeface="Arial"/>
                <a:cs typeface="Arial"/>
              </a:rPr>
              <a:t>Corrige un defecto existente.</a:t>
            </a:r>
          </a:p>
        </p:txBody>
      </p:sp>
      <p:sp>
        <p:nvSpPr>
          <p:cNvPr id="3" name="contenido-1">
            <a:extLst xmlns:a="http://schemas.openxmlformats.org/drawingml/2006/main">
              <a:ext uri="{FF2B5EF4-FFF2-40B4-BE49-F238E27FC236}">
                <a16:creationId xmlns:a16="http://schemas.microsoft.com/office/drawing/2014/main" id="{EF63FE26-9634-450C-93AE-E9F407DADD6C}"/>
              </a:ext>
            </a:extLst>
          </p:cNvPr>
          <p:cNvSpPr>
            <a:spLocks xmlns:a="http://schemas.openxmlformats.org/drawingml/2006/main" noGrp="1"/>
          </p:cNvSpPr>
          <p:nvPr/>
        </p:nvSpPr>
        <p:spPr>
          <a:xfrm xmlns:a="http://schemas.openxmlformats.org/drawingml/2006/main">
            <a:off x="609600" y="32670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CAM-S09-001 · Issue #10</a:t>
            </a:r>
          </a:p>
        </p:txBody>
      </p:sp>
      <p:sp>
        <p:nvSpPr>
          <p:cNvPr id="4" name="contenido-2">
            <a:extLst xmlns:a="http://schemas.openxmlformats.org/drawingml/2006/main">
              <a:ext uri="{FF2B5EF4-FFF2-40B4-BE49-F238E27FC236}">
                <a16:creationId xmlns:a16="http://schemas.microsoft.com/office/drawing/2014/main" id="{F5C02A7D-0308-4BFE-BC65-A3B1498A229A}"/>
              </a:ext>
            </a:extLst>
          </p:cNvPr>
          <p:cNvSpPr>
            <a:spLocks xmlns:a="http://schemas.openxmlformats.org/drawingml/2006/main" noGrp="1"/>
          </p:cNvSpPr>
          <p:nvPr/>
        </p:nvSpPr>
        <p:spPr>
          <a:xfrm xmlns:a="http://schemas.openxmlformats.org/drawingml/2006/main">
            <a:off x="609600" y="3912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Generar crea un comando y no delimita su liberación.</a:t>
            </a:r>
          </a:p>
        </p:txBody>
      </p:sp>
      <p:sp>
        <p:nvSpPr>
          <p:cNvPr id="5" name="contenido-3">
            <a:extLst xmlns:a="http://schemas.openxmlformats.org/drawingml/2006/main">
              <a:ext uri="{FF2B5EF4-FFF2-40B4-BE49-F238E27FC236}">
                <a16:creationId xmlns:a16="http://schemas.microsoft.com/office/drawing/2014/main" id="{05BBF605-8557-4E4C-BB15-6B65AE82E153}"/>
              </a:ext>
            </a:extLst>
          </p:cNvPr>
          <p:cNvSpPr>
            <a:spLocks xmlns:a="http://schemas.openxmlformats.org/drawingml/2006/main" noGrp="1"/>
          </p:cNvSpPr>
          <p:nvPr/>
        </p:nvSpPr>
        <p:spPr>
          <a:xfrm xmlns:a="http://schemas.openxmlformats.org/drawingml/2006/main">
            <a:off x="609600" y="45586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Solución acotada: liberar al terminar, también ante excepción.</a:t>
            </a:r>
          </a:p>
        </p:txBody>
      </p:sp>
      <p:sp>
        <p:nvSpPr>
          <p:cNvPr id="6" name="pie-3">
            <a:extLst xmlns:a="http://schemas.openxmlformats.org/drawingml/2006/main">
              <a:ext uri="{FF2B5EF4-FFF2-40B4-BE49-F238E27FC236}">
                <a16:creationId xmlns:a16="http://schemas.microsoft.com/office/drawing/2014/main" id="{D64FD084-E5F3-4579-B5F6-781BB22B201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03</a:t>
            </a:r>
          </a:p>
        </p:txBody>
      </p:sp>
    </p:spTree>
    <p:extLst>
      <p:ext uri="{BB962C8B-B14F-4D97-AF65-F5344CB8AC3E}">
        <p14:creationId xmlns:p14="http://schemas.microsoft.com/office/powerpoint/2010/main" val="72673839"/>
      </p:ext>
    </p:extLst>
  </p:cSld>
</p:sld>
</file>

<file path=ppt/slides/slide4.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4">
            <a:extLst xmlns:a="http://schemas.openxmlformats.org/drawingml/2006/main">
              <a:ext uri="{FF2B5EF4-FFF2-40B4-BE49-F238E27FC236}">
                <a16:creationId xmlns:a16="http://schemas.microsoft.com/office/drawing/2014/main" id="{8053A0B2-20B0-4CF5-AFD9-C2295E5DEA01}"/>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Cambio adaptativo</a:t>
            </a:r>
          </a:p>
        </p:txBody>
      </p:sp>
      <p:sp>
        <p:nvSpPr>
          <p:cNvPr id="2" name="proposito-tipo">
            <a:extLst xmlns:a="http://schemas.openxmlformats.org/drawingml/2006/main">
              <a:ext uri="{FF2B5EF4-FFF2-40B4-BE49-F238E27FC236}">
                <a16:creationId xmlns:a16="http://schemas.microsoft.com/office/drawing/2014/main" id="{977B6ABA-39EB-4269-B5D5-E1E5E5D7867F}"/>
              </a:ext>
            </a:extLst>
          </p:cNvPr>
          <p:cNvSpPr>
            <a:spLocks xmlns:a="http://schemas.openxmlformats.org/drawingml/2006/main" noGrp="1"/>
          </p:cNvSpPr>
          <p:nvPr/>
        </p:nvSpPr>
        <p:spPr>
          <a:xfrm xmlns:a="http://schemas.openxmlformats.org/drawingml/2006/main">
            <a:off x="609600" y="2038350"/>
            <a:ext cx="1047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6F1E8"/>
                </a:solidFill>
                <a:latin typeface="Arial"/>
                <a:ea typeface="Arial"/>
                <a:cs typeface="Arial"/>
              </a:defRPr>
            </a:defPPr>
          </a:lstStyle>
          <a:p xmlns:a="http://schemas.openxmlformats.org/drawingml/2006/main">
            <a:pPr algn="l">
              <a:lnSpc>
                <a:spcPct val="108000"/>
              </a:lnSpc>
              <a:buNone/>
              <a:defRPr sz="3225" b="1">
                <a:solidFill>
                  <a:srgbClr val="F6F1E8"/>
                </a:solidFill>
                <a:latin typeface="Arial"/>
                <a:ea typeface="Arial"/>
                <a:cs typeface="Arial"/>
              </a:defRPr>
            </a:pPr>
            <a:r>
              <a:rPr sz="3225" b="1">
                <a:solidFill>
                  <a:srgbClr val="F6F1E8"/>
                </a:solidFill>
                <a:latin typeface="Arial"/>
                <a:ea typeface="Arial"/>
                <a:cs typeface="Arial"/>
              </a:rPr>
              <a:t>Reacciona a un cambio del entorno.</a:t>
            </a:r>
          </a:p>
        </p:txBody>
      </p:sp>
      <p:sp>
        <p:nvSpPr>
          <p:cNvPr id="3" name="contenido-1">
            <a:extLst xmlns:a="http://schemas.openxmlformats.org/drawingml/2006/main">
              <a:ext uri="{FF2B5EF4-FFF2-40B4-BE49-F238E27FC236}">
                <a16:creationId xmlns:a16="http://schemas.microsoft.com/office/drawing/2014/main" id="{5F9E94F5-E727-4BBC-A33A-3E815EFF7387}"/>
              </a:ext>
            </a:extLst>
          </p:cNvPr>
          <p:cNvSpPr>
            <a:spLocks xmlns:a="http://schemas.openxmlformats.org/drawingml/2006/main" noGrp="1"/>
          </p:cNvSpPr>
          <p:nvPr/>
        </p:nvSpPr>
        <p:spPr>
          <a:xfrm xmlns:a="http://schemas.openxmlformats.org/drawingml/2006/main">
            <a:off x="609600" y="3267075"/>
            <a:ext cx="10972800" cy="824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Ejemplo ilustrativo: el proveedor retira su API de autenticación v1.</a:t>
            </a:r>
          </a:p>
        </p:txBody>
      </p:sp>
      <p:sp>
        <p:nvSpPr>
          <p:cNvPr id="4" name="contenido-2">
            <a:extLst xmlns:a="http://schemas.openxmlformats.org/drawingml/2006/main">
              <a:ext uri="{FF2B5EF4-FFF2-40B4-BE49-F238E27FC236}">
                <a16:creationId xmlns:a16="http://schemas.microsoft.com/office/drawing/2014/main" id="{5F04A541-33DD-462F-8DAB-AB0255BBA9A6}"/>
              </a:ext>
            </a:extLst>
          </p:cNvPr>
          <p:cNvSpPr>
            <a:spLocks xmlns:a="http://schemas.openxmlformats.org/drawingml/2006/main" noGrp="1"/>
          </p:cNvSpPr>
          <p:nvPr/>
        </p:nvSpPr>
        <p:spPr>
          <a:xfrm xmlns:a="http://schemas.openxmlformats.org/drawingml/2006/main">
            <a:off x="609600" y="430149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Adaptación: integrar v2 y comprobar acceso y errores.</a:t>
            </a:r>
          </a:p>
        </p:txBody>
      </p:sp>
      <p:sp>
        <p:nvSpPr>
          <p:cNvPr id="5" name="pie-4">
            <a:extLst xmlns:a="http://schemas.openxmlformats.org/drawingml/2006/main">
              <a:ext uri="{FF2B5EF4-FFF2-40B4-BE49-F238E27FC236}">
                <a16:creationId xmlns:a16="http://schemas.microsoft.com/office/drawing/2014/main" id="{40A21C34-FCE4-40F1-B9E8-3BDC03194EA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04</a:t>
            </a:r>
          </a:p>
        </p:txBody>
      </p:sp>
    </p:spTree>
    <p:extLst>
      <p:ext uri="{BB962C8B-B14F-4D97-AF65-F5344CB8AC3E}">
        <p14:creationId xmlns:p14="http://schemas.microsoft.com/office/powerpoint/2010/main" val="402523640"/>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5">
            <a:extLst xmlns:a="http://schemas.openxmlformats.org/drawingml/2006/main">
              <a:ext uri="{FF2B5EF4-FFF2-40B4-BE49-F238E27FC236}">
                <a16:creationId xmlns:a16="http://schemas.microsoft.com/office/drawing/2014/main" id="{7C7EBA44-1821-4D8D-8D7B-C63FA55CA240}"/>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Cambio perfectivo</a:t>
            </a:r>
          </a:p>
        </p:txBody>
      </p:sp>
      <p:sp>
        <p:nvSpPr>
          <p:cNvPr id="2" name="proposito-tipo">
            <a:extLst xmlns:a="http://schemas.openxmlformats.org/drawingml/2006/main">
              <a:ext uri="{FF2B5EF4-FFF2-40B4-BE49-F238E27FC236}">
                <a16:creationId xmlns:a16="http://schemas.microsoft.com/office/drawing/2014/main" id="{021EDE6B-AE66-44C2-A50C-B8002611B3C2}"/>
              </a:ext>
            </a:extLst>
          </p:cNvPr>
          <p:cNvSpPr>
            <a:spLocks xmlns:a="http://schemas.openxmlformats.org/drawingml/2006/main" noGrp="1"/>
          </p:cNvSpPr>
          <p:nvPr/>
        </p:nvSpPr>
        <p:spPr>
          <a:xfrm xmlns:a="http://schemas.openxmlformats.org/drawingml/2006/main">
            <a:off x="609600" y="2038350"/>
            <a:ext cx="1047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1233E"/>
                </a:solidFill>
                <a:latin typeface="Arial"/>
                <a:ea typeface="Arial"/>
                <a:cs typeface="Arial"/>
              </a:defRPr>
            </a:defPPr>
          </a:lstStyle>
          <a:p xmlns:a="http://schemas.openxmlformats.org/drawingml/2006/main">
            <a:pPr algn="l">
              <a:lnSpc>
                <a:spcPct val="108000"/>
              </a:lnSpc>
              <a:buNone/>
              <a:defRPr sz="3225" b="1">
                <a:solidFill>
                  <a:srgbClr val="11233E"/>
                </a:solidFill>
                <a:latin typeface="Arial"/>
                <a:ea typeface="Arial"/>
                <a:cs typeface="Arial"/>
              </a:defRPr>
            </a:pPr>
            <a:r>
              <a:rPr sz="3225" b="1">
                <a:solidFill>
                  <a:srgbClr val="11233E"/>
                </a:solidFill>
                <a:latin typeface="Arial"/>
                <a:ea typeface="Arial"/>
                <a:cs typeface="Arial"/>
              </a:rPr>
              <a:t>Mejora una capacidad del sistema.</a:t>
            </a:r>
          </a:p>
        </p:txBody>
      </p:sp>
      <p:sp>
        <p:nvSpPr>
          <p:cNvPr id="3" name="contenido-1">
            <a:extLst xmlns:a="http://schemas.openxmlformats.org/drawingml/2006/main">
              <a:ext uri="{FF2B5EF4-FFF2-40B4-BE49-F238E27FC236}">
                <a16:creationId xmlns:a16="http://schemas.microsoft.com/office/drawing/2014/main" id="{F3AE91F3-284C-46AB-9EF3-EC36981BB03A}"/>
              </a:ext>
            </a:extLst>
          </p:cNvPr>
          <p:cNvSpPr>
            <a:spLocks xmlns:a="http://schemas.openxmlformats.org/drawingml/2006/main" noGrp="1"/>
          </p:cNvSpPr>
          <p:nvPr/>
        </p:nvSpPr>
        <p:spPr>
          <a:xfrm xmlns:a="http://schemas.openxmlformats.org/drawingml/2006/main">
            <a:off x="609600" y="32670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CAM-S09-003 · Issue #12 · Propuesta</a:t>
            </a:r>
          </a:p>
        </p:txBody>
      </p:sp>
      <p:sp>
        <p:nvSpPr>
          <p:cNvPr id="4" name="contenido-2">
            <a:extLst xmlns:a="http://schemas.openxmlformats.org/drawingml/2006/main">
              <a:ext uri="{FF2B5EF4-FFF2-40B4-BE49-F238E27FC236}">
                <a16:creationId xmlns:a16="http://schemas.microsoft.com/office/drawing/2014/main" id="{F2ABDBE7-F919-48EA-932E-3C5C883598EF}"/>
              </a:ext>
            </a:extLst>
          </p:cNvPr>
          <p:cNvSpPr>
            <a:spLocks xmlns:a="http://schemas.openxmlformats.org/drawingml/2006/main" noGrp="1"/>
          </p:cNvSpPr>
          <p:nvPr/>
        </p:nvSpPr>
        <p:spPr>
          <a:xfrm xmlns:a="http://schemas.openxmlformats.org/drawingml/2006/main">
            <a:off x="609600" y="3912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Permitir configurar CommandTimeout.</a:t>
            </a:r>
          </a:p>
        </p:txBody>
      </p:sp>
      <p:sp>
        <p:nvSpPr>
          <p:cNvPr id="5" name="contenido-3">
            <a:extLst xmlns:a="http://schemas.openxmlformats.org/drawingml/2006/main">
              <a:ext uri="{FF2B5EF4-FFF2-40B4-BE49-F238E27FC236}">
                <a16:creationId xmlns:a16="http://schemas.microsoft.com/office/drawing/2014/main" id="{8F5F5B66-3FD2-4A08-818F-4042281A6B8B}"/>
              </a:ext>
            </a:extLst>
          </p:cNvPr>
          <p:cNvSpPr>
            <a:spLocks xmlns:a="http://schemas.openxmlformats.org/drawingml/2006/main" noGrp="1"/>
          </p:cNvSpPr>
          <p:nvPr/>
        </p:nvSpPr>
        <p:spPr>
          <a:xfrm xmlns:a="http://schemas.openxmlformats.org/drawingml/2006/main">
            <a:off x="609600" y="4558665"/>
            <a:ext cx="10972800" cy="824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Antes de implementar: definir valor compatible, límites y entradas inválidas.</a:t>
            </a:r>
          </a:p>
        </p:txBody>
      </p:sp>
      <p:sp>
        <p:nvSpPr>
          <p:cNvPr id="6" name="pie-5">
            <a:extLst xmlns:a="http://schemas.openxmlformats.org/drawingml/2006/main">
              <a:ext uri="{FF2B5EF4-FFF2-40B4-BE49-F238E27FC236}">
                <a16:creationId xmlns:a16="http://schemas.microsoft.com/office/drawing/2014/main" id="{413C07ED-DD2B-44B0-A2D9-BAEB5E04F642}"/>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05</a:t>
            </a:r>
          </a:p>
        </p:txBody>
      </p:sp>
    </p:spTree>
    <p:extLst>
      <p:ext uri="{BB962C8B-B14F-4D97-AF65-F5344CB8AC3E}">
        <p14:creationId xmlns:p14="http://schemas.microsoft.com/office/powerpoint/2010/main" val="996066641"/>
      </p:ext>
    </p:extLst>
  </p:cSld>
</p:sld>
</file>

<file path=ppt/slides/slide6.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6">
            <a:extLst xmlns:a="http://schemas.openxmlformats.org/drawingml/2006/main">
              <a:ext uri="{FF2B5EF4-FFF2-40B4-BE49-F238E27FC236}">
                <a16:creationId xmlns:a16="http://schemas.microsoft.com/office/drawing/2014/main" id="{A994D26D-465F-4D2F-A576-23057D8CD58E}"/>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Cambio preventivo</a:t>
            </a:r>
          </a:p>
        </p:txBody>
      </p:sp>
      <p:sp>
        <p:nvSpPr>
          <p:cNvPr id="2" name="proposito-tipo">
            <a:extLst xmlns:a="http://schemas.openxmlformats.org/drawingml/2006/main">
              <a:ext uri="{FF2B5EF4-FFF2-40B4-BE49-F238E27FC236}">
                <a16:creationId xmlns:a16="http://schemas.microsoft.com/office/drawing/2014/main" id="{08676826-9B27-4C0F-95D0-F86EF0D8005A}"/>
              </a:ext>
            </a:extLst>
          </p:cNvPr>
          <p:cNvSpPr>
            <a:spLocks xmlns:a="http://schemas.openxmlformats.org/drawingml/2006/main" noGrp="1"/>
          </p:cNvSpPr>
          <p:nvPr/>
        </p:nvSpPr>
        <p:spPr>
          <a:xfrm xmlns:a="http://schemas.openxmlformats.org/drawingml/2006/main">
            <a:off x="609600" y="2038350"/>
            <a:ext cx="1047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6F1E8"/>
                </a:solidFill>
                <a:latin typeface="Arial"/>
                <a:ea typeface="Arial"/>
                <a:cs typeface="Arial"/>
              </a:defRPr>
            </a:defPPr>
          </a:lstStyle>
          <a:p xmlns:a="http://schemas.openxmlformats.org/drawingml/2006/main">
            <a:pPr algn="l">
              <a:lnSpc>
                <a:spcPct val="108000"/>
              </a:lnSpc>
              <a:buNone/>
              <a:defRPr sz="3225" b="1">
                <a:solidFill>
                  <a:srgbClr val="F6F1E8"/>
                </a:solidFill>
                <a:latin typeface="Arial"/>
                <a:ea typeface="Arial"/>
                <a:cs typeface="Arial"/>
              </a:defRPr>
            </a:pPr>
            <a:r>
              <a:rPr sz="3225" b="1">
                <a:solidFill>
                  <a:srgbClr val="F6F1E8"/>
                </a:solidFill>
                <a:latin typeface="Arial"/>
                <a:ea typeface="Arial"/>
                <a:cs typeface="Arial"/>
              </a:rPr>
              <a:t>Anticipa problemas de mantenibilidad o uso.</a:t>
            </a:r>
          </a:p>
        </p:txBody>
      </p:sp>
      <p:sp>
        <p:nvSpPr>
          <p:cNvPr id="3" name="contenido-1">
            <a:extLst xmlns:a="http://schemas.openxmlformats.org/drawingml/2006/main">
              <a:ext uri="{FF2B5EF4-FFF2-40B4-BE49-F238E27FC236}">
                <a16:creationId xmlns:a16="http://schemas.microsoft.com/office/drawing/2014/main" id="{B3D17A83-2BA6-4ACB-B83D-C232EC9E80F2}"/>
              </a:ext>
            </a:extLst>
          </p:cNvPr>
          <p:cNvSpPr>
            <a:spLocks xmlns:a="http://schemas.openxmlformats.org/drawingml/2006/main" noGrp="1"/>
          </p:cNvSpPr>
          <p:nvPr/>
        </p:nvSpPr>
        <p:spPr>
          <a:xfrm xmlns:a="http://schemas.openxmlformats.org/drawingml/2006/main">
            <a:off x="609600" y="32670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CAM-S09-002 · Issue #11 · Propuesta</a:t>
            </a:r>
          </a:p>
        </p:txBody>
      </p:sp>
      <p:sp>
        <p:nvSpPr>
          <p:cNvPr id="4" name="contenido-2">
            <a:extLst xmlns:a="http://schemas.openxmlformats.org/drawingml/2006/main">
              <a:ext uri="{FF2B5EF4-FFF2-40B4-BE49-F238E27FC236}">
                <a16:creationId xmlns:a16="http://schemas.microsoft.com/office/drawing/2014/main" id="{2EC062D9-7615-4700-9814-FB05596FF52B}"/>
              </a:ext>
            </a:extLst>
          </p:cNvPr>
          <p:cNvSpPr>
            <a:spLocks xmlns:a="http://schemas.openxmlformats.org/drawingml/2006/main" noGrp="1"/>
          </p:cNvSpPr>
          <p:nvPr/>
        </p:nvSpPr>
        <p:spPr>
          <a:xfrm xmlns:a="http://schemas.openxmlformats.org/drawingml/2006/main">
            <a:off x="609600" y="3912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Validar argumentos nulos al entrar al generador.</a:t>
            </a:r>
          </a:p>
        </p:txBody>
      </p:sp>
      <p:sp>
        <p:nvSpPr>
          <p:cNvPr id="5" name="contenido-3">
            <a:extLst xmlns:a="http://schemas.openxmlformats.org/drawingml/2006/main">
              <a:ext uri="{FF2B5EF4-FFF2-40B4-BE49-F238E27FC236}">
                <a16:creationId xmlns:a16="http://schemas.microsoft.com/office/drawing/2014/main" id="{BD57F576-EDA5-4092-A0D3-BB5A3DD73ED3}"/>
              </a:ext>
            </a:extLst>
          </p:cNvPr>
          <p:cNvSpPr>
            <a:spLocks xmlns:a="http://schemas.openxmlformats.org/drawingml/2006/main" noGrp="1"/>
          </p:cNvSpPr>
          <p:nvPr/>
        </p:nvSpPr>
        <p:spPr>
          <a:xfrm xmlns:a="http://schemas.openxmlformats.org/drawingml/2006/main">
            <a:off x="609600" y="45586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Documentar el fallo temprano y conservar entradas válidas.</a:t>
            </a:r>
          </a:p>
        </p:txBody>
      </p:sp>
      <p:sp>
        <p:nvSpPr>
          <p:cNvPr id="6" name="pie-6">
            <a:extLst xmlns:a="http://schemas.openxmlformats.org/drawingml/2006/main">
              <a:ext uri="{FF2B5EF4-FFF2-40B4-BE49-F238E27FC236}">
                <a16:creationId xmlns:a16="http://schemas.microsoft.com/office/drawing/2014/main" id="{A6D5F997-CD9F-4C39-8EAD-A8853579C1E0}"/>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06</a:t>
            </a:r>
          </a:p>
        </p:txBody>
      </p:sp>
    </p:spTree>
    <p:extLst>
      <p:ext uri="{BB962C8B-B14F-4D97-AF65-F5344CB8AC3E}">
        <p14:creationId xmlns:p14="http://schemas.microsoft.com/office/powerpoint/2010/main" val="153065291"/>
      </p:ext>
    </p:extLst>
  </p:cSld>
</p:sld>
</file>

<file path=ppt/slides/slide7.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2" name="titulo-7">
            <a:extLst xmlns:a="http://schemas.openxmlformats.org/drawingml/2006/main">
              <a:ext uri="{FF2B5EF4-FFF2-40B4-BE49-F238E27FC236}">
                <a16:creationId xmlns:a16="http://schemas.microsoft.com/office/drawing/2014/main" id="{A0819D84-8941-4220-AC75-342BAF9EFCE3}"/>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Las ocho etapas del cambio</a:t>
            </a:r>
          </a:p>
        </p:txBody>
      </p:sp>
      <p:sp>
        <p:nvSpPr>
          <p:cNvPr id="2" name="contenido-1">
            <a:extLst xmlns:a="http://schemas.openxmlformats.org/drawingml/2006/main">
              <a:ext uri="{FF2B5EF4-FFF2-40B4-BE49-F238E27FC236}">
                <a16:creationId xmlns:a16="http://schemas.microsoft.com/office/drawing/2014/main" id="{FEBA329E-5441-49B5-91B2-34E34E3187BF}"/>
              </a:ext>
            </a:extLst>
          </p:cNvPr>
          <p:cNvSpPr>
            <a:spLocks xmlns:a="http://schemas.openxmlformats.org/drawingml/2006/main" noGrp="1"/>
          </p:cNvSpPr>
          <p:nvPr/>
        </p:nvSpPr>
        <p:spPr>
          <a:xfrm xmlns:a="http://schemas.openxmlformats.org/drawingml/2006/main">
            <a:off x="609600" y="2076450"/>
            <a:ext cx="5095875"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1233E"/>
                </a:solidFill>
                <a:latin typeface="Arial"/>
                <a:ea typeface="Arial"/>
                <a:cs typeface="Arial"/>
              </a:defRPr>
            </a:defPPr>
          </a:lstStyle>
          <a:p xmlns:a="http://schemas.openxmlformats.org/drawingml/2006/main">
            <a:pPr algn="l">
              <a:lnSpc>
                <a:spcPct val="108000"/>
              </a:lnSpc>
              <a:buNone/>
              <a:defRPr sz="2850" b="0">
                <a:solidFill>
                  <a:srgbClr val="11233E"/>
                </a:solidFill>
                <a:latin typeface="Arial"/>
                <a:ea typeface="Arial"/>
                <a:cs typeface="Arial"/>
              </a:defRPr>
            </a:pPr>
            <a:r>
              <a:rPr sz="2850" b="0">
                <a:solidFill>
                  <a:srgbClr val="11233E"/>
                </a:solidFill>
                <a:latin typeface="Arial"/>
                <a:ea typeface="Arial"/>
                <a:cs typeface="Arial"/>
              </a:rPr>
              <a:t>1 Solicitud</a:t>
            </a:r>
          </a:p>
        </p:txBody>
      </p:sp>
      <p:sp>
        <p:nvSpPr>
          <p:cNvPr id="3" name="contenido-2">
            <a:extLst xmlns:a="http://schemas.openxmlformats.org/drawingml/2006/main">
              <a:ext uri="{FF2B5EF4-FFF2-40B4-BE49-F238E27FC236}">
                <a16:creationId xmlns:a16="http://schemas.microsoft.com/office/drawing/2014/main" id="{CE839B8B-817E-4DB2-BD29-718A3BCEF22D}"/>
              </a:ext>
            </a:extLst>
          </p:cNvPr>
          <p:cNvSpPr>
            <a:spLocks xmlns:a="http://schemas.openxmlformats.org/drawingml/2006/main" noGrp="1"/>
          </p:cNvSpPr>
          <p:nvPr/>
        </p:nvSpPr>
        <p:spPr>
          <a:xfrm xmlns:a="http://schemas.openxmlformats.org/drawingml/2006/main">
            <a:off x="609600" y="2863215"/>
            <a:ext cx="5095875"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1233E"/>
                </a:solidFill>
                <a:latin typeface="Arial"/>
                <a:ea typeface="Arial"/>
                <a:cs typeface="Arial"/>
              </a:defRPr>
            </a:defPPr>
          </a:lstStyle>
          <a:p xmlns:a="http://schemas.openxmlformats.org/drawingml/2006/main">
            <a:pPr algn="l">
              <a:lnSpc>
                <a:spcPct val="108000"/>
              </a:lnSpc>
              <a:buNone/>
              <a:defRPr sz="2850" b="0">
                <a:solidFill>
                  <a:srgbClr val="11233E"/>
                </a:solidFill>
                <a:latin typeface="Arial"/>
                <a:ea typeface="Arial"/>
                <a:cs typeface="Arial"/>
              </a:defRPr>
            </a:pPr>
            <a:r>
              <a:rPr sz="2850" b="0">
                <a:solidFill>
                  <a:srgbClr val="11233E"/>
                </a:solidFill>
                <a:latin typeface="Arial"/>
                <a:ea typeface="Arial"/>
                <a:cs typeface="Arial"/>
              </a:rPr>
              <a:t>2 Análisis</a:t>
            </a:r>
          </a:p>
        </p:txBody>
      </p:sp>
      <p:sp>
        <p:nvSpPr>
          <p:cNvPr id="4" name="contenido-3">
            <a:extLst xmlns:a="http://schemas.openxmlformats.org/drawingml/2006/main">
              <a:ext uri="{FF2B5EF4-FFF2-40B4-BE49-F238E27FC236}">
                <a16:creationId xmlns:a16="http://schemas.microsoft.com/office/drawing/2014/main" id="{71073DE8-4F9C-4385-A9AA-BF1AB6E48955}"/>
              </a:ext>
            </a:extLst>
          </p:cNvPr>
          <p:cNvSpPr>
            <a:spLocks xmlns:a="http://schemas.openxmlformats.org/drawingml/2006/main" noGrp="1"/>
          </p:cNvSpPr>
          <p:nvPr/>
        </p:nvSpPr>
        <p:spPr>
          <a:xfrm xmlns:a="http://schemas.openxmlformats.org/drawingml/2006/main">
            <a:off x="609600" y="3649980"/>
            <a:ext cx="5095875"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1233E"/>
                </a:solidFill>
                <a:latin typeface="Arial"/>
                <a:ea typeface="Arial"/>
                <a:cs typeface="Arial"/>
              </a:defRPr>
            </a:defPPr>
          </a:lstStyle>
          <a:p xmlns:a="http://schemas.openxmlformats.org/drawingml/2006/main">
            <a:pPr algn="l">
              <a:lnSpc>
                <a:spcPct val="108000"/>
              </a:lnSpc>
              <a:buNone/>
              <a:defRPr sz="2850" b="0">
                <a:solidFill>
                  <a:srgbClr val="11233E"/>
                </a:solidFill>
                <a:latin typeface="Arial"/>
                <a:ea typeface="Arial"/>
                <a:cs typeface="Arial"/>
              </a:defRPr>
            </a:pPr>
            <a:r>
              <a:rPr sz="2850" b="0">
                <a:solidFill>
                  <a:srgbClr val="11233E"/>
                </a:solidFill>
                <a:latin typeface="Arial"/>
                <a:ea typeface="Arial"/>
                <a:cs typeface="Arial"/>
              </a:rPr>
              <a:t>3 Impacto</a:t>
            </a:r>
          </a:p>
        </p:txBody>
      </p:sp>
      <p:sp>
        <p:nvSpPr>
          <p:cNvPr id="5" name="contenido-4">
            <a:extLst xmlns:a="http://schemas.openxmlformats.org/drawingml/2006/main">
              <a:ext uri="{FF2B5EF4-FFF2-40B4-BE49-F238E27FC236}">
                <a16:creationId xmlns:a16="http://schemas.microsoft.com/office/drawing/2014/main" id="{A3660A8B-13C0-4F8D-99F4-4AD14F4E1302}"/>
              </a:ext>
            </a:extLst>
          </p:cNvPr>
          <p:cNvSpPr>
            <a:spLocks xmlns:a="http://schemas.openxmlformats.org/drawingml/2006/main" noGrp="1"/>
          </p:cNvSpPr>
          <p:nvPr/>
        </p:nvSpPr>
        <p:spPr>
          <a:xfrm xmlns:a="http://schemas.openxmlformats.org/drawingml/2006/main">
            <a:off x="609600" y="4436745"/>
            <a:ext cx="5095875"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1233E"/>
                </a:solidFill>
                <a:latin typeface="Arial"/>
                <a:ea typeface="Arial"/>
                <a:cs typeface="Arial"/>
              </a:defRPr>
            </a:defPPr>
          </a:lstStyle>
          <a:p xmlns:a="http://schemas.openxmlformats.org/drawingml/2006/main">
            <a:pPr algn="l">
              <a:lnSpc>
                <a:spcPct val="108000"/>
              </a:lnSpc>
              <a:buNone/>
              <a:defRPr sz="2850" b="0">
                <a:solidFill>
                  <a:srgbClr val="11233E"/>
                </a:solidFill>
                <a:latin typeface="Arial"/>
                <a:ea typeface="Arial"/>
                <a:cs typeface="Arial"/>
              </a:defRPr>
            </a:pPr>
            <a:r>
              <a:rPr sz="2850" b="0">
                <a:solidFill>
                  <a:srgbClr val="11233E"/>
                </a:solidFill>
                <a:latin typeface="Arial"/>
                <a:ea typeface="Arial"/>
                <a:cs typeface="Arial"/>
              </a:rPr>
              <a:t>4 Decisión</a:t>
            </a:r>
          </a:p>
        </p:txBody>
      </p:sp>
      <p:sp>
        <p:nvSpPr>
          <p:cNvPr id="6" name="contenido-1">
            <a:extLst xmlns:a="http://schemas.openxmlformats.org/drawingml/2006/main">
              <a:ext uri="{FF2B5EF4-FFF2-40B4-BE49-F238E27FC236}">
                <a16:creationId xmlns:a16="http://schemas.microsoft.com/office/drawing/2014/main" id="{D6A0556D-6A56-4DF5-AC0A-40463B8127C6}"/>
              </a:ext>
            </a:extLst>
          </p:cNvPr>
          <p:cNvSpPr>
            <a:spLocks xmlns:a="http://schemas.openxmlformats.org/drawingml/2006/main" noGrp="1"/>
          </p:cNvSpPr>
          <p:nvPr/>
        </p:nvSpPr>
        <p:spPr>
          <a:xfrm xmlns:a="http://schemas.openxmlformats.org/drawingml/2006/main">
            <a:off x="6324600" y="2076450"/>
            <a:ext cx="5257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1233E"/>
                </a:solidFill>
                <a:latin typeface="Arial"/>
                <a:ea typeface="Arial"/>
                <a:cs typeface="Arial"/>
              </a:defRPr>
            </a:defPPr>
          </a:lstStyle>
          <a:p xmlns:a="http://schemas.openxmlformats.org/drawingml/2006/main">
            <a:pPr algn="l">
              <a:lnSpc>
                <a:spcPct val="108000"/>
              </a:lnSpc>
              <a:buNone/>
              <a:defRPr sz="2850" b="0">
                <a:solidFill>
                  <a:srgbClr val="11233E"/>
                </a:solidFill>
                <a:latin typeface="Arial"/>
                <a:ea typeface="Arial"/>
                <a:cs typeface="Arial"/>
              </a:defRPr>
            </a:pPr>
            <a:r>
              <a:rPr sz="2850" b="0">
                <a:solidFill>
                  <a:srgbClr val="11233E"/>
                </a:solidFill>
                <a:latin typeface="Arial"/>
                <a:ea typeface="Arial"/>
                <a:cs typeface="Arial"/>
              </a:rPr>
              <a:t>5 Planificación</a:t>
            </a:r>
          </a:p>
        </p:txBody>
      </p:sp>
      <p:sp>
        <p:nvSpPr>
          <p:cNvPr id="7" name="contenido-2">
            <a:extLst xmlns:a="http://schemas.openxmlformats.org/drawingml/2006/main">
              <a:ext uri="{FF2B5EF4-FFF2-40B4-BE49-F238E27FC236}">
                <a16:creationId xmlns:a16="http://schemas.microsoft.com/office/drawing/2014/main" id="{1CD21DF5-F9EB-49A5-BEBA-71D0919F9719}"/>
              </a:ext>
            </a:extLst>
          </p:cNvPr>
          <p:cNvSpPr>
            <a:spLocks xmlns:a="http://schemas.openxmlformats.org/drawingml/2006/main" noGrp="1"/>
          </p:cNvSpPr>
          <p:nvPr/>
        </p:nvSpPr>
        <p:spPr>
          <a:xfrm xmlns:a="http://schemas.openxmlformats.org/drawingml/2006/main">
            <a:off x="6324600" y="2863215"/>
            <a:ext cx="5257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1233E"/>
                </a:solidFill>
                <a:latin typeface="Arial"/>
                <a:ea typeface="Arial"/>
                <a:cs typeface="Arial"/>
              </a:defRPr>
            </a:defPPr>
          </a:lstStyle>
          <a:p xmlns:a="http://schemas.openxmlformats.org/drawingml/2006/main">
            <a:pPr algn="l">
              <a:lnSpc>
                <a:spcPct val="108000"/>
              </a:lnSpc>
              <a:buNone/>
              <a:defRPr sz="2850" b="0">
                <a:solidFill>
                  <a:srgbClr val="11233E"/>
                </a:solidFill>
                <a:latin typeface="Arial"/>
                <a:ea typeface="Arial"/>
                <a:cs typeface="Arial"/>
              </a:defRPr>
            </a:pPr>
            <a:r>
              <a:rPr sz="2850" b="0">
                <a:solidFill>
                  <a:srgbClr val="11233E"/>
                </a:solidFill>
                <a:latin typeface="Arial"/>
                <a:ea typeface="Arial"/>
                <a:cs typeface="Arial"/>
              </a:rPr>
              <a:t>6 Implementación</a:t>
            </a:r>
          </a:p>
        </p:txBody>
      </p:sp>
      <p:sp>
        <p:nvSpPr>
          <p:cNvPr id="8" name="contenido-3">
            <a:extLst xmlns:a="http://schemas.openxmlformats.org/drawingml/2006/main">
              <a:ext uri="{FF2B5EF4-FFF2-40B4-BE49-F238E27FC236}">
                <a16:creationId xmlns:a16="http://schemas.microsoft.com/office/drawing/2014/main" id="{71404CD7-B4C4-47E4-A150-A9FAE8DAA29A}"/>
              </a:ext>
            </a:extLst>
          </p:cNvPr>
          <p:cNvSpPr>
            <a:spLocks xmlns:a="http://schemas.openxmlformats.org/drawingml/2006/main" noGrp="1"/>
          </p:cNvSpPr>
          <p:nvPr/>
        </p:nvSpPr>
        <p:spPr>
          <a:xfrm xmlns:a="http://schemas.openxmlformats.org/drawingml/2006/main">
            <a:off x="6324600" y="3649980"/>
            <a:ext cx="5257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1233E"/>
                </a:solidFill>
                <a:latin typeface="Arial"/>
                <a:ea typeface="Arial"/>
                <a:cs typeface="Arial"/>
              </a:defRPr>
            </a:defPPr>
          </a:lstStyle>
          <a:p xmlns:a="http://schemas.openxmlformats.org/drawingml/2006/main">
            <a:pPr algn="l">
              <a:lnSpc>
                <a:spcPct val="108000"/>
              </a:lnSpc>
              <a:buNone/>
              <a:defRPr sz="2850" b="0">
                <a:solidFill>
                  <a:srgbClr val="11233E"/>
                </a:solidFill>
                <a:latin typeface="Arial"/>
                <a:ea typeface="Arial"/>
                <a:cs typeface="Arial"/>
              </a:defRPr>
            </a:pPr>
            <a:r>
              <a:rPr sz="2850" b="0">
                <a:solidFill>
                  <a:srgbClr val="11233E"/>
                </a:solidFill>
                <a:latin typeface="Arial"/>
                <a:ea typeface="Arial"/>
                <a:cs typeface="Arial"/>
              </a:rPr>
              <a:t>7 Verificación</a:t>
            </a:r>
          </a:p>
        </p:txBody>
      </p:sp>
      <p:sp>
        <p:nvSpPr>
          <p:cNvPr id="9" name="contenido-4">
            <a:extLst xmlns:a="http://schemas.openxmlformats.org/drawingml/2006/main">
              <a:ext uri="{FF2B5EF4-FFF2-40B4-BE49-F238E27FC236}">
                <a16:creationId xmlns:a16="http://schemas.microsoft.com/office/drawing/2014/main" id="{6F5D3CAB-35D8-451F-9BFD-1BECD367739B}"/>
              </a:ext>
            </a:extLst>
          </p:cNvPr>
          <p:cNvSpPr>
            <a:spLocks xmlns:a="http://schemas.openxmlformats.org/drawingml/2006/main" noGrp="1"/>
          </p:cNvSpPr>
          <p:nvPr/>
        </p:nvSpPr>
        <p:spPr>
          <a:xfrm xmlns:a="http://schemas.openxmlformats.org/drawingml/2006/main">
            <a:off x="6324600" y="4436745"/>
            <a:ext cx="5257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1233E"/>
                </a:solidFill>
                <a:latin typeface="Arial"/>
                <a:ea typeface="Arial"/>
                <a:cs typeface="Arial"/>
              </a:defRPr>
            </a:defPPr>
          </a:lstStyle>
          <a:p xmlns:a="http://schemas.openxmlformats.org/drawingml/2006/main">
            <a:pPr algn="l">
              <a:lnSpc>
                <a:spcPct val="108000"/>
              </a:lnSpc>
              <a:buNone/>
              <a:defRPr sz="2850" b="0">
                <a:solidFill>
                  <a:srgbClr val="11233E"/>
                </a:solidFill>
                <a:latin typeface="Arial"/>
                <a:ea typeface="Arial"/>
                <a:cs typeface="Arial"/>
              </a:defRPr>
            </a:pPr>
            <a:r>
              <a:rPr sz="2850" b="0">
                <a:solidFill>
                  <a:srgbClr val="11233E"/>
                </a:solidFill>
                <a:latin typeface="Arial"/>
                <a:ea typeface="Arial"/>
                <a:cs typeface="Arial"/>
              </a:rPr>
              <a:t>8 Registro y cierre</a:t>
            </a:r>
          </a:p>
        </p:txBody>
      </p:sp>
      <p:sp>
        <p:nvSpPr>
          <p:cNvPr id="10" name="contenido-1">
            <a:extLst xmlns:a="http://schemas.openxmlformats.org/drawingml/2006/main">
              <a:ext uri="{FF2B5EF4-FFF2-40B4-BE49-F238E27FC236}">
                <a16:creationId xmlns:a16="http://schemas.microsoft.com/office/drawing/2014/main" id="{6C6F01FB-1398-424F-A6B8-D2A49BD3B1A0}"/>
              </a:ext>
            </a:extLst>
          </p:cNvPr>
          <p:cNvSpPr>
            <a:spLocks xmlns:a="http://schemas.openxmlformats.org/drawingml/2006/main" noGrp="1"/>
          </p:cNvSpPr>
          <p:nvPr/>
        </p:nvSpPr>
        <p:spPr>
          <a:xfrm xmlns:a="http://schemas.openxmlformats.org/drawingml/2006/main">
            <a:off x="609600" y="547687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56A6"/>
                </a:solidFill>
                <a:latin typeface="Arial"/>
                <a:ea typeface="Arial"/>
                <a:cs typeface="Arial"/>
              </a:defRPr>
            </a:defPPr>
          </a:lstStyle>
          <a:p xmlns:a="http://schemas.openxmlformats.org/drawingml/2006/main">
            <a:pPr algn="l">
              <a:lnSpc>
                <a:spcPct val="108000"/>
              </a:lnSpc>
              <a:buNone/>
              <a:defRPr sz="2400" b="0">
                <a:solidFill>
                  <a:srgbClr val="2456A6"/>
                </a:solidFill>
                <a:latin typeface="Arial"/>
                <a:ea typeface="Arial"/>
                <a:cs typeface="Arial"/>
              </a:defRPr>
            </a:pPr>
            <a:r>
              <a:rPr sz="2400" b="0">
                <a:solidFill>
                  <a:srgbClr val="2456A6"/>
                </a:solidFill>
                <a:latin typeface="Arial"/>
                <a:ea typeface="Arial"/>
                <a:cs typeface="Arial"/>
              </a:rPr>
              <a:t>CAM-S09-001 recorre este flujo.</a:t>
            </a:r>
          </a:p>
        </p:txBody>
      </p:sp>
      <p:sp>
        <p:nvSpPr>
          <p:cNvPr id="11" name="pie-7">
            <a:extLst xmlns:a="http://schemas.openxmlformats.org/drawingml/2006/main">
              <a:ext uri="{FF2B5EF4-FFF2-40B4-BE49-F238E27FC236}">
                <a16:creationId xmlns:a16="http://schemas.microsoft.com/office/drawing/2014/main" id="{46B1CFD1-E517-4802-A2BC-48A59FBAED37}"/>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07</a:t>
            </a:r>
          </a:p>
        </p:txBody>
      </p:sp>
    </p:spTree>
    <p:extLst>
      <p:ext uri="{BB962C8B-B14F-4D97-AF65-F5344CB8AC3E}">
        <p14:creationId xmlns:p14="http://schemas.microsoft.com/office/powerpoint/2010/main" val="555398438"/>
      </p:ext>
    </p:extLst>
  </p:cSld>
</p:sld>
</file>

<file path=ppt/slides/slide8.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8" name="titulo-8">
            <a:extLst xmlns:a="http://schemas.openxmlformats.org/drawingml/2006/main">
              <a:ext uri="{FF2B5EF4-FFF2-40B4-BE49-F238E27FC236}">
                <a16:creationId xmlns:a16="http://schemas.microsoft.com/office/drawing/2014/main" id="{5A47885E-D024-4F86-8B86-0FB6BB093B54}"/>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Análisis de impacto</a:t>
            </a:r>
          </a:p>
        </p:txBody>
      </p:sp>
      <p:sp>
        <p:nvSpPr>
          <p:cNvPr id="2" name="contenido-1">
            <a:extLst xmlns:a="http://schemas.openxmlformats.org/drawingml/2006/main">
              <a:ext uri="{FF2B5EF4-FFF2-40B4-BE49-F238E27FC236}">
                <a16:creationId xmlns:a16="http://schemas.microsoft.com/office/drawing/2014/main" id="{2A90DB2E-4331-499B-A6C4-B76A52C21C62}"/>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CAM-S09-001</a:t>
            </a:r>
          </a:p>
        </p:txBody>
      </p:sp>
      <p:sp>
        <p:nvSpPr>
          <p:cNvPr id="3" name="contenido-2">
            <a:extLst xmlns:a="http://schemas.openxmlformats.org/drawingml/2006/main">
              <a:ext uri="{FF2B5EF4-FFF2-40B4-BE49-F238E27FC236}">
                <a16:creationId xmlns:a16="http://schemas.microsoft.com/office/drawing/2014/main" id="{89FB6603-D8C7-4F57-A2C9-9AAFE466CB75}"/>
              </a:ext>
            </a:extLst>
          </p:cNvPr>
          <p:cNvSpPr>
            <a:spLocks xmlns:a="http://schemas.openxmlformats.org/drawingml/2006/main" noGrp="1"/>
          </p:cNvSpPr>
          <p:nvPr/>
        </p:nvSpPr>
        <p:spPr>
          <a:xfrm xmlns:a="http://schemas.openxmlformats.org/drawingml/2006/main">
            <a:off x="609600" y="268414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Cambia: propiedad del comando dentro de Generar.</a:t>
            </a:r>
          </a:p>
        </p:txBody>
      </p:sp>
      <p:sp>
        <p:nvSpPr>
          <p:cNvPr id="4" name="contenido-3">
            <a:extLst xmlns:a="http://schemas.openxmlformats.org/drawingml/2006/main">
              <a:ext uri="{FF2B5EF4-FFF2-40B4-BE49-F238E27FC236}">
                <a16:creationId xmlns:a16="http://schemas.microsoft.com/office/drawing/2014/main" id="{9B2749B3-5D76-4D6F-A63C-F314F7D27381}"/>
              </a:ext>
            </a:extLst>
          </p:cNvPr>
          <p:cNvSpPr>
            <a:spLocks xmlns:a="http://schemas.openxmlformats.org/drawingml/2006/main" noGrp="1"/>
          </p:cNvSpPr>
          <p:nvPr/>
        </p:nvSpPr>
        <p:spPr>
          <a:xfrm xmlns:a="http://schemas.openxmlformats.org/drawingml/2006/main">
            <a:off x="609600" y="332041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Conserva: resultado, excepción y SQL.</a:t>
            </a:r>
          </a:p>
        </p:txBody>
      </p:sp>
      <p:sp>
        <p:nvSpPr>
          <p:cNvPr id="5" name="contenido-4">
            <a:extLst xmlns:a="http://schemas.openxmlformats.org/drawingml/2006/main">
              <a:ext uri="{FF2B5EF4-FFF2-40B4-BE49-F238E27FC236}">
                <a16:creationId xmlns:a16="http://schemas.microsoft.com/office/drawing/2014/main" id="{22876AC3-9BB4-4AD8-BD30-6D91AA41AACE}"/>
              </a:ext>
            </a:extLst>
          </p:cNvPr>
          <p:cNvSpPr>
            <a:spLocks xmlns:a="http://schemas.openxmlformats.org/drawingml/2006/main" noGrp="1"/>
          </p:cNvSpPr>
          <p:nvPr/>
        </p:nvSpPr>
        <p:spPr>
          <a:xfrm xmlns:a="http://schemas.openxmlformats.org/drawingml/2006/main">
            <a:off x="609600" y="395668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Preparar: el llamador mantiene la responsabilidad de liberar.</a:t>
            </a:r>
          </a:p>
        </p:txBody>
      </p:sp>
      <p:sp>
        <p:nvSpPr>
          <p:cNvPr id="6" name="contenido-5">
            <a:extLst xmlns:a="http://schemas.openxmlformats.org/drawingml/2006/main">
              <a:ext uri="{FF2B5EF4-FFF2-40B4-BE49-F238E27FC236}">
                <a16:creationId xmlns:a16="http://schemas.microsoft.com/office/drawing/2014/main" id="{F1013CCD-9DBB-4F69-A075-1B6664C93E3A}"/>
              </a:ext>
            </a:extLst>
          </p:cNvPr>
          <p:cNvSpPr>
            <a:spLocks xmlns:a="http://schemas.openxmlformats.org/drawingml/2006/main" noGrp="1"/>
          </p:cNvSpPr>
          <p:nvPr/>
        </p:nvSpPr>
        <p:spPr>
          <a:xfrm xmlns:a="http://schemas.openxmlformats.org/drawingml/2006/main">
            <a:off x="609600" y="459295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No incluye la conexión ni el adaptador.</a:t>
            </a:r>
          </a:p>
        </p:txBody>
      </p:sp>
      <p:sp>
        <p:nvSpPr>
          <p:cNvPr id="7" name="pie-8">
            <a:extLst xmlns:a="http://schemas.openxmlformats.org/drawingml/2006/main">
              <a:ext uri="{FF2B5EF4-FFF2-40B4-BE49-F238E27FC236}">
                <a16:creationId xmlns:a16="http://schemas.microsoft.com/office/drawing/2014/main" id="{EE192AA2-50D9-4352-B785-2D9CC07C4A7B}"/>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08</a:t>
            </a:r>
          </a:p>
        </p:txBody>
      </p:sp>
    </p:spTree>
    <p:extLst>
      <p:ext uri="{BB962C8B-B14F-4D97-AF65-F5344CB8AC3E}">
        <p14:creationId xmlns:p14="http://schemas.microsoft.com/office/powerpoint/2010/main" val="2049615523"/>
      </p:ext>
    </p:extLst>
  </p:cSld>
</p:sld>
</file>

<file path=ppt/slides/slide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9" name="titulo-9">
            <a:extLst xmlns:a="http://schemas.openxmlformats.org/drawingml/2006/main">
              <a:ext uri="{FF2B5EF4-FFF2-40B4-BE49-F238E27FC236}">
                <a16:creationId xmlns:a16="http://schemas.microsoft.com/office/drawing/2014/main" id="{7BE3CBC0-515B-44F3-939E-5DE829BF9C95}"/>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Roles y decisiones</a:t>
            </a:r>
          </a:p>
        </p:txBody>
      </p:sp>
      <p:sp>
        <p:nvSpPr>
          <p:cNvPr id="2" name="contenido-1">
            <a:extLst xmlns:a="http://schemas.openxmlformats.org/drawingml/2006/main">
              <a:ext uri="{FF2B5EF4-FFF2-40B4-BE49-F238E27FC236}">
                <a16:creationId xmlns:a16="http://schemas.microsoft.com/office/drawing/2014/main" id="{639FAEB5-E627-472B-B9D3-67F734593FC5}"/>
              </a:ext>
            </a:extLst>
          </p:cNvPr>
          <p:cNvSpPr>
            <a:spLocks xmlns:a="http://schemas.openxmlformats.org/drawingml/2006/main" noGrp="1"/>
          </p:cNvSpPr>
          <p:nvPr/>
        </p:nvSpPr>
        <p:spPr>
          <a:xfrm xmlns:a="http://schemas.openxmlformats.org/drawingml/2006/main">
            <a:off x="609600" y="204787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Solicitante: describe la necesidad.</a:t>
            </a:r>
          </a:p>
        </p:txBody>
      </p:sp>
      <p:sp>
        <p:nvSpPr>
          <p:cNvPr id="3" name="contenido-2">
            <a:extLst xmlns:a="http://schemas.openxmlformats.org/drawingml/2006/main">
              <a:ext uri="{FF2B5EF4-FFF2-40B4-BE49-F238E27FC236}">
                <a16:creationId xmlns:a16="http://schemas.microsoft.com/office/drawing/2014/main" id="{0966DC73-9741-4B86-B919-537686776E3D}"/>
              </a:ext>
            </a:extLst>
          </p:cNvPr>
          <p:cNvSpPr>
            <a:spLocks xmlns:a="http://schemas.openxmlformats.org/drawingml/2006/main" noGrp="1"/>
          </p:cNvSpPr>
          <p:nvPr/>
        </p:nvSpPr>
        <p:spPr>
          <a:xfrm xmlns:a="http://schemas.openxmlformats.org/drawingml/2006/main">
            <a:off x="609600" y="266128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Responsable: prioriza y decide.</a:t>
            </a:r>
          </a:p>
        </p:txBody>
      </p:sp>
      <p:sp>
        <p:nvSpPr>
          <p:cNvPr id="4" name="contenido-3">
            <a:extLst xmlns:a="http://schemas.openxmlformats.org/drawingml/2006/main">
              <a:ext uri="{FF2B5EF4-FFF2-40B4-BE49-F238E27FC236}">
                <a16:creationId xmlns:a16="http://schemas.microsoft.com/office/drawing/2014/main" id="{E86ECBEF-7B58-4B4C-90E8-B30E19B6EE2D}"/>
              </a:ext>
            </a:extLst>
          </p:cNvPr>
          <p:cNvSpPr>
            <a:spLocks xmlns:a="http://schemas.openxmlformats.org/drawingml/2006/main" noGrp="1"/>
          </p:cNvSpPr>
          <p:nvPr/>
        </p:nvSpPr>
        <p:spPr>
          <a:xfrm xmlns:a="http://schemas.openxmlformats.org/drawingml/2006/main">
            <a:off x="609600" y="327469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Desarrollador: implementa.</a:t>
            </a:r>
          </a:p>
        </p:txBody>
      </p:sp>
      <p:sp>
        <p:nvSpPr>
          <p:cNvPr id="5" name="contenido-4">
            <a:extLst xmlns:a="http://schemas.openxmlformats.org/drawingml/2006/main">
              <a:ext uri="{FF2B5EF4-FFF2-40B4-BE49-F238E27FC236}">
                <a16:creationId xmlns:a16="http://schemas.microsoft.com/office/drawing/2014/main" id="{7376996A-E467-4437-9FAC-82072D8B1A74}"/>
              </a:ext>
            </a:extLst>
          </p:cNvPr>
          <p:cNvSpPr>
            <a:spLocks xmlns:a="http://schemas.openxmlformats.org/drawingml/2006/main" noGrp="1"/>
          </p:cNvSpPr>
          <p:nvPr/>
        </p:nvSpPr>
        <p:spPr>
          <a:xfrm xmlns:a="http://schemas.openxmlformats.org/drawingml/2006/main">
            <a:off x="609600" y="388810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Revisor y QA: examinan y comprueban.</a:t>
            </a:r>
          </a:p>
        </p:txBody>
      </p:sp>
      <p:sp>
        <p:nvSpPr>
          <p:cNvPr id="6" name="contenido-5">
            <a:extLst xmlns:a="http://schemas.openxmlformats.org/drawingml/2006/main">
              <a:ext uri="{FF2B5EF4-FFF2-40B4-BE49-F238E27FC236}">
                <a16:creationId xmlns:a16="http://schemas.microsoft.com/office/drawing/2014/main" id="{AD5E4240-7862-476E-A240-66EF1963E8E3}"/>
              </a:ext>
            </a:extLst>
          </p:cNvPr>
          <p:cNvSpPr>
            <a:spLocks xmlns:a="http://schemas.openxmlformats.org/drawingml/2006/main" noGrp="1"/>
          </p:cNvSpPr>
          <p:nvPr/>
        </p:nvSpPr>
        <p:spPr>
          <a:xfrm xmlns:a="http://schemas.openxmlformats.org/drawingml/2006/main">
            <a:off x="609600" y="450151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Integrador: incorpora la entrega.</a:t>
            </a:r>
          </a:p>
        </p:txBody>
      </p:sp>
      <p:sp>
        <p:nvSpPr>
          <p:cNvPr id="7" name="contenido-6">
            <a:extLst xmlns:a="http://schemas.openxmlformats.org/drawingml/2006/main">
              <a:ext uri="{FF2B5EF4-FFF2-40B4-BE49-F238E27FC236}">
                <a16:creationId xmlns:a16="http://schemas.microsoft.com/office/drawing/2014/main" id="{80AB0672-422A-4DFE-B9ED-E6DB3F423DDA}"/>
              </a:ext>
            </a:extLst>
          </p:cNvPr>
          <p:cNvSpPr>
            <a:spLocks xmlns:a="http://schemas.openxmlformats.org/drawingml/2006/main" noGrp="1"/>
          </p:cNvSpPr>
          <p:nvPr/>
        </p:nvSpPr>
        <p:spPr>
          <a:xfrm xmlns:a="http://schemas.openxmlformats.org/drawingml/2006/main">
            <a:off x="609600" y="511492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RRHH: KirderFaid13 revisa e integra.</a:t>
            </a:r>
          </a:p>
        </p:txBody>
      </p:sp>
      <p:sp>
        <p:nvSpPr>
          <p:cNvPr id="8" name="pie-9">
            <a:extLst xmlns:a="http://schemas.openxmlformats.org/drawingml/2006/main">
              <a:ext uri="{FF2B5EF4-FFF2-40B4-BE49-F238E27FC236}">
                <a16:creationId xmlns:a16="http://schemas.microsoft.com/office/drawing/2014/main" id="{9CF1C3E8-F4A6-441C-8D90-10279632B54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09</a:t>
            </a:r>
          </a:p>
        </p:txBody>
      </p:sp>
    </p:spTree>
    <p:extLst>
      <p:ext uri="{BB962C8B-B14F-4D97-AF65-F5344CB8AC3E}">
        <p14:creationId xmlns:p14="http://schemas.microsoft.com/office/powerpoint/2010/main" val="1377953041"/>
      </p:ext>
    </p:extLst>
  </p:cSld>
</p:sld>
</file>

<file path=ppt/slides/slide10.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9" name="titulo-10">
            <a:extLst xmlns:a="http://schemas.openxmlformats.org/drawingml/2006/main">
              <a:ext uri="{FF2B5EF4-FFF2-40B4-BE49-F238E27FC236}">
                <a16:creationId xmlns:a16="http://schemas.microsoft.com/office/drawing/2014/main" id="{28B29A75-9808-40A4-B06E-9B1DDE924496}"/>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Git y GitHub en el proceso</a:t>
            </a:r>
          </a:p>
        </p:txBody>
      </p:sp>
      <p:sp>
        <p:nvSpPr>
          <p:cNvPr id="2" name="contenido-1">
            <a:extLst xmlns:a="http://schemas.openxmlformats.org/drawingml/2006/main">
              <a:ext uri="{FF2B5EF4-FFF2-40B4-BE49-F238E27FC236}">
                <a16:creationId xmlns:a16="http://schemas.microsoft.com/office/drawing/2014/main" id="{85BD0E3C-30FB-49E3-BDF2-F023F96AB489}"/>
              </a:ext>
            </a:extLst>
          </p:cNvPr>
          <p:cNvSpPr>
            <a:spLocks xmlns:a="http://schemas.openxmlformats.org/drawingml/2006/main" noGrp="1"/>
          </p:cNvSpPr>
          <p:nvPr/>
        </p:nvSpPr>
        <p:spPr>
          <a:xfrm xmlns:a="http://schemas.openxmlformats.org/drawingml/2006/main">
            <a:off x="609600" y="204787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6F1E8"/>
                </a:solidFill>
                <a:latin typeface="Arial"/>
                <a:ea typeface="Arial"/>
                <a:cs typeface="Arial"/>
              </a:defRPr>
            </a:defPPr>
          </a:lstStyle>
          <a:p xmlns:a="http://schemas.openxmlformats.org/drawingml/2006/main">
            <a:pPr algn="l">
              <a:lnSpc>
                <a:spcPct val="108000"/>
              </a:lnSpc>
              <a:buNone/>
              <a:defRPr sz="2400" b="0">
                <a:solidFill>
                  <a:srgbClr val="F6F1E8"/>
                </a:solidFill>
                <a:latin typeface="Arial"/>
                <a:ea typeface="Arial"/>
                <a:cs typeface="Arial"/>
              </a:defRPr>
            </a:pPr>
            <a:r>
              <a:rPr sz="2400" b="0">
                <a:solidFill>
                  <a:srgbClr val="F6F1E8"/>
                </a:solidFill>
                <a:latin typeface="Arial"/>
                <a:ea typeface="Arial"/>
                <a:cs typeface="Arial"/>
              </a:rPr>
              <a:t>Issue: necesidad y seguimiento.</a:t>
            </a:r>
          </a:p>
        </p:txBody>
      </p:sp>
      <p:sp>
        <p:nvSpPr>
          <p:cNvPr id="3" name="contenido-2">
            <a:extLst xmlns:a="http://schemas.openxmlformats.org/drawingml/2006/main">
              <a:ext uri="{FF2B5EF4-FFF2-40B4-BE49-F238E27FC236}">
                <a16:creationId xmlns:a16="http://schemas.microsoft.com/office/drawing/2014/main" id="{39EA0D64-05AE-4462-8B03-A19DF9BCF157}"/>
              </a:ext>
            </a:extLst>
          </p:cNvPr>
          <p:cNvSpPr>
            <a:spLocks xmlns:a="http://schemas.openxmlformats.org/drawingml/2006/main" noGrp="1"/>
          </p:cNvSpPr>
          <p:nvPr/>
        </p:nvSpPr>
        <p:spPr>
          <a:xfrm xmlns:a="http://schemas.openxmlformats.org/drawingml/2006/main">
            <a:off x="609600" y="266128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6F1E8"/>
                </a:solidFill>
                <a:latin typeface="Arial"/>
                <a:ea typeface="Arial"/>
                <a:cs typeface="Arial"/>
              </a:defRPr>
            </a:defPPr>
          </a:lstStyle>
          <a:p xmlns:a="http://schemas.openxmlformats.org/drawingml/2006/main">
            <a:pPr algn="l">
              <a:lnSpc>
                <a:spcPct val="108000"/>
              </a:lnSpc>
              <a:buNone/>
              <a:defRPr sz="2400" b="0">
                <a:solidFill>
                  <a:srgbClr val="F6F1E8"/>
                </a:solidFill>
                <a:latin typeface="Arial"/>
                <a:ea typeface="Arial"/>
                <a:cs typeface="Arial"/>
              </a:defRPr>
            </a:pPr>
            <a:r>
              <a:rPr sz="2400" b="0">
                <a:solidFill>
                  <a:srgbClr val="F6F1E8"/>
                </a:solidFill>
                <a:latin typeface="Arial"/>
                <a:ea typeface="Arial"/>
                <a:cs typeface="Arial"/>
              </a:rPr>
              <a:t>Rama: trabajo separado.</a:t>
            </a:r>
          </a:p>
        </p:txBody>
      </p:sp>
      <p:sp>
        <p:nvSpPr>
          <p:cNvPr id="4" name="contenido-3">
            <a:extLst xmlns:a="http://schemas.openxmlformats.org/drawingml/2006/main">
              <a:ext uri="{FF2B5EF4-FFF2-40B4-BE49-F238E27FC236}">
                <a16:creationId xmlns:a16="http://schemas.microsoft.com/office/drawing/2014/main" id="{CEB9BB2E-A749-4ECC-8ED8-9C45C6F45C45}"/>
              </a:ext>
            </a:extLst>
          </p:cNvPr>
          <p:cNvSpPr>
            <a:spLocks xmlns:a="http://schemas.openxmlformats.org/drawingml/2006/main" noGrp="1"/>
          </p:cNvSpPr>
          <p:nvPr/>
        </p:nvSpPr>
        <p:spPr>
          <a:xfrm xmlns:a="http://schemas.openxmlformats.org/drawingml/2006/main">
            <a:off x="609600" y="327469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6F1E8"/>
                </a:solidFill>
                <a:latin typeface="Arial"/>
                <a:ea typeface="Arial"/>
                <a:cs typeface="Arial"/>
              </a:defRPr>
            </a:defPPr>
          </a:lstStyle>
          <a:p xmlns:a="http://schemas.openxmlformats.org/drawingml/2006/main">
            <a:pPr algn="l">
              <a:lnSpc>
                <a:spcPct val="108000"/>
              </a:lnSpc>
              <a:buNone/>
              <a:defRPr sz="2400" b="0">
                <a:solidFill>
                  <a:srgbClr val="F6F1E8"/>
                </a:solidFill>
                <a:latin typeface="Arial"/>
                <a:ea typeface="Arial"/>
                <a:cs typeface="Arial"/>
              </a:defRPr>
            </a:pPr>
            <a:r>
              <a:rPr sz="2400" b="0">
                <a:solidFill>
                  <a:srgbClr val="F6F1E8"/>
                </a:solidFill>
                <a:latin typeface="Arial"/>
                <a:ea typeface="Arial"/>
                <a:cs typeface="Arial"/>
              </a:rPr>
              <a:t>Commit: cambios registrados.</a:t>
            </a:r>
          </a:p>
        </p:txBody>
      </p:sp>
      <p:sp>
        <p:nvSpPr>
          <p:cNvPr id="5" name="contenido-4">
            <a:extLst xmlns:a="http://schemas.openxmlformats.org/drawingml/2006/main">
              <a:ext uri="{FF2B5EF4-FFF2-40B4-BE49-F238E27FC236}">
                <a16:creationId xmlns:a16="http://schemas.microsoft.com/office/drawing/2014/main" id="{FFAA1FE9-2E0E-4D82-9FBC-C3DEF760FC4A}"/>
              </a:ext>
            </a:extLst>
          </p:cNvPr>
          <p:cNvSpPr>
            <a:spLocks xmlns:a="http://schemas.openxmlformats.org/drawingml/2006/main" noGrp="1"/>
          </p:cNvSpPr>
          <p:nvPr/>
        </p:nvSpPr>
        <p:spPr>
          <a:xfrm xmlns:a="http://schemas.openxmlformats.org/drawingml/2006/main">
            <a:off x="609600" y="388810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6F1E8"/>
                </a:solidFill>
                <a:latin typeface="Arial"/>
                <a:ea typeface="Arial"/>
                <a:cs typeface="Arial"/>
              </a:defRPr>
            </a:defPPr>
          </a:lstStyle>
          <a:p xmlns:a="http://schemas.openxmlformats.org/drawingml/2006/main">
            <a:pPr algn="l">
              <a:lnSpc>
                <a:spcPct val="108000"/>
              </a:lnSpc>
              <a:buNone/>
              <a:defRPr sz="2400" b="0">
                <a:solidFill>
                  <a:srgbClr val="F6F1E8"/>
                </a:solidFill>
                <a:latin typeface="Arial"/>
                <a:ea typeface="Arial"/>
                <a:cs typeface="Arial"/>
              </a:defRPr>
            </a:pPr>
            <a:r>
              <a:rPr sz="2400" b="0">
                <a:solidFill>
                  <a:srgbClr val="F6F1E8"/>
                </a:solidFill>
                <a:latin typeface="Arial"/>
                <a:ea typeface="Arial"/>
                <a:cs typeface="Arial"/>
              </a:rPr>
              <a:t>Pull Request: propuesta revisable.</a:t>
            </a:r>
          </a:p>
        </p:txBody>
      </p:sp>
      <p:sp>
        <p:nvSpPr>
          <p:cNvPr id="6" name="contenido-5">
            <a:extLst xmlns:a="http://schemas.openxmlformats.org/drawingml/2006/main">
              <a:ext uri="{FF2B5EF4-FFF2-40B4-BE49-F238E27FC236}">
                <a16:creationId xmlns:a16="http://schemas.microsoft.com/office/drawing/2014/main" id="{8FD40E23-0A41-4C13-81B4-8428F509A97C}"/>
              </a:ext>
            </a:extLst>
          </p:cNvPr>
          <p:cNvSpPr>
            <a:spLocks xmlns:a="http://schemas.openxmlformats.org/drawingml/2006/main" noGrp="1"/>
          </p:cNvSpPr>
          <p:nvPr/>
        </p:nvSpPr>
        <p:spPr>
          <a:xfrm xmlns:a="http://schemas.openxmlformats.org/drawingml/2006/main">
            <a:off x="609600" y="450151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6F1E8"/>
                </a:solidFill>
                <a:latin typeface="Arial"/>
                <a:ea typeface="Arial"/>
                <a:cs typeface="Arial"/>
              </a:defRPr>
            </a:defPPr>
          </a:lstStyle>
          <a:p xmlns:a="http://schemas.openxmlformats.org/drawingml/2006/main">
            <a:pPr algn="l">
              <a:lnSpc>
                <a:spcPct val="108000"/>
              </a:lnSpc>
              <a:buNone/>
              <a:defRPr sz="2400" b="0">
                <a:solidFill>
                  <a:srgbClr val="F6F1E8"/>
                </a:solidFill>
                <a:latin typeface="Arial"/>
                <a:ea typeface="Arial"/>
                <a:cs typeface="Arial"/>
              </a:defRPr>
            </a:pPr>
            <a:r>
              <a:rPr sz="2400" b="0">
                <a:solidFill>
                  <a:srgbClr val="F6F1E8"/>
                </a:solidFill>
                <a:latin typeface="Arial"/>
                <a:ea typeface="Arial"/>
                <a:cs typeface="Arial"/>
              </a:rPr>
              <a:t>Integración: entrega incorporada.</a:t>
            </a:r>
          </a:p>
        </p:txBody>
      </p:sp>
      <p:sp>
        <p:nvSpPr>
          <p:cNvPr id="7" name="contenido-6">
            <a:extLst xmlns:a="http://schemas.openxmlformats.org/drawingml/2006/main">
              <a:ext uri="{FF2B5EF4-FFF2-40B4-BE49-F238E27FC236}">
                <a16:creationId xmlns:a16="http://schemas.microsoft.com/office/drawing/2014/main" id="{8AB8A89B-FEA2-49C2-A236-94A2AD5C20C3}"/>
              </a:ext>
            </a:extLst>
          </p:cNvPr>
          <p:cNvSpPr>
            <a:spLocks xmlns:a="http://schemas.openxmlformats.org/drawingml/2006/main" noGrp="1"/>
          </p:cNvSpPr>
          <p:nvPr/>
        </p:nvSpPr>
        <p:spPr>
          <a:xfrm xmlns:a="http://schemas.openxmlformats.org/drawingml/2006/main">
            <a:off x="609600" y="511492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6F1E8"/>
                </a:solidFill>
                <a:latin typeface="Arial"/>
                <a:ea typeface="Arial"/>
                <a:cs typeface="Arial"/>
              </a:defRPr>
            </a:defPPr>
          </a:lstStyle>
          <a:p xmlns:a="http://schemas.openxmlformats.org/drawingml/2006/main">
            <a:pPr algn="l">
              <a:lnSpc>
                <a:spcPct val="108000"/>
              </a:lnSpc>
              <a:buNone/>
              <a:defRPr sz="2400" b="0">
                <a:solidFill>
                  <a:srgbClr val="F6F1E8"/>
                </a:solidFill>
                <a:latin typeface="Arial"/>
                <a:ea typeface="Arial"/>
                <a:cs typeface="Arial"/>
              </a:defRPr>
            </a:pPr>
            <a:r>
              <a:rPr sz="2400" b="0">
                <a:solidFill>
                  <a:srgbClr val="F6F1E8"/>
                </a:solidFill>
                <a:latin typeface="Arial"/>
                <a:ea typeface="Arial"/>
                <a:cs typeface="Arial"/>
              </a:rPr>
              <a:t>Caso: enlazar CAM-S09-001 con Issue #10 y su PR.</a:t>
            </a:r>
          </a:p>
        </p:txBody>
      </p:sp>
      <p:sp>
        <p:nvSpPr>
          <p:cNvPr id="8" name="pie-10">
            <a:extLst xmlns:a="http://schemas.openxmlformats.org/drawingml/2006/main">
              <a:ext uri="{FF2B5EF4-FFF2-40B4-BE49-F238E27FC236}">
                <a16:creationId xmlns:a16="http://schemas.microsoft.com/office/drawing/2014/main" id="{E48FB2C1-C7DE-489B-BAEF-D625E39A0F11}"/>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10</a:t>
            </a:r>
          </a:p>
        </p:txBody>
      </p:sp>
    </p:spTree>
    <p:extLst>
      <p:ext uri="{BB962C8B-B14F-4D97-AF65-F5344CB8AC3E}">
        <p14:creationId xmlns:p14="http://schemas.microsoft.com/office/powerpoint/2010/main" val="736872711"/>
      </p:ext>
    </p:extLst>
  </p:cSld>
</p:sld>
</file>

<file path=ppt/slides/slide1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8" name="titulo-11">
            <a:extLst xmlns:a="http://schemas.openxmlformats.org/drawingml/2006/main">
              <a:ext uri="{FF2B5EF4-FFF2-40B4-BE49-F238E27FC236}">
                <a16:creationId xmlns:a16="http://schemas.microsoft.com/office/drawing/2014/main" id="{D704C1EC-4E9A-461B-B6E2-0CBF6940A275}"/>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Solicitud y criterios de aceptación</a:t>
            </a:r>
          </a:p>
        </p:txBody>
      </p:sp>
      <p:sp>
        <p:nvSpPr>
          <p:cNvPr id="2" name="contenido-1">
            <a:extLst xmlns:a="http://schemas.openxmlformats.org/drawingml/2006/main">
              <a:ext uri="{FF2B5EF4-FFF2-40B4-BE49-F238E27FC236}">
                <a16:creationId xmlns:a16="http://schemas.microsoft.com/office/drawing/2014/main" id="{26E387B3-BE50-4473-87C6-1EE8A48EFEDD}"/>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Issue #10 · CAM-S09-001</a:t>
            </a:r>
          </a:p>
        </p:txBody>
      </p:sp>
      <p:sp>
        <p:nvSpPr>
          <p:cNvPr id="3" name="contenido-2">
            <a:extLst xmlns:a="http://schemas.openxmlformats.org/drawingml/2006/main">
              <a:ext uri="{FF2B5EF4-FFF2-40B4-BE49-F238E27FC236}">
                <a16:creationId xmlns:a16="http://schemas.microsoft.com/office/drawing/2014/main" id="{6864C32E-54F9-4E57-900C-B73EF01FE8DB}"/>
              </a:ext>
            </a:extLst>
          </p:cNvPr>
          <p:cNvSpPr>
            <a:spLocks xmlns:a="http://schemas.openxmlformats.org/drawingml/2006/main" noGrp="1"/>
          </p:cNvSpPr>
          <p:nvPr/>
        </p:nvSpPr>
        <p:spPr>
          <a:xfrm xmlns:a="http://schemas.openxmlformats.org/drawingml/2006/main">
            <a:off x="609600" y="268414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Problema: liberación no delimitada.</a:t>
            </a:r>
          </a:p>
        </p:txBody>
      </p:sp>
      <p:sp>
        <p:nvSpPr>
          <p:cNvPr id="4" name="contenido-3">
            <a:extLst xmlns:a="http://schemas.openxmlformats.org/drawingml/2006/main">
              <a:ext uri="{FF2B5EF4-FFF2-40B4-BE49-F238E27FC236}">
                <a16:creationId xmlns:a16="http://schemas.microsoft.com/office/drawing/2014/main" id="{B6B75F53-2A24-4093-846C-142CBB22302B}"/>
              </a:ext>
            </a:extLst>
          </p:cNvPr>
          <p:cNvSpPr>
            <a:spLocks xmlns:a="http://schemas.openxmlformats.org/drawingml/2006/main" noGrp="1"/>
          </p:cNvSpPr>
          <p:nvPr/>
        </p:nvSpPr>
        <p:spPr>
          <a:xfrm xmlns:a="http://schemas.openxmlformats.org/drawingml/2006/main">
            <a:off x="609600" y="3320415"/>
            <a:ext cx="10972800" cy="824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Criterios: comando disponible durante Ejecutar y liberado al finalizar.</a:t>
            </a:r>
          </a:p>
        </p:txBody>
      </p:sp>
      <p:sp>
        <p:nvSpPr>
          <p:cNvPr id="5" name="contenido-4">
            <a:extLst xmlns:a="http://schemas.openxmlformats.org/drawingml/2006/main">
              <a:ext uri="{FF2B5EF4-FFF2-40B4-BE49-F238E27FC236}">
                <a16:creationId xmlns:a16="http://schemas.microsoft.com/office/drawing/2014/main" id="{7EAE5A14-8318-4998-8636-89E9FC894146}"/>
              </a:ext>
            </a:extLst>
          </p:cNvPr>
          <p:cNvSpPr>
            <a:spLocks xmlns:a="http://schemas.openxmlformats.org/drawingml/2006/main" noGrp="1"/>
          </p:cNvSpPr>
          <p:nvPr/>
        </p:nvSpPr>
        <p:spPr>
          <a:xfrm xmlns:a="http://schemas.openxmlformats.org/drawingml/2006/main">
            <a:off x="609600" y="434530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Conservar: resultado y excepción.</a:t>
            </a:r>
          </a:p>
        </p:txBody>
      </p:sp>
      <p:sp>
        <p:nvSpPr>
          <p:cNvPr id="6" name="contenido-5">
            <a:extLst xmlns:a="http://schemas.openxmlformats.org/drawingml/2006/main">
              <a:ext uri="{FF2B5EF4-FFF2-40B4-BE49-F238E27FC236}">
                <a16:creationId xmlns:a16="http://schemas.microsoft.com/office/drawing/2014/main" id="{231F2908-7A07-4B12-9065-84A0962E31BA}"/>
              </a:ext>
            </a:extLst>
          </p:cNvPr>
          <p:cNvSpPr>
            <a:spLocks xmlns:a="http://schemas.openxmlformats.org/drawingml/2006/main" noGrp="1"/>
          </p:cNvSpPr>
          <p:nvPr/>
        </p:nvSpPr>
        <p:spPr>
          <a:xfrm xmlns:a="http://schemas.openxmlformats.org/drawingml/2006/main">
            <a:off x="609600" y="49815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Fuera de alcance: SQL real y conexión.</a:t>
            </a:r>
          </a:p>
        </p:txBody>
      </p:sp>
      <p:sp>
        <p:nvSpPr>
          <p:cNvPr id="7" name="pie-11">
            <a:extLst xmlns:a="http://schemas.openxmlformats.org/drawingml/2006/main">
              <a:ext uri="{FF2B5EF4-FFF2-40B4-BE49-F238E27FC236}">
                <a16:creationId xmlns:a16="http://schemas.microsoft.com/office/drawing/2014/main" id="{49174E22-017E-41E9-9F7B-81ECE5C070EA}"/>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11</a:t>
            </a:r>
          </a:p>
        </p:txBody>
      </p:sp>
    </p:spTree>
    <p:extLst>
      <p:ext uri="{BB962C8B-B14F-4D97-AF65-F5344CB8AC3E}">
        <p14:creationId xmlns:p14="http://schemas.microsoft.com/office/powerpoint/2010/main" val="232714984"/>
      </p:ext>
    </p:extLst>
  </p:cSld>
</p:sld>
</file>

<file path=ppt/slides/slide12.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8" name="titulo-12">
            <a:extLst xmlns:a="http://schemas.openxmlformats.org/drawingml/2006/main">
              <a:ext uri="{FF2B5EF4-FFF2-40B4-BE49-F238E27FC236}">
                <a16:creationId xmlns:a16="http://schemas.microsoft.com/office/drawing/2014/main" id="{043AD9E6-0BA3-4DA0-A104-728489F9A5C5}"/>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Revisión y pruebas</a:t>
            </a:r>
          </a:p>
        </p:txBody>
      </p:sp>
      <p:sp>
        <p:nvSpPr>
          <p:cNvPr id="2" name="contenido-1">
            <a:extLst xmlns:a="http://schemas.openxmlformats.org/drawingml/2006/main">
              <a:ext uri="{FF2B5EF4-FFF2-40B4-BE49-F238E27FC236}">
                <a16:creationId xmlns:a16="http://schemas.microsoft.com/office/drawing/2014/main" id="{1129C486-CC10-4AE0-907A-A57F0FD023E6}"/>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El PR reúne código y evidencia.</a:t>
            </a:r>
          </a:p>
        </p:txBody>
      </p:sp>
      <p:sp>
        <p:nvSpPr>
          <p:cNvPr id="3" name="contenido-2">
            <a:extLst xmlns:a="http://schemas.openxmlformats.org/drawingml/2006/main">
              <a:ext uri="{FF2B5EF4-FFF2-40B4-BE49-F238E27FC236}">
                <a16:creationId xmlns:a16="http://schemas.microsoft.com/office/drawing/2014/main" id="{536BEF6B-CA7E-4D62-A8E2-50B086483371}"/>
              </a:ext>
            </a:extLst>
          </p:cNvPr>
          <p:cNvSpPr>
            <a:spLocks xmlns:a="http://schemas.openxmlformats.org/drawingml/2006/main" noGrp="1"/>
          </p:cNvSpPr>
          <p:nvPr/>
        </p:nvSpPr>
        <p:spPr>
          <a:xfrm xmlns:a="http://schemas.openxmlformats.org/drawingml/2006/main">
            <a:off x="609600" y="268414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Caso: éxito y excepción del ejecutor.</a:t>
            </a:r>
          </a:p>
        </p:txBody>
      </p:sp>
      <p:sp>
        <p:nvSpPr>
          <p:cNvPr id="4" name="contenido-3">
            <a:extLst xmlns:a="http://schemas.openxmlformats.org/drawingml/2006/main">
              <a:ext uri="{FF2B5EF4-FFF2-40B4-BE49-F238E27FC236}">
                <a16:creationId xmlns:a16="http://schemas.microsoft.com/office/drawing/2014/main" id="{D50DFC58-307A-4970-8155-6A500D942BD9}"/>
              </a:ext>
            </a:extLst>
          </p:cNvPr>
          <p:cNvSpPr>
            <a:spLocks xmlns:a="http://schemas.openxmlformats.org/drawingml/2006/main" noGrp="1"/>
          </p:cNvSpPr>
          <p:nvPr/>
        </p:nvSpPr>
        <p:spPr>
          <a:xfrm xmlns:a="http://schemas.openxmlformats.org/drawingml/2006/main">
            <a:off x="609600" y="332041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Comprobación: liberación del comando y conservación del resultado.</a:t>
            </a:r>
          </a:p>
        </p:txBody>
      </p:sp>
      <p:sp>
        <p:nvSpPr>
          <p:cNvPr id="5" name="contenido-4">
            <a:extLst xmlns:a="http://schemas.openxmlformats.org/drawingml/2006/main">
              <a:ext uri="{FF2B5EF4-FFF2-40B4-BE49-F238E27FC236}">
                <a16:creationId xmlns:a16="http://schemas.microsoft.com/office/drawing/2014/main" id="{D821050B-8EC8-40C6-A2ED-C98D7B2F8F8C}"/>
              </a:ext>
            </a:extLst>
          </p:cNvPr>
          <p:cNvSpPr>
            <a:spLocks xmlns:a="http://schemas.openxmlformats.org/drawingml/2006/main" noGrp="1"/>
          </p:cNvSpPr>
          <p:nvPr/>
        </p:nvSpPr>
        <p:spPr>
          <a:xfrm xmlns:a="http://schemas.openxmlformats.org/drawingml/2006/main">
            <a:off x="609600" y="395668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Regresión: repetir escenarios IoC.</a:t>
            </a:r>
          </a:p>
        </p:txBody>
      </p:sp>
      <p:sp>
        <p:nvSpPr>
          <p:cNvPr id="6" name="contenido-5">
            <a:extLst xmlns:a="http://schemas.openxmlformats.org/drawingml/2006/main">
              <a:ext uri="{FF2B5EF4-FFF2-40B4-BE49-F238E27FC236}">
                <a16:creationId xmlns:a16="http://schemas.microsoft.com/office/drawing/2014/main" id="{6F414CC3-ABDA-4949-A484-053EC201344E}"/>
              </a:ext>
            </a:extLst>
          </p:cNvPr>
          <p:cNvSpPr>
            <a:spLocks xmlns:a="http://schemas.openxmlformats.org/drawingml/2006/main" noGrp="1"/>
          </p:cNvSpPr>
          <p:nvPr/>
        </p:nvSpPr>
        <p:spPr>
          <a:xfrm xmlns:a="http://schemas.openxmlformats.org/drawingml/2006/main">
            <a:off x="609600" y="459295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Pruebas aisladas: no demuestran SQL real.</a:t>
            </a:r>
          </a:p>
        </p:txBody>
      </p:sp>
      <p:sp>
        <p:nvSpPr>
          <p:cNvPr id="7" name="pie-12">
            <a:extLst xmlns:a="http://schemas.openxmlformats.org/drawingml/2006/main">
              <a:ext uri="{FF2B5EF4-FFF2-40B4-BE49-F238E27FC236}">
                <a16:creationId xmlns:a16="http://schemas.microsoft.com/office/drawing/2014/main" id="{F30BC9F5-F70C-40E0-B729-F5FC290FF4F2}"/>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12</a:t>
            </a:r>
          </a:p>
        </p:txBody>
      </p:sp>
    </p:spTree>
    <p:extLst>
      <p:ext uri="{BB962C8B-B14F-4D97-AF65-F5344CB8AC3E}">
        <p14:creationId xmlns:p14="http://schemas.microsoft.com/office/powerpoint/2010/main" val="1803949978"/>
      </p:ext>
    </p:extLst>
  </p:cSld>
</p:sld>
</file>

<file path=ppt/slides/slide1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8" name="titulo-13">
            <a:extLst xmlns:a="http://schemas.openxmlformats.org/drawingml/2006/main">
              <a:ext uri="{FF2B5EF4-FFF2-40B4-BE49-F238E27FC236}">
                <a16:creationId xmlns:a16="http://schemas.microsoft.com/office/drawing/2014/main" id="{AB7AABBA-88BD-4514-9C76-029F38DA6205}"/>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Artefactos y reglas de integración</a:t>
            </a:r>
          </a:p>
        </p:txBody>
      </p:sp>
      <p:sp>
        <p:nvSpPr>
          <p:cNvPr id="2" name="contenido-1">
            <a:extLst xmlns:a="http://schemas.openxmlformats.org/drawingml/2006/main">
              <a:ext uri="{FF2B5EF4-FFF2-40B4-BE49-F238E27FC236}">
                <a16:creationId xmlns:a16="http://schemas.microsoft.com/office/drawing/2014/main" id="{7EEE18FB-9DF8-4B3C-93A9-C09D8449BA54}"/>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Plantillas: información comparable.</a:t>
            </a:r>
          </a:p>
        </p:txBody>
      </p:sp>
      <p:sp>
        <p:nvSpPr>
          <p:cNvPr id="3" name="contenido-2">
            <a:extLst xmlns:a="http://schemas.openxmlformats.org/drawingml/2006/main">
              <a:ext uri="{FF2B5EF4-FFF2-40B4-BE49-F238E27FC236}">
                <a16:creationId xmlns:a16="http://schemas.microsoft.com/office/drawing/2014/main" id="{280515A5-E76A-4235-BEE5-C7C6359E562A}"/>
              </a:ext>
            </a:extLst>
          </p:cNvPr>
          <p:cNvSpPr>
            <a:spLocks xmlns:a="http://schemas.openxmlformats.org/drawingml/2006/main" noGrp="1"/>
          </p:cNvSpPr>
          <p:nvPr/>
        </p:nvSpPr>
        <p:spPr>
          <a:xfrm xmlns:a="http://schemas.openxmlformats.org/drawingml/2006/main">
            <a:off x="609600" y="268414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Registro de cambios: evolución por entrega.</a:t>
            </a:r>
          </a:p>
        </p:txBody>
      </p:sp>
      <p:sp>
        <p:nvSpPr>
          <p:cNvPr id="4" name="contenido-3">
            <a:extLst xmlns:a="http://schemas.openxmlformats.org/drawingml/2006/main">
              <a:ext uri="{FF2B5EF4-FFF2-40B4-BE49-F238E27FC236}">
                <a16:creationId xmlns:a16="http://schemas.microsoft.com/office/drawing/2014/main" id="{8DDD16E0-CDB6-4351-861B-AF101AB0EDA6}"/>
              </a:ext>
            </a:extLst>
          </p:cNvPr>
          <p:cNvSpPr>
            <a:spLocks xmlns:a="http://schemas.openxmlformats.org/drawingml/2006/main" noGrp="1"/>
          </p:cNvSpPr>
          <p:nvPr/>
        </p:nvSpPr>
        <p:spPr>
          <a:xfrm xmlns:a="http://schemas.openxmlformats.org/drawingml/2006/main">
            <a:off x="609600" y="332041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Reglas de rama: requisitos configurados para integrar.</a:t>
            </a:r>
          </a:p>
        </p:txBody>
      </p:sp>
      <p:sp>
        <p:nvSpPr>
          <p:cNvPr id="5" name="contenido-4">
            <a:extLst xmlns:a="http://schemas.openxmlformats.org/drawingml/2006/main">
              <a:ext uri="{FF2B5EF4-FFF2-40B4-BE49-F238E27FC236}">
                <a16:creationId xmlns:a16="http://schemas.microsoft.com/office/drawing/2014/main" id="{2DF97FCF-561D-4465-9A16-7A4A6AB76E8D}"/>
              </a:ext>
            </a:extLst>
          </p:cNvPr>
          <p:cNvSpPr>
            <a:spLocks xmlns:a="http://schemas.openxmlformats.org/drawingml/2006/main" noGrp="1"/>
          </p:cNvSpPr>
          <p:nvPr/>
        </p:nvSpPr>
        <p:spPr>
          <a:xfrm xmlns:a="http://schemas.openxmlformats.org/drawingml/2006/main">
            <a:off x="609600" y="395668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Caso: exigir evidencias antes de incorporar la corrección.</a:t>
            </a:r>
          </a:p>
        </p:txBody>
      </p:sp>
      <p:sp>
        <p:nvSpPr>
          <p:cNvPr id="6" name="contenido-5">
            <a:extLst xmlns:a="http://schemas.openxmlformats.org/drawingml/2006/main">
              <a:ext uri="{FF2B5EF4-FFF2-40B4-BE49-F238E27FC236}">
                <a16:creationId xmlns:a16="http://schemas.microsoft.com/office/drawing/2014/main" id="{B25FE108-AFAE-4FED-976A-CF12016BC6E1}"/>
              </a:ext>
            </a:extLst>
          </p:cNvPr>
          <p:cNvSpPr>
            <a:spLocks xmlns:a="http://schemas.openxmlformats.org/drawingml/2006/main" noGrp="1"/>
          </p:cNvSpPr>
          <p:nvPr/>
        </p:nvSpPr>
        <p:spPr>
          <a:xfrm xmlns:a="http://schemas.openxmlformats.org/drawingml/2006/main">
            <a:off x="609600" y="459295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Una política documentada debe distinguirse de su automatización.</a:t>
            </a:r>
          </a:p>
        </p:txBody>
      </p:sp>
      <p:sp>
        <p:nvSpPr>
          <p:cNvPr id="7" name="pie-13">
            <a:extLst xmlns:a="http://schemas.openxmlformats.org/drawingml/2006/main">
              <a:ext uri="{FF2B5EF4-FFF2-40B4-BE49-F238E27FC236}">
                <a16:creationId xmlns:a16="http://schemas.microsoft.com/office/drawing/2014/main" id="{5611B5B5-01EC-4C79-A608-04CF5E0898A9}"/>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13</a:t>
            </a:r>
          </a:p>
        </p:txBody>
      </p:sp>
    </p:spTree>
    <p:extLst>
      <p:ext uri="{BB962C8B-B14F-4D97-AF65-F5344CB8AC3E}">
        <p14:creationId xmlns:p14="http://schemas.microsoft.com/office/powerpoint/2010/main" val="973461688"/>
      </p:ext>
    </p:extLst>
  </p:cSld>
</p:sld>
</file>

<file path=ppt/slides/slide14.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14">
            <a:extLst xmlns:a="http://schemas.openxmlformats.org/drawingml/2006/main">
              <a:ext uri="{FF2B5EF4-FFF2-40B4-BE49-F238E27FC236}">
                <a16:creationId xmlns:a16="http://schemas.microsoft.com/office/drawing/2014/main" id="{5A05FE6E-7AF8-4F85-B248-9155CB473117}"/>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Plan de reversión</a:t>
            </a:r>
          </a:p>
        </p:txBody>
      </p:sp>
      <p:sp>
        <p:nvSpPr>
          <p:cNvPr id="2" name="contenido-1">
            <a:extLst xmlns:a="http://schemas.openxmlformats.org/drawingml/2006/main">
              <a:ext uri="{FF2B5EF4-FFF2-40B4-BE49-F238E27FC236}">
                <a16:creationId xmlns:a16="http://schemas.microsoft.com/office/drawing/2014/main" id="{BF052B96-A246-4D6A-A3F0-49D313D2D1DD}"/>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CAM-S09-001: preparar la recuperación del comportamiento previo.</a:t>
            </a:r>
          </a:p>
        </p:txBody>
      </p:sp>
      <p:sp>
        <p:nvSpPr>
          <p:cNvPr id="3" name="contenido-2">
            <a:extLst xmlns:a="http://schemas.openxmlformats.org/drawingml/2006/main">
              <a:ext uri="{FF2B5EF4-FFF2-40B4-BE49-F238E27FC236}">
                <a16:creationId xmlns:a16="http://schemas.microsoft.com/office/drawing/2014/main" id="{F21559CF-3C07-4EF5-B61B-C4267873C5A7}"/>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git revert registra una reversión del código.</a:t>
            </a:r>
          </a:p>
        </p:txBody>
      </p:sp>
      <p:sp>
        <p:nvSpPr>
          <p:cNvPr id="4" name="contenido-3">
            <a:extLst xmlns:a="http://schemas.openxmlformats.org/drawingml/2006/main">
              <a:ext uri="{FF2B5EF4-FFF2-40B4-BE49-F238E27FC236}">
                <a16:creationId xmlns:a16="http://schemas.microsoft.com/office/drawing/2014/main" id="{6D52E47E-5779-453A-89AB-35A65CC664EC}"/>
              </a:ext>
            </a:extLst>
          </p:cNvPr>
          <p:cNvSpPr>
            <a:spLocks xmlns:a="http://schemas.openxmlformats.org/drawingml/2006/main" noGrp="1"/>
          </p:cNvSpPr>
          <p:nvPr/>
        </p:nvSpPr>
        <p:spPr>
          <a:xfrm xmlns:a="http://schemas.openxmlformats.org/drawingml/2006/main">
            <a:off x="609600" y="3491865"/>
            <a:ext cx="10972800" cy="824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Datos, configuración y despliegues requieren su propio procedimiento.</a:t>
            </a:r>
          </a:p>
        </p:txBody>
      </p:sp>
      <p:sp>
        <p:nvSpPr>
          <p:cNvPr id="5" name="contenido-4">
            <a:extLst xmlns:a="http://schemas.openxmlformats.org/drawingml/2006/main">
              <a:ext uri="{FF2B5EF4-FFF2-40B4-BE49-F238E27FC236}">
                <a16:creationId xmlns:a16="http://schemas.microsoft.com/office/drawing/2014/main" id="{3A9313FD-59C6-4CC5-96DF-FB59F31ECD92}"/>
              </a:ext>
            </a:extLst>
          </p:cNvPr>
          <p:cNvSpPr>
            <a:spLocks xmlns:a="http://schemas.openxmlformats.org/drawingml/2006/main" noGrp="1"/>
          </p:cNvSpPr>
          <p:nvPr/>
        </p:nvSpPr>
        <p:spPr>
          <a:xfrm xmlns:a="http://schemas.openxmlformats.org/drawingml/2006/main">
            <a:off x="609600" y="4602480"/>
            <a:ext cx="10972800" cy="824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Una bandera permite activar gradualmente funciones diseñadas para ello.</a:t>
            </a:r>
          </a:p>
        </p:txBody>
      </p:sp>
      <p:sp>
        <p:nvSpPr>
          <p:cNvPr id="6" name="pie-14">
            <a:extLst xmlns:a="http://schemas.openxmlformats.org/drawingml/2006/main">
              <a:ext uri="{FF2B5EF4-FFF2-40B4-BE49-F238E27FC236}">
                <a16:creationId xmlns:a16="http://schemas.microsoft.com/office/drawing/2014/main" id="{CD97299B-3AE5-4DDA-9E50-4722E081D2C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14</a:t>
            </a:r>
          </a:p>
        </p:txBody>
      </p:sp>
    </p:spTree>
    <p:extLst>
      <p:ext uri="{BB962C8B-B14F-4D97-AF65-F5344CB8AC3E}">
        <p14:creationId xmlns:p14="http://schemas.microsoft.com/office/powerpoint/2010/main" val="1904899647"/>
      </p:ext>
    </p:extLst>
  </p:cSld>
</p:sld>
</file>

<file path=ppt/slides/slide1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15">
            <a:extLst xmlns:a="http://schemas.openxmlformats.org/drawingml/2006/main">
              <a:ext uri="{FF2B5EF4-FFF2-40B4-BE49-F238E27FC236}">
                <a16:creationId xmlns:a16="http://schemas.microsoft.com/office/drawing/2014/main" id="{A1111231-C5F3-4244-8DB8-15C667751C3F}"/>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Aplicación a nuestro RRHH</a:t>
            </a:r>
          </a:p>
        </p:txBody>
      </p:sp>
      <p:sp>
        <p:nvSpPr>
          <p:cNvPr id="2" name="contenido-1">
            <a:extLst xmlns:a="http://schemas.openxmlformats.org/drawingml/2006/main">
              <a:ext uri="{FF2B5EF4-FFF2-40B4-BE49-F238E27FC236}">
                <a16:creationId xmlns:a16="http://schemas.microsoft.com/office/drawing/2014/main" id="{2498643B-F7AE-40C3-819F-8E4C9F40AEE0}"/>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Tres solicitudes registradas.</a:t>
            </a:r>
          </a:p>
        </p:txBody>
      </p:sp>
      <p:sp>
        <p:nvSpPr>
          <p:cNvPr id="3" name="contenido-2">
            <a:extLst xmlns:a="http://schemas.openxmlformats.org/drawingml/2006/main">
              <a:ext uri="{FF2B5EF4-FFF2-40B4-BE49-F238E27FC236}">
                <a16:creationId xmlns:a16="http://schemas.microsoft.com/office/drawing/2014/main" id="{E9E015D8-960F-49BD-B43A-2D34AFC51FE9}"/>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Una corrección seleccionada: CAM-S09-001.</a:t>
            </a:r>
          </a:p>
        </p:txBody>
      </p:sp>
      <p:sp>
        <p:nvSpPr>
          <p:cNvPr id="4" name="contenido-3">
            <a:extLst xmlns:a="http://schemas.openxmlformats.org/drawingml/2006/main">
              <a:ext uri="{FF2B5EF4-FFF2-40B4-BE49-F238E27FC236}">
                <a16:creationId xmlns:a16="http://schemas.microsoft.com/office/drawing/2014/main" id="{8C8A35B0-A4EB-42F9-9DFA-AD9E55325C41}"/>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Dos propuestas pendientes: CAM-S09-002 y CAM-S09-003.</a:t>
            </a:r>
          </a:p>
        </p:txBody>
      </p:sp>
      <p:sp>
        <p:nvSpPr>
          <p:cNvPr id="5" name="contenido-4">
            <a:extLst xmlns:a="http://schemas.openxmlformats.org/drawingml/2006/main">
              <a:ext uri="{FF2B5EF4-FFF2-40B4-BE49-F238E27FC236}">
                <a16:creationId xmlns:a16="http://schemas.microsoft.com/office/drawing/2014/main" id="{72429D63-0BB0-4196-892E-4F247D5CC204}"/>
              </a:ext>
            </a:extLst>
          </p:cNvPr>
          <p:cNvSpPr>
            <a:spLocks xmlns:a="http://schemas.openxmlformats.org/drawingml/2006/main" noGrp="1"/>
          </p:cNvSpPr>
          <p:nvPr/>
        </p:nvSpPr>
        <p:spPr>
          <a:xfrm xmlns:a="http://schemas.openxmlformats.org/drawingml/2006/main">
            <a:off x="609600" y="4213860"/>
            <a:ext cx="10972800" cy="824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Ahora veremos el código, las comprobaciones y su seguimiento en GitHub.</a:t>
            </a:r>
          </a:p>
        </p:txBody>
      </p:sp>
      <p:sp>
        <p:nvSpPr>
          <p:cNvPr id="6" name="pie-15">
            <a:extLst xmlns:a="http://schemas.openxmlformats.org/drawingml/2006/main">
              <a:ext uri="{FF2B5EF4-FFF2-40B4-BE49-F238E27FC236}">
                <a16:creationId xmlns:a16="http://schemas.microsoft.com/office/drawing/2014/main" id="{22775210-B45B-411E-BFC6-A8C90F3FDD1A}"/>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15</a:t>
            </a:r>
          </a:p>
        </p:txBody>
      </p:sp>
    </p:spTree>
    <p:extLst>
      <p:ext uri="{BB962C8B-B14F-4D97-AF65-F5344CB8AC3E}">
        <p14:creationId xmlns:p14="http://schemas.microsoft.com/office/powerpoint/2010/main" val="1999540856"/>
      </p:ext>
    </p:extLst>
  </p:cSld>
</p:sld>
</file>

<file path=ppt/slides/slide16.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6" name="titulo-16">
            <a:extLst xmlns:a="http://schemas.openxmlformats.org/drawingml/2006/main">
              <a:ext uri="{FF2B5EF4-FFF2-40B4-BE49-F238E27FC236}">
                <a16:creationId xmlns:a16="http://schemas.microsoft.com/office/drawing/2014/main" id="{199FEDC6-A5A5-477E-B3F0-E3DE06C5C9B3}"/>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Tres solicitudes, una intervención</a:t>
            </a:r>
          </a:p>
        </p:txBody>
      </p:sp>
      <p:sp>
        <p:nvSpPr>
          <p:cNvPr id="2" name="contenido-1">
            <a:extLst xmlns:a="http://schemas.openxmlformats.org/drawingml/2006/main">
              <a:ext uri="{FF2B5EF4-FFF2-40B4-BE49-F238E27FC236}">
                <a16:creationId xmlns:a16="http://schemas.microsoft.com/office/drawing/2014/main" id="{D80BA47D-E7C9-4E58-B08E-B25F4BC689AD}"/>
              </a:ext>
            </a:extLst>
          </p:cNvPr>
          <p:cNvSpPr>
            <a:spLocks xmlns:a="http://schemas.openxmlformats.org/drawingml/2006/main" noGrp="1"/>
          </p:cNvSpPr>
          <p:nvPr/>
        </p:nvSpPr>
        <p:spPr>
          <a:xfrm xmlns:a="http://schemas.openxmlformats.org/drawingml/2006/main">
            <a:off x="609600" y="2047875"/>
            <a:ext cx="10972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6F1E8"/>
                </a:solidFill>
                <a:latin typeface="Arial"/>
                <a:ea typeface="Arial"/>
                <a:cs typeface="Arial"/>
              </a:defRPr>
            </a:defPPr>
          </a:lstStyle>
          <a:p xmlns:a="http://schemas.openxmlformats.org/drawingml/2006/main">
            <a:pPr algn="l">
              <a:lnSpc>
                <a:spcPct val="108000"/>
              </a:lnSpc>
              <a:buNone/>
              <a:defRPr sz="2850" b="1">
                <a:solidFill>
                  <a:srgbClr val="F6F1E8"/>
                </a:solidFill>
                <a:latin typeface="Arial"/>
                <a:ea typeface="Arial"/>
                <a:cs typeface="Arial"/>
              </a:defRPr>
            </a:pPr>
            <a:r>
              <a:rPr sz="2850" b="1">
                <a:solidFill>
                  <a:srgbClr val="F6F1E8"/>
                </a:solidFill>
                <a:latin typeface="Arial"/>
                <a:ea typeface="Arial"/>
                <a:cs typeface="Arial"/>
              </a:rPr>
              <a:t>#10 Liberar el comando: implementada.</a:t>
            </a:r>
          </a:p>
        </p:txBody>
      </p:sp>
      <p:sp>
        <p:nvSpPr>
          <p:cNvPr id="3" name="contenido-2">
            <a:extLst xmlns:a="http://schemas.openxmlformats.org/drawingml/2006/main">
              <a:ext uri="{FF2B5EF4-FFF2-40B4-BE49-F238E27FC236}">
                <a16:creationId xmlns:a16="http://schemas.microsoft.com/office/drawing/2014/main" id="{FCF06C42-0D8B-40F3-93E8-E04731A43A15}"/>
              </a:ext>
            </a:extLst>
          </p:cNvPr>
          <p:cNvSpPr>
            <a:spLocks xmlns:a="http://schemas.openxmlformats.org/drawingml/2006/main" noGrp="1"/>
          </p:cNvSpPr>
          <p:nvPr/>
        </p:nvSpPr>
        <p:spPr>
          <a:xfrm xmlns:a="http://schemas.openxmlformats.org/drawingml/2006/main">
            <a:off x="609600" y="2815590"/>
            <a:ext cx="10972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6F1E8"/>
                </a:solidFill>
                <a:latin typeface="Arial"/>
                <a:ea typeface="Arial"/>
                <a:cs typeface="Arial"/>
              </a:defRPr>
            </a:defPPr>
          </a:lstStyle>
          <a:p xmlns:a="http://schemas.openxmlformats.org/drawingml/2006/main">
            <a:pPr algn="l">
              <a:lnSpc>
                <a:spcPct val="108000"/>
              </a:lnSpc>
              <a:buNone/>
              <a:defRPr sz="2850" b="0">
                <a:solidFill>
                  <a:srgbClr val="F6F1E8"/>
                </a:solidFill>
                <a:latin typeface="Arial"/>
                <a:ea typeface="Arial"/>
                <a:cs typeface="Arial"/>
              </a:defRPr>
            </a:pPr>
            <a:r>
              <a:rPr sz="2850" b="0">
                <a:solidFill>
                  <a:srgbClr val="F6F1E8"/>
                </a:solidFill>
                <a:latin typeface="Arial"/>
                <a:ea typeface="Arial"/>
                <a:cs typeface="Arial"/>
              </a:rPr>
              <a:t>#11 Validar nulos: propuesta pendiente.</a:t>
            </a:r>
          </a:p>
        </p:txBody>
      </p:sp>
      <p:sp>
        <p:nvSpPr>
          <p:cNvPr id="4" name="contenido-3">
            <a:extLst xmlns:a="http://schemas.openxmlformats.org/drawingml/2006/main">
              <a:ext uri="{FF2B5EF4-FFF2-40B4-BE49-F238E27FC236}">
                <a16:creationId xmlns:a16="http://schemas.microsoft.com/office/drawing/2014/main" id="{050474A4-E59C-4C1A-A4C8-7DAC9CCEA953}"/>
              </a:ext>
            </a:extLst>
          </p:cNvPr>
          <p:cNvSpPr>
            <a:spLocks xmlns:a="http://schemas.openxmlformats.org/drawingml/2006/main" noGrp="1"/>
          </p:cNvSpPr>
          <p:nvPr/>
        </p:nvSpPr>
        <p:spPr>
          <a:xfrm xmlns:a="http://schemas.openxmlformats.org/drawingml/2006/main">
            <a:off x="609600" y="3583305"/>
            <a:ext cx="10972800" cy="4819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F6F1E8"/>
                </a:solidFill>
                <a:latin typeface="Arial"/>
                <a:ea typeface="Arial"/>
                <a:cs typeface="Arial"/>
              </a:defRPr>
            </a:defPPr>
          </a:lstStyle>
          <a:p xmlns:a="http://schemas.openxmlformats.org/drawingml/2006/main">
            <a:pPr algn="l">
              <a:lnSpc>
                <a:spcPct val="108000"/>
              </a:lnSpc>
              <a:buNone/>
              <a:defRPr sz="2850" b="0">
                <a:solidFill>
                  <a:srgbClr val="F6F1E8"/>
                </a:solidFill>
                <a:latin typeface="Arial"/>
                <a:ea typeface="Arial"/>
                <a:cs typeface="Arial"/>
              </a:defRPr>
            </a:pPr>
            <a:r>
              <a:rPr sz="2850" b="0">
                <a:solidFill>
                  <a:srgbClr val="F6F1E8"/>
                </a:solidFill>
                <a:latin typeface="Arial"/>
                <a:ea typeface="Arial"/>
                <a:cs typeface="Arial"/>
              </a:rPr>
              <a:t>#12 Configurar espera: propuesta pendiente.</a:t>
            </a:r>
          </a:p>
        </p:txBody>
      </p:sp>
      <p:sp>
        <p:nvSpPr>
          <p:cNvPr id="5" name="pie-16">
            <a:extLst xmlns:a="http://schemas.openxmlformats.org/drawingml/2006/main">
              <a:ext uri="{FF2B5EF4-FFF2-40B4-BE49-F238E27FC236}">
                <a16:creationId xmlns:a16="http://schemas.microsoft.com/office/drawing/2014/main" id="{670C5BF3-9145-434D-8692-56F0E08CDAA5}"/>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16</a:t>
            </a:r>
          </a:p>
        </p:txBody>
      </p:sp>
    </p:spTree>
    <p:extLst>
      <p:ext uri="{BB962C8B-B14F-4D97-AF65-F5344CB8AC3E}">
        <p14:creationId xmlns:p14="http://schemas.microsoft.com/office/powerpoint/2010/main" val="1137411304"/>
      </p:ext>
    </p:extLst>
  </p:cSld>
</p:sld>
</file>

<file path=ppt/slides/slide17.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4" name="titulo-17">
            <a:extLst xmlns:a="http://schemas.openxmlformats.org/drawingml/2006/main">
              <a:ext uri="{FF2B5EF4-FFF2-40B4-BE49-F238E27FC236}">
                <a16:creationId xmlns:a16="http://schemas.microsoft.com/office/drawing/2014/main" id="{A1B4850E-6B57-4AB7-AD6A-C288F5644B34}"/>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Matriz de impacto</a:t>
            </a:r>
          </a:p>
        </p:txBody>
      </p:sp>
      <p:graphicFrame>
        <p:nvGraphicFramePr>
          <p:cNvPr id="2" name="">
            <a:extLst xmlns:a="http://schemas.openxmlformats.org/drawingml/2006/main">
              <a:ext uri="{FF2B5EF4-FFF2-40B4-BE49-F238E27FC236}">
                <a16:creationId xmlns:a16="http://schemas.microsoft.com/office/drawing/2014/main" id="{50766738-E5E6-458D-A7AD-42EE5FF83E40}"/>
              </a:ext>
            </a:extLst>
          </p:cNvPr>
          <p:cNvGraphicFramePr/>
          <p:nvPr/>
        </p:nvGraphicFramePr>
        <p:xfrm>
          <a:off xmlns:a="http://schemas.openxmlformats.org/drawingml/2006/main" x="609600" y="1952625"/>
          <a:ext xmlns:a="http://schemas.openxmlformats.org/drawingml/2006/main" cx="10972800" cy="3143250"/>
        </p:xfrm>
        <a:graphic xmlns:a="http://schemas.openxmlformats.org/drawingml/2006/main">
          <a:graphicData uri="http://schemas.openxmlformats.org/drawingml/2006/table">
            <a:tbl>
              <a:tblPr firstRow="1" bandRow="0"/>
              <a:tblGrid>
                <a:gridCol w="2476500"/>
                <a:gridCol w="3143250"/>
                <a:gridCol w="3143250"/>
                <a:gridCol w="2209800"/>
              </a:tblGrid>
              <a:tr h="785813">
                <a:tc>
                  <a:txBody>
                    <a:bodyPr>
                      <a:noAutofit/>
                    </a:bodyPr>
                    <a:lstStyle/>
                    <a:p>
                      <a:r>
                        <a:rPr sz="2100" b="1">
                          <a:solidFill>
                            <a:srgbClr val="F6F1E8"/>
                          </a:solidFill>
                          <a:latin typeface="Arial"/>
                          <a:ea typeface="Arial"/>
                          <a:cs typeface="Arial"/>
                        </a:rPr>
                        <a:t>Solicitud</a:t>
                      </a:r>
                    </a:p>
                  </a:txBody>
                  <a:tcPr marL="133350" marR="133350" marT="76200" marB="76200" anchor="ctr">
                    <a:lnL w="7620">
                      <a:solidFill>
                        <a:srgbClr val="C9C4BA"/>
                      </a:solidFill>
                      <a:prstDash val="solid"/>
                    </a:lnL>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100" b="1">
                          <a:solidFill>
                            <a:srgbClr val="F6F1E8"/>
                          </a:solidFill>
                          <a:latin typeface="Arial"/>
                          <a:ea typeface="Arial"/>
                          <a:cs typeface="Arial"/>
                        </a:rPr>
                        <a:t>Qué afecta</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100" b="1">
                          <a:solidFill>
                            <a:srgbClr val="F6F1E8"/>
                          </a:solidFill>
                          <a:latin typeface="Arial"/>
                          <a:ea typeface="Arial"/>
                          <a:cs typeface="Arial"/>
                        </a:rPr>
                        <a:t>Riesgo principal</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100" b="1">
                          <a:solidFill>
                            <a:srgbClr val="F6F1E8"/>
                          </a:solidFill>
                          <a:latin typeface="Arial"/>
                          <a:ea typeface="Arial"/>
                          <a:cs typeface="Arial"/>
                        </a:rPr>
                        <a:t>Decisión</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r>
              <a:tr h="785813">
                <a:tc>
                  <a:txBody>
                    <a:bodyPr>
                      <a:noAutofit/>
                    </a:bodyPr>
                    <a:lstStyle/>
                    <a:p>
                      <a:r>
                        <a:rPr sz="2100" b="0">
                          <a:solidFill>
                            <a:srgbClr val="11233E"/>
                          </a:solidFill>
                          <a:latin typeface="Arial"/>
                          <a:ea typeface="Arial"/>
                          <a:cs typeface="Arial"/>
                        </a:rPr>
                        <a:t>001 · Correctiva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Ciclo del comando</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Uso posterior</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Implementada</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785813">
                <a:tc>
                  <a:txBody>
                    <a:bodyPr>
                      <a:noAutofit/>
                    </a:bodyPr>
                    <a:lstStyle/>
                    <a:p>
                      <a:r>
                        <a:rPr sz="2100" b="0">
                          <a:solidFill>
                            <a:srgbClr val="11233E"/>
                          </a:solidFill>
                          <a:latin typeface="Arial"/>
                          <a:ea typeface="Arial"/>
                          <a:cs typeface="Arial"/>
                        </a:rPr>
                        <a:t>002 · Preventiva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Entradas y errores</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Contrato de error</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Pendiente</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785813">
                <a:tc>
                  <a:txBody>
                    <a:bodyPr>
                      <a:noAutofit/>
                    </a:bodyPr>
                    <a:lstStyle/>
                    <a:p>
                      <a:r>
                        <a:rPr sz="2100" b="0">
                          <a:solidFill>
                            <a:srgbClr val="11233E"/>
                          </a:solidFill>
                          <a:latin typeface="Arial"/>
                          <a:ea typeface="Arial"/>
                          <a:cs typeface="Arial"/>
                        </a:rPr>
                        <a:t>003 · Perfectiva</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Tiempo de espera</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Límites y espera</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c>
                  <a:txBody>
                    <a:bodyPr>
                      <a:noAutofit/>
                    </a:bodyPr>
                    <a:lstStyle/>
                    <a:p>
                      <a:r>
                        <a:rPr sz="2100" b="0">
                          <a:solidFill>
                            <a:srgbClr val="11233E"/>
                          </a:solidFill>
                          <a:latin typeface="Arial"/>
                          <a:ea typeface="Arial"/>
                          <a:cs typeface="Arial"/>
                        </a:rPr>
                        <a:t>Pendiente</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bl>
          </a:graphicData>
        </a:graphic>
      </p:graphicFrame>
      <p:sp>
        <p:nvSpPr>
          <p:cNvPr id="3" name="pie-17">
            <a:extLst xmlns:a="http://schemas.openxmlformats.org/drawingml/2006/main">
              <a:ext uri="{FF2B5EF4-FFF2-40B4-BE49-F238E27FC236}">
                <a16:creationId xmlns:a16="http://schemas.microsoft.com/office/drawing/2014/main" id="{A870D25F-84C3-45A0-B1BA-F3F298A7C5E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17</a:t>
            </a:r>
          </a:p>
        </p:txBody>
      </p:sp>
    </p:spTree>
    <p:extLst>
      <p:ext uri="{BB962C8B-B14F-4D97-AF65-F5344CB8AC3E}">
        <p14:creationId xmlns:p14="http://schemas.microsoft.com/office/powerpoint/2010/main" val="918171853"/>
      </p:ext>
    </p:extLst>
  </p:cSld>
</p:sld>
</file>

<file path=ppt/slides/slide18.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18">
            <a:extLst xmlns:a="http://schemas.openxmlformats.org/drawingml/2006/main">
              <a:ext uri="{FF2B5EF4-FFF2-40B4-BE49-F238E27FC236}">
                <a16:creationId xmlns:a16="http://schemas.microsoft.com/office/drawing/2014/main" id="{54D3651F-31EC-4799-AEEF-E1D428058A3F}"/>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Solicitud CAM-S09-001</a:t>
            </a:r>
          </a:p>
        </p:txBody>
      </p:sp>
      <p:sp>
        <p:nvSpPr>
          <p:cNvPr id="2" name="contenido-1">
            <a:extLst xmlns:a="http://schemas.openxmlformats.org/drawingml/2006/main">
              <a:ext uri="{FF2B5EF4-FFF2-40B4-BE49-F238E27FC236}">
                <a16:creationId xmlns:a16="http://schemas.microsoft.com/office/drawing/2014/main" id="{4BFC3633-9909-49A8-8D73-E158FA930AD9}"/>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Problema: comando sin liberación delimitada.</a:t>
            </a:r>
          </a:p>
        </p:txBody>
      </p:sp>
      <p:sp>
        <p:nvSpPr>
          <p:cNvPr id="3" name="contenido-2">
            <a:extLst xmlns:a="http://schemas.openxmlformats.org/drawingml/2006/main">
              <a:ext uri="{FF2B5EF4-FFF2-40B4-BE49-F238E27FC236}">
                <a16:creationId xmlns:a16="http://schemas.microsoft.com/office/drawing/2014/main" id="{02516F09-4DB0-4E4D-994C-0D75200E2E37}"/>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Alcance: Generar síncrono.</a:t>
            </a:r>
          </a:p>
        </p:txBody>
      </p:sp>
      <p:sp>
        <p:nvSpPr>
          <p:cNvPr id="4" name="contenido-3">
            <a:extLst xmlns:a="http://schemas.openxmlformats.org/drawingml/2006/main">
              <a:ext uri="{FF2B5EF4-FFF2-40B4-BE49-F238E27FC236}">
                <a16:creationId xmlns:a16="http://schemas.microsoft.com/office/drawing/2014/main" id="{5B7FE805-30C8-4914-A52E-72BB32AA62C4}"/>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Aceptación: liberar tras éxito y error.</a:t>
            </a:r>
          </a:p>
        </p:txBody>
      </p:sp>
      <p:sp>
        <p:nvSpPr>
          <p:cNvPr id="5" name="contenido-4">
            <a:extLst xmlns:a="http://schemas.openxmlformats.org/drawingml/2006/main">
              <a:ext uri="{FF2B5EF4-FFF2-40B4-BE49-F238E27FC236}">
                <a16:creationId xmlns:a16="http://schemas.microsoft.com/office/drawing/2014/main" id="{50C7CD74-1C9E-4EF3-884A-2C3FBBE993BE}"/>
              </a:ext>
            </a:extLst>
          </p:cNvPr>
          <p:cNvSpPr>
            <a:spLocks xmlns:a="http://schemas.openxmlformats.org/drawingml/2006/main" noGrp="1"/>
          </p:cNvSpPr>
          <p:nvPr/>
        </p:nvSpPr>
        <p:spPr>
          <a:xfrm xmlns:a="http://schemas.openxmlformats.org/drawingml/2006/main">
            <a:off x="609600" y="421386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Conservar: DataSet, excepción y Preparar.</a:t>
            </a:r>
          </a:p>
        </p:txBody>
      </p:sp>
      <p:sp>
        <p:nvSpPr>
          <p:cNvPr id="6" name="pie-18">
            <a:extLst xmlns:a="http://schemas.openxmlformats.org/drawingml/2006/main">
              <a:ext uri="{FF2B5EF4-FFF2-40B4-BE49-F238E27FC236}">
                <a16:creationId xmlns:a16="http://schemas.microsoft.com/office/drawing/2014/main" id="{2DBFB145-00AD-4AFD-A7A7-24E92CBC6474}"/>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18</a:t>
            </a:r>
          </a:p>
        </p:txBody>
      </p:sp>
    </p:spTree>
    <p:extLst>
      <p:ext uri="{BB962C8B-B14F-4D97-AF65-F5344CB8AC3E}">
        <p14:creationId xmlns:p14="http://schemas.microsoft.com/office/powerpoint/2010/main" val="380444359"/>
      </p:ext>
    </p:extLst>
  </p:cSld>
</p:sld>
</file>

<file path=ppt/slides/slide1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19">
            <a:extLst xmlns:a="http://schemas.openxmlformats.org/drawingml/2006/main">
              <a:ext uri="{FF2B5EF4-FFF2-40B4-BE49-F238E27FC236}">
                <a16:creationId xmlns:a16="http://schemas.microsoft.com/office/drawing/2014/main" id="{1971130D-57D6-4766-8A74-B3F77572790C}"/>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Antes y después de Generar</a:t>
            </a:r>
          </a:p>
        </p:txBody>
      </p:sp>
      <p:sp>
        <p:nvSpPr>
          <p:cNvPr id="2" name="antes-etiqueta">
            <a:extLst xmlns:a="http://schemas.openxmlformats.org/drawingml/2006/main">
              <a:ext uri="{FF2B5EF4-FFF2-40B4-BE49-F238E27FC236}">
                <a16:creationId xmlns:a16="http://schemas.microsoft.com/office/drawing/2014/main" id="{50B00A11-68FA-4B09-82B6-6BA8C396FBD8}"/>
              </a:ext>
            </a:extLst>
          </p:cNvPr>
          <p:cNvSpPr>
            <a:spLocks xmlns:a="http://schemas.openxmlformats.org/drawingml/2006/main" noGrp="1"/>
          </p:cNvSpPr>
          <p:nvPr/>
        </p:nvSpPr>
        <p:spPr>
          <a:xfrm xmlns:a="http://schemas.openxmlformats.org/drawingml/2006/main">
            <a:off x="609600" y="1857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456A6"/>
                </a:solidFill>
                <a:latin typeface="Arial"/>
                <a:ea typeface="Arial"/>
                <a:cs typeface="Arial"/>
              </a:defRPr>
            </a:defPPr>
          </a:lstStyle>
          <a:p xmlns:a="http://schemas.openxmlformats.org/drawingml/2006/main">
            <a:pPr algn="l">
              <a:lnSpc>
                <a:spcPct val="108000"/>
              </a:lnSpc>
              <a:buNone/>
              <a:defRPr sz="2400" b="1">
                <a:solidFill>
                  <a:srgbClr val="2456A6"/>
                </a:solidFill>
                <a:latin typeface="Arial"/>
                <a:ea typeface="Arial"/>
                <a:cs typeface="Arial"/>
              </a:defRPr>
            </a:pPr>
            <a:r>
              <a:rPr sz="2400" b="1">
                <a:solidFill>
                  <a:srgbClr val="2456A6"/>
                </a:solidFill>
                <a:latin typeface="Arial"/>
                <a:ea typeface="Arial"/>
                <a:cs typeface="Arial"/>
              </a:rPr>
              <a:t>v4 · Antes</a:t>
            </a:r>
          </a:p>
        </p:txBody>
      </p:sp>
      <p:sp>
        <p:nvSpPr>
          <p:cNvPr id="3" name="despues-etiqueta">
            <a:extLst xmlns:a="http://schemas.openxmlformats.org/drawingml/2006/main">
              <a:ext uri="{FF2B5EF4-FFF2-40B4-BE49-F238E27FC236}">
                <a16:creationId xmlns:a16="http://schemas.microsoft.com/office/drawing/2014/main" id="{94D037C4-151C-4926-82BD-F91D15DCD259}"/>
              </a:ext>
            </a:extLst>
          </p:cNvPr>
          <p:cNvSpPr>
            <a:spLocks xmlns:a="http://schemas.openxmlformats.org/drawingml/2006/main" noGrp="1"/>
          </p:cNvSpPr>
          <p:nvPr/>
        </p:nvSpPr>
        <p:spPr>
          <a:xfrm xmlns:a="http://schemas.openxmlformats.org/drawingml/2006/main">
            <a:off x="6324600" y="1857375"/>
            <a:ext cx="5257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456A6"/>
                </a:solidFill>
                <a:latin typeface="Arial"/>
                <a:ea typeface="Arial"/>
                <a:cs typeface="Arial"/>
              </a:defRPr>
            </a:defPPr>
          </a:lstStyle>
          <a:p xmlns:a="http://schemas.openxmlformats.org/drawingml/2006/main">
            <a:pPr algn="l">
              <a:lnSpc>
                <a:spcPct val="108000"/>
              </a:lnSpc>
              <a:buNone/>
              <a:defRPr sz="2400" b="1">
                <a:solidFill>
                  <a:srgbClr val="2456A6"/>
                </a:solidFill>
                <a:latin typeface="Arial"/>
                <a:ea typeface="Arial"/>
                <a:cs typeface="Arial"/>
              </a:defRPr>
            </a:pPr>
            <a:r>
              <a:rPr sz="2400" b="1">
                <a:solidFill>
                  <a:srgbClr val="2456A6"/>
                </a:solidFill>
                <a:latin typeface="Arial"/>
                <a:ea typeface="Arial"/>
                <a:cs typeface="Arial"/>
              </a:rPr>
              <a:t>v5 · Después</a:t>
            </a:r>
          </a:p>
        </p:txBody>
      </p:sp>
      <p:sp>
        <p:nvSpPr>
          <p:cNvPr id="4" name="codigo-antes-editable">
            <a:extLst xmlns:a="http://schemas.openxmlformats.org/drawingml/2006/main">
              <a:ext uri="{FF2B5EF4-FFF2-40B4-BE49-F238E27FC236}">
                <a16:creationId xmlns:a16="http://schemas.microsoft.com/office/drawing/2014/main" id="{5B51FA39-5971-4E00-AD11-FF632D4F9A4C}"/>
              </a:ext>
            </a:extLst>
          </p:cNvPr>
          <p:cNvSpPr>
            <a:spLocks xmlns:a="http://schemas.openxmlformats.org/drawingml/2006/main" noGrp="1"/>
          </p:cNvSpPr>
          <p:nvPr/>
        </p:nvSpPr>
        <p:spPr>
          <a:xfrm xmlns:a="http://schemas.openxmlformats.org/drawingml/2006/main">
            <a:off x="609600" y="2571750"/>
            <a:ext cx="5143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1233E"/>
                </a:solidFill>
                <a:latin typeface="Consolas"/>
                <a:ea typeface="Consolas"/>
                <a:cs typeface="Consolas"/>
              </a:defRPr>
            </a:defPPr>
          </a:lstStyle>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return _sql.Ejecutar(</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    Preparar(reporte));</a:t>
            </a:r>
          </a:p>
        </p:txBody>
      </p:sp>
      <p:sp>
        <p:nvSpPr>
          <p:cNvPr id="5" name="codigo-despues-editable">
            <a:extLst xmlns:a="http://schemas.openxmlformats.org/drawingml/2006/main">
              <a:ext uri="{FF2B5EF4-FFF2-40B4-BE49-F238E27FC236}">
                <a16:creationId xmlns:a16="http://schemas.microsoft.com/office/drawing/2014/main" id="{76CDA32D-40F8-4D84-8AA7-E0F76DA194DD}"/>
              </a:ext>
            </a:extLst>
          </p:cNvPr>
          <p:cNvSpPr>
            <a:spLocks xmlns:a="http://schemas.openxmlformats.org/drawingml/2006/main" noGrp="1"/>
          </p:cNvSpPr>
          <p:nvPr/>
        </p:nvSpPr>
        <p:spPr>
          <a:xfrm xmlns:a="http://schemas.openxmlformats.org/drawingml/2006/main">
            <a:off x="6324600" y="2571750"/>
            <a:ext cx="52578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1233E"/>
                </a:solidFill>
                <a:latin typeface="Consolas"/>
                <a:ea typeface="Consolas"/>
                <a:cs typeface="Consolas"/>
              </a:defRPr>
            </a:defPPr>
          </a:lstStyle>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using (var comando =</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       Preparar(reporte))</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    return _sql.Ejecutar(comando);</a:t>
            </a:r>
          </a:p>
          <a:p xmlns:a="http://schemas.openxmlformats.org/drawingml/2006/main">
            <a:pPr algn="l">
              <a:lnSpc>
                <a:spcPct val="108000"/>
              </a:lnSpc>
              <a:buNone/>
              <a:defRPr sz="1875" b="0">
                <a:solidFill>
                  <a:srgbClr val="11233E"/>
                </a:solidFill>
                <a:latin typeface="Consolas"/>
                <a:ea typeface="Consolas"/>
                <a:cs typeface="Consolas"/>
              </a:defRPr>
            </a:pPr>
            <a:r>
              <a:rPr sz="1875" b="0">
                <a:solidFill>
                  <a:srgbClr val="11233E"/>
                </a:solidFill>
                <a:latin typeface="Consolas"/>
                <a:ea typeface="Consolas"/>
                <a:cs typeface="Consolas"/>
              </a:rPr>
              <a:t>}</a:t>
            </a:r>
          </a:p>
        </p:txBody>
      </p:sp>
      <p:sp>
        <p:nvSpPr>
          <p:cNvPr id="6" name="pie-19">
            <a:extLst xmlns:a="http://schemas.openxmlformats.org/drawingml/2006/main">
              <a:ext uri="{FF2B5EF4-FFF2-40B4-BE49-F238E27FC236}">
                <a16:creationId xmlns:a16="http://schemas.microsoft.com/office/drawing/2014/main" id="{A10A3342-98E1-438E-A5C7-C4363712FDBD}"/>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19</a:t>
            </a:r>
          </a:p>
        </p:txBody>
      </p:sp>
    </p:spTree>
    <p:extLst>
      <p:ext uri="{BB962C8B-B14F-4D97-AF65-F5344CB8AC3E}">
        <p14:creationId xmlns:p14="http://schemas.microsoft.com/office/powerpoint/2010/main" val="289929314"/>
      </p:ext>
    </p:extLst>
  </p:cSld>
</p:sld>
</file>

<file path=ppt/slides/slide20.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4" name="titulo-20">
            <a:extLst xmlns:a="http://schemas.openxmlformats.org/drawingml/2006/main">
              <a:ext uri="{FF2B5EF4-FFF2-40B4-BE49-F238E27FC236}">
                <a16:creationId xmlns:a16="http://schemas.microsoft.com/office/drawing/2014/main" id="{5A030606-1D3C-44F2-A135-CCCCA3B43783}"/>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Propiedad del comando</a:t>
            </a:r>
          </a:p>
        </p:txBody>
      </p:sp>
      <p:graphicFrame>
        <p:nvGraphicFramePr>
          <p:cNvPr id="2" name="">
            <a:extLst xmlns:a="http://schemas.openxmlformats.org/drawingml/2006/main">
              <a:ext uri="{FF2B5EF4-FFF2-40B4-BE49-F238E27FC236}">
                <a16:creationId xmlns:a16="http://schemas.microsoft.com/office/drawing/2014/main" id="{0E34BE93-2EDB-4692-9BAA-4C731863EB5C}"/>
              </a:ext>
            </a:extLst>
          </p:cNvPr>
          <p:cNvGraphicFramePr/>
          <p:nvPr/>
        </p:nvGraphicFramePr>
        <p:xfrm>
          <a:off xmlns:a="http://schemas.openxmlformats.org/drawingml/2006/main" x="609600" y="1952625"/>
          <a:ext xmlns:a="http://schemas.openxmlformats.org/drawingml/2006/main" cx="10972800" cy="3143250"/>
        </p:xfrm>
        <a:graphic xmlns:a="http://schemas.openxmlformats.org/drawingml/2006/main">
          <a:graphicData uri="http://schemas.openxmlformats.org/drawingml/2006/table">
            <a:tbl>
              <a:tblPr firstRow="1" bandRow="0"/>
              <a:tblGrid>
                <a:gridCol w="2762250"/>
                <a:gridCol w="4095750"/>
                <a:gridCol w="4114800"/>
              </a:tblGrid>
              <a:tr h="785813">
                <a:tc>
                  <a:txBody>
                    <a:bodyPr>
                      <a:noAutofit/>
                    </a:bodyPr>
                    <a:lstStyle/>
                    <a:p>
                      <a:r>
                        <a:rPr sz="2100" b="1">
                          <a:solidFill>
                            <a:srgbClr val="11233E"/>
                          </a:solidFill>
                          <a:latin typeface="Arial"/>
                          <a:ea typeface="Arial"/>
                          <a:cs typeface="Arial"/>
                        </a:rPr>
                        <a:t>Ruta</a:t>
                      </a:r>
                    </a:p>
                  </a:txBody>
                  <a:tcPr marL="133350" marR="133350" marT="76200" marB="76200" anchor="ctr">
                    <a:lnL w="7620">
                      <a:solidFill>
                        <a:srgbClr val="526079"/>
                      </a:solidFill>
                      <a:prstDash val="solid"/>
                    </a:lnL>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100" b="1">
                          <a:solidFill>
                            <a:srgbClr val="11233E"/>
                          </a:solidFill>
                          <a:latin typeface="Arial"/>
                          <a:ea typeface="Arial"/>
                          <a:cs typeface="Arial"/>
                        </a:rPr>
                        <a:t>Durante el uso</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100" b="1">
                          <a:solidFill>
                            <a:srgbClr val="11233E"/>
                          </a:solidFill>
                          <a:latin typeface="Arial"/>
                          <a:ea typeface="Arial"/>
                          <a:cs typeface="Arial"/>
                        </a:rPr>
                        <a:t>Al terminar</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r>
              <a:tr h="785813">
                <a:tc>
                  <a:txBody>
                    <a:bodyPr>
                      <a:noAutofit/>
                    </a:bodyPr>
                    <a:lstStyle/>
                    <a:p>
                      <a:r>
                        <a:rPr sz="2100" b="0">
                          <a:solidFill>
                            <a:srgbClr val="F6F1E8"/>
                          </a:solidFill>
                          <a:latin typeface="Arial"/>
                          <a:ea typeface="Arial"/>
                          <a:cs typeface="Arial"/>
                        </a:rPr>
                        <a:t>Generar con éxito</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Comando disponible</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Generar llama Dispose</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785813">
                <a:tc>
                  <a:txBody>
                    <a:bodyPr>
                      <a:noAutofit/>
                    </a:bodyPr>
                    <a:lstStyle/>
                    <a:p>
                      <a:r>
                        <a:rPr sz="2100" b="0">
                          <a:solidFill>
                            <a:srgbClr val="F6F1E8"/>
                          </a:solidFill>
                          <a:latin typeface="Arial"/>
                          <a:ea typeface="Arial"/>
                          <a:cs typeface="Arial"/>
                        </a:rPr>
                        <a:t>Generar con error</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Ejecutor recibe comando</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Generar llama Dispose</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785813">
                <a:tc>
                  <a:txBody>
                    <a:bodyPr>
                      <a:noAutofit/>
                    </a:bodyPr>
                    <a:lstStyle/>
                    <a:p>
                      <a:r>
                        <a:rPr sz="2100" b="0">
                          <a:solidFill>
                            <a:srgbClr val="F6F1E8"/>
                          </a:solidFill>
                          <a:latin typeface="Arial"/>
                          <a:ea typeface="Arial"/>
                          <a:cs typeface="Arial"/>
                        </a:rPr>
                        <a:t>Preparar directo</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Llamador recibe comando</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c>
                  <a:txBody>
                    <a:bodyPr>
                      <a:noAutofit/>
                    </a:bodyPr>
                    <a:lstStyle/>
                    <a:p>
                      <a:r>
                        <a:rPr sz="2100" b="0">
                          <a:solidFill>
                            <a:srgbClr val="F6F1E8"/>
                          </a:solidFill>
                          <a:latin typeface="Arial"/>
                          <a:ea typeface="Arial"/>
                          <a:cs typeface="Arial"/>
                        </a:rPr>
                        <a:t>Llamador libera</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bl>
          </a:graphicData>
        </a:graphic>
      </p:graphicFrame>
      <p:sp>
        <p:nvSpPr>
          <p:cNvPr id="3" name="pie-20">
            <a:extLst xmlns:a="http://schemas.openxmlformats.org/drawingml/2006/main">
              <a:ext uri="{FF2B5EF4-FFF2-40B4-BE49-F238E27FC236}">
                <a16:creationId xmlns:a16="http://schemas.microsoft.com/office/drawing/2014/main" id="{6ED96CDC-9CDE-4308-B0C0-DC1A2F61C4D3}"/>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20</a:t>
            </a:r>
          </a:p>
        </p:txBody>
      </p:sp>
    </p:spTree>
    <p:extLst>
      <p:ext uri="{BB962C8B-B14F-4D97-AF65-F5344CB8AC3E}">
        <p14:creationId xmlns:p14="http://schemas.microsoft.com/office/powerpoint/2010/main" val="886462822"/>
      </p:ext>
    </p:extLst>
  </p:cSld>
</p:sld>
</file>

<file path=ppt/slides/slide2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21">
            <a:extLst xmlns:a="http://schemas.openxmlformats.org/drawingml/2006/main">
              <a:ext uri="{FF2B5EF4-FFF2-40B4-BE49-F238E27FC236}">
                <a16:creationId xmlns:a16="http://schemas.microsoft.com/office/drawing/2014/main" id="{C49A6C14-7E34-4362-895A-DEC2040C739D}"/>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Primero, una prueba que falla</a:t>
            </a:r>
          </a:p>
        </p:txBody>
      </p:sp>
      <p:graphicFrame>
        <p:nvGraphicFramePr>
          <p:cNvPr id="2" name="">
            <a:extLst xmlns:a="http://schemas.openxmlformats.org/drawingml/2006/main">
              <a:ext uri="{FF2B5EF4-FFF2-40B4-BE49-F238E27FC236}">
                <a16:creationId xmlns:a16="http://schemas.microsoft.com/office/drawing/2014/main" id="{A0F76056-E790-43ED-9E60-1101775E1161}"/>
              </a:ext>
            </a:extLst>
          </p:cNvPr>
          <p:cNvGraphicFramePr/>
          <p:nvPr/>
        </p:nvGraphicFramePr>
        <p:xfrm>
          <a:off xmlns:a="http://schemas.openxmlformats.org/drawingml/2006/main" x="609600" y="1905000"/>
          <a:ext xmlns:a="http://schemas.openxmlformats.org/drawingml/2006/main" cx="10972800" cy="2143125"/>
        </p:xfrm>
        <a:graphic xmlns:a="http://schemas.openxmlformats.org/drawingml/2006/main">
          <a:graphicData uri="http://schemas.openxmlformats.org/drawingml/2006/table">
            <a:tbl>
              <a:tblPr firstRow="1" bandRow="0"/>
              <a:tblGrid>
                <a:gridCol w="7448550"/>
                <a:gridCol w="3524250"/>
              </a:tblGrid>
              <a:tr h="714375">
                <a:tc>
                  <a:txBody>
                    <a:bodyPr>
                      <a:noAutofit/>
                    </a:bodyPr>
                    <a:lstStyle/>
                    <a:p>
                      <a:r>
                        <a:rPr sz="2400" b="1">
                          <a:solidFill>
                            <a:srgbClr val="F6F1E8"/>
                          </a:solidFill>
                          <a:latin typeface="Arial"/>
                          <a:ea typeface="Arial"/>
                          <a:cs typeface="Arial"/>
                        </a:rPr>
                        <a:t>Comprobación</a:t>
                      </a:r>
                    </a:p>
                  </a:txBody>
                  <a:tcPr marL="133350" marR="133350" marT="76200" marB="76200" anchor="ctr">
                    <a:lnL w="7620">
                      <a:solidFill>
                        <a:srgbClr val="C9C4BA"/>
                      </a:solidFill>
                      <a:prstDash val="solid"/>
                    </a:lnL>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c>
                  <a:txBody>
                    <a:bodyPr>
                      <a:noAutofit/>
                    </a:bodyPr>
                    <a:lstStyle/>
                    <a:p>
                      <a:r>
                        <a:rPr sz="2400" b="1">
                          <a:solidFill>
                            <a:srgbClr val="F6F1E8"/>
                          </a:solidFill>
                          <a:latin typeface="Arial"/>
                          <a:ea typeface="Arial"/>
                          <a:cs typeface="Arial"/>
                        </a:rPr>
                        <a:t>Resultado</a:t>
                      </a:r>
                    </a:p>
                  </a:txBody>
                  <a:tcPr marL="133350" marR="133350" marT="76200" marB="76200" anchor="ctr">
                    <a:lnR w="7620">
                      <a:solidFill>
                        <a:srgbClr val="C9C4BA"/>
                      </a:solidFill>
                      <a:prstDash val="solid"/>
                    </a:lnR>
                    <a:lnT w="7620">
                      <a:solidFill>
                        <a:srgbClr val="C9C4BA"/>
                      </a:solidFill>
                      <a:prstDash val="solid"/>
                    </a:lnT>
                    <a:lnB w="7620">
                      <a:solidFill>
                        <a:srgbClr val="C9C4BA"/>
                      </a:solidFill>
                      <a:prstDash val="solid"/>
                    </a:lnB>
                    <a:solidFill>
                      <a:srgbClr val="11233E"/>
                    </a:solidFill>
                  </a:tcPr>
                </a:tc>
              </a:tr>
              <a:tr h="714375">
                <a:tc>
                  <a:txBody>
                    <a:bodyPr>
                      <a:noAutofit/>
                    </a:bodyPr>
                    <a:lstStyle/>
                    <a:p>
                      <a:r>
                        <a:rPr sz="2400" b="0">
                          <a:solidFill>
                            <a:srgbClr val="11233E"/>
                          </a:solidFill>
                          <a:latin typeface="Arial"/>
                          <a:ea typeface="Arial"/>
                          <a:cs typeface="Arial"/>
                        </a:rPr>
                        <a:t>v4: dos fallos esperados</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550" b="1">
                          <a:solidFill>
                            <a:srgbClr val="A03C2D"/>
                          </a:solidFill>
                          <a:latin typeface="Arial"/>
                          <a:ea typeface="Arial"/>
                          <a:cs typeface="Arial"/>
                        </a:rPr>
                        <a:t>4/6</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r h="714375">
                <a:tc>
                  <a:txBody>
                    <a:bodyPr>
                      <a:noAutofit/>
                    </a:bodyPr>
                    <a:lstStyle/>
                    <a:p>
                      <a:r>
                        <a:rPr sz="2400" b="0">
                          <a:solidFill>
                            <a:srgbClr val="11233E"/>
                          </a:solidFill>
                          <a:latin typeface="Arial"/>
                          <a:ea typeface="Arial"/>
                          <a:cs typeface="Arial"/>
                        </a:rPr>
                        <a:t>faltas de liberación observadas</a:t>
                      </a:r>
                    </a:p>
                  </a:txBody>
                  <a:tcPr marL="133350" marR="133350" marT="76200" marB="76200" anchor="ctr">
                    <a:lnL w="7620">
                      <a:solidFill>
                        <a:srgbClr val="C9C4BA"/>
                      </a:solidFill>
                      <a:prstDash val="solid"/>
                    </a:lnL>
                    <a:lnR w="7620">
                      <a:solidFill>
                        <a:srgbClr val="C9C4BA"/>
                      </a:solidFill>
                      <a:prstDash val="solid"/>
                    </a:lnR>
                    <a:lnB w="7620">
                      <a:solidFill>
                        <a:srgbClr val="C9C4BA"/>
                      </a:solidFill>
                      <a:prstDash val="solid"/>
                    </a:lnB>
                    <a:solidFill>
                      <a:srgbClr val="F6F1E8"/>
                    </a:solidFill>
                  </a:tcPr>
                </a:tc>
                <a:tc>
                  <a:txBody>
                    <a:bodyPr>
                      <a:noAutofit/>
                    </a:bodyPr>
                    <a:lstStyle/>
                    <a:p>
                      <a:r>
                        <a:rPr sz="2550" b="1">
                          <a:solidFill>
                            <a:srgbClr val="A03C2D"/>
                          </a:solidFill>
                          <a:latin typeface="Arial"/>
                          <a:ea typeface="Arial"/>
                          <a:cs typeface="Arial"/>
                        </a:rPr>
                        <a:t>2</a:t>
                      </a:r>
                    </a:p>
                  </a:txBody>
                  <a:tcPr marL="133350" marR="133350" marT="76200" marB="76200" anchor="ctr">
                    <a:lnR w="7620">
                      <a:solidFill>
                        <a:srgbClr val="C9C4BA"/>
                      </a:solidFill>
                      <a:prstDash val="solid"/>
                    </a:lnR>
                    <a:lnB w="7620">
                      <a:solidFill>
                        <a:srgbClr val="C9C4BA"/>
                      </a:solidFill>
                      <a:prstDash val="solid"/>
                    </a:lnB>
                    <a:solidFill>
                      <a:srgbClr val="F6F1E8"/>
                    </a:solidFill>
                  </a:tcPr>
                </a:tc>
              </a:tr>
            </a:tbl>
          </a:graphicData>
        </a:graphic>
      </p:graphicFrame>
      <p:sp>
        <p:nvSpPr>
          <p:cNvPr id="3" name="contenido-1">
            <a:extLst xmlns:a="http://schemas.openxmlformats.org/drawingml/2006/main">
              <a:ext uri="{FF2B5EF4-FFF2-40B4-BE49-F238E27FC236}">
                <a16:creationId xmlns:a16="http://schemas.microsoft.com/office/drawing/2014/main" id="{7A64A8DC-11E5-4A1C-8C25-CCB319C6B999}"/>
              </a:ext>
            </a:extLst>
          </p:cNvPr>
          <p:cNvSpPr>
            <a:spLocks xmlns:a="http://schemas.openxmlformats.org/drawingml/2006/main" noGrp="1"/>
          </p:cNvSpPr>
          <p:nvPr/>
        </p:nvSpPr>
        <p:spPr>
          <a:xfrm xmlns:a="http://schemas.openxmlformats.org/drawingml/2006/main">
            <a:off x="609600" y="42767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56A6"/>
                </a:solidFill>
                <a:latin typeface="Arial"/>
                <a:ea typeface="Arial"/>
                <a:cs typeface="Arial"/>
              </a:defRPr>
            </a:defPPr>
          </a:lstStyle>
          <a:p xmlns:a="http://schemas.openxmlformats.org/drawingml/2006/main">
            <a:pPr algn="l">
              <a:lnSpc>
                <a:spcPct val="108000"/>
              </a:lnSpc>
              <a:buNone/>
              <a:defRPr sz="2250" b="0">
                <a:solidFill>
                  <a:srgbClr val="2456A6"/>
                </a:solidFill>
                <a:latin typeface="Arial"/>
                <a:ea typeface="Arial"/>
                <a:cs typeface="Arial"/>
              </a:defRPr>
            </a:pPr>
            <a:r>
              <a:rPr sz="2250" b="0">
                <a:solidFill>
                  <a:srgbClr val="2456A6"/>
                </a:solidFill>
                <a:latin typeface="Arial"/>
                <a:ea typeface="Arial"/>
                <a:cs typeface="Arial"/>
              </a:rPr>
              <a:t>Misma suite nueva contra v4.</a:t>
            </a:r>
          </a:p>
        </p:txBody>
      </p:sp>
      <p:sp>
        <p:nvSpPr>
          <p:cNvPr id="4" name="contenido-2">
            <a:extLst xmlns:a="http://schemas.openxmlformats.org/drawingml/2006/main">
              <a:ext uri="{FF2B5EF4-FFF2-40B4-BE49-F238E27FC236}">
                <a16:creationId xmlns:a16="http://schemas.microsoft.com/office/drawing/2014/main" id="{2DD2A3A2-DB72-49FA-9CA3-EA39AA86E664}"/>
              </a:ext>
            </a:extLst>
          </p:cNvPr>
          <p:cNvSpPr>
            <a:spLocks xmlns:a="http://schemas.openxmlformats.org/drawingml/2006/main" noGrp="1"/>
          </p:cNvSpPr>
          <p:nvPr/>
        </p:nvSpPr>
        <p:spPr>
          <a:xfrm xmlns:a="http://schemas.openxmlformats.org/drawingml/2006/main">
            <a:off x="609600" y="47434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56A6"/>
                </a:solidFill>
                <a:latin typeface="Arial"/>
                <a:ea typeface="Arial"/>
                <a:cs typeface="Arial"/>
              </a:defRPr>
            </a:defPPr>
          </a:lstStyle>
          <a:p xmlns:a="http://schemas.openxmlformats.org/drawingml/2006/main">
            <a:pPr algn="l">
              <a:lnSpc>
                <a:spcPct val="108000"/>
              </a:lnSpc>
              <a:buNone/>
              <a:defRPr sz="2250" b="0">
                <a:solidFill>
                  <a:srgbClr val="2456A6"/>
                </a:solidFill>
                <a:latin typeface="Arial"/>
                <a:ea typeface="Arial"/>
                <a:cs typeface="Arial"/>
              </a:defRPr>
            </a:pPr>
            <a:r>
              <a:rPr sz="2250" b="0">
                <a:solidFill>
                  <a:srgbClr val="2456A6"/>
                </a:solidFill>
                <a:latin typeface="Arial"/>
                <a:ea typeface="Arial"/>
                <a:cs typeface="Arial"/>
              </a:rPr>
              <a:t>Dos fallos esperados: liberación tras éxito y tras error.</a:t>
            </a:r>
          </a:p>
        </p:txBody>
      </p:sp>
      <p:sp>
        <p:nvSpPr>
          <p:cNvPr id="5" name="contenido-3">
            <a:extLst xmlns:a="http://schemas.openxmlformats.org/drawingml/2006/main">
              <a:ext uri="{FF2B5EF4-FFF2-40B4-BE49-F238E27FC236}">
                <a16:creationId xmlns:a16="http://schemas.microsoft.com/office/drawing/2014/main" id="{A1B0052A-8E1B-4B2B-9144-6213E38AC14F}"/>
              </a:ext>
            </a:extLst>
          </p:cNvPr>
          <p:cNvSpPr>
            <a:spLocks xmlns:a="http://schemas.openxmlformats.org/drawingml/2006/main" noGrp="1"/>
          </p:cNvSpPr>
          <p:nvPr/>
        </p:nvSpPr>
        <p:spPr>
          <a:xfrm xmlns:a="http://schemas.openxmlformats.org/drawingml/2006/main">
            <a:off x="609600" y="5210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56A6"/>
                </a:solidFill>
                <a:latin typeface="Arial"/>
                <a:ea typeface="Arial"/>
                <a:cs typeface="Arial"/>
              </a:defRPr>
            </a:defPPr>
          </a:lstStyle>
          <a:p xmlns:a="http://schemas.openxmlformats.org/drawingml/2006/main">
            <a:pPr algn="l">
              <a:lnSpc>
                <a:spcPct val="108000"/>
              </a:lnSpc>
              <a:buNone/>
              <a:defRPr sz="2250" b="0">
                <a:solidFill>
                  <a:srgbClr val="2456A6"/>
                </a:solidFill>
                <a:latin typeface="Arial"/>
                <a:ea typeface="Arial"/>
                <a:cs typeface="Arial"/>
              </a:defRPr>
            </a:pPr>
            <a:r>
              <a:rPr sz="2250" b="0">
                <a:solidFill>
                  <a:srgbClr val="2456A6"/>
                </a:solidFill>
                <a:latin typeface="Arial"/>
                <a:ea typeface="Arial"/>
                <a:cs typeface="Arial"/>
              </a:rPr>
              <a:t>La compilación termina correctamente.</a:t>
            </a:r>
          </a:p>
        </p:txBody>
      </p:sp>
      <p:sp>
        <p:nvSpPr>
          <p:cNvPr id="6" name="pie-21">
            <a:extLst xmlns:a="http://schemas.openxmlformats.org/drawingml/2006/main">
              <a:ext uri="{FF2B5EF4-FFF2-40B4-BE49-F238E27FC236}">
                <a16:creationId xmlns:a16="http://schemas.microsoft.com/office/drawing/2014/main" id="{96C0B901-7516-4812-B250-44A917F7130E}"/>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21</a:t>
            </a:r>
          </a:p>
        </p:txBody>
      </p:sp>
    </p:spTree>
    <p:extLst>
      <p:ext uri="{BB962C8B-B14F-4D97-AF65-F5344CB8AC3E}">
        <p14:creationId xmlns:p14="http://schemas.microsoft.com/office/powerpoint/2010/main" val="1583297270"/>
      </p:ext>
    </p:extLst>
  </p:cSld>
</p:sld>
</file>

<file path=ppt/slides/slide22.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22">
            <a:extLst xmlns:a="http://schemas.openxmlformats.org/drawingml/2006/main">
              <a:ext uri="{FF2B5EF4-FFF2-40B4-BE49-F238E27FC236}">
                <a16:creationId xmlns:a16="http://schemas.microsoft.com/office/drawing/2014/main" id="{FE68FB85-5970-4676-B3DA-F177EF963D29}"/>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Corrección y regresión</a:t>
            </a:r>
          </a:p>
        </p:txBody>
      </p:sp>
      <p:graphicFrame>
        <p:nvGraphicFramePr>
          <p:cNvPr id="2" name="">
            <a:extLst xmlns:a="http://schemas.openxmlformats.org/drawingml/2006/main">
              <a:ext uri="{FF2B5EF4-FFF2-40B4-BE49-F238E27FC236}">
                <a16:creationId xmlns:a16="http://schemas.microsoft.com/office/drawing/2014/main" id="{109113C3-A5A9-4CF6-9F7E-D32F3C995C83}"/>
              </a:ext>
            </a:extLst>
          </p:cNvPr>
          <p:cNvGraphicFramePr/>
          <p:nvPr/>
        </p:nvGraphicFramePr>
        <p:xfrm>
          <a:off xmlns:a="http://schemas.openxmlformats.org/drawingml/2006/main" x="609600" y="1905000"/>
          <a:ext xmlns:a="http://schemas.openxmlformats.org/drawingml/2006/main" cx="10972800" cy="2857500"/>
        </p:xfrm>
        <a:graphic xmlns:a="http://schemas.openxmlformats.org/drawingml/2006/main">
          <a:graphicData uri="http://schemas.openxmlformats.org/drawingml/2006/table">
            <a:tbl>
              <a:tblPr firstRow="1" bandRow="0"/>
              <a:tblGrid>
                <a:gridCol w="7448550"/>
                <a:gridCol w="3524250"/>
              </a:tblGrid>
              <a:tr h="714375">
                <a:tc>
                  <a:txBody>
                    <a:bodyPr>
                      <a:noAutofit/>
                    </a:bodyPr>
                    <a:lstStyle/>
                    <a:p>
                      <a:r>
                        <a:rPr sz="2400" b="1">
                          <a:solidFill>
                            <a:srgbClr val="11233E"/>
                          </a:solidFill>
                          <a:latin typeface="Arial"/>
                          <a:ea typeface="Arial"/>
                          <a:cs typeface="Arial"/>
                        </a:rPr>
                        <a:t>Comprobación</a:t>
                      </a:r>
                    </a:p>
                  </a:txBody>
                  <a:tcPr marL="133350" marR="133350" marT="76200" marB="76200" anchor="ctr">
                    <a:lnL w="7620">
                      <a:solidFill>
                        <a:srgbClr val="526079"/>
                      </a:solidFill>
                      <a:prstDash val="solid"/>
                    </a:lnL>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c>
                  <a:txBody>
                    <a:bodyPr>
                      <a:noAutofit/>
                    </a:bodyPr>
                    <a:lstStyle/>
                    <a:p>
                      <a:r>
                        <a:rPr sz="2400" b="1">
                          <a:solidFill>
                            <a:srgbClr val="11233E"/>
                          </a:solidFill>
                          <a:latin typeface="Arial"/>
                          <a:ea typeface="Arial"/>
                          <a:cs typeface="Arial"/>
                        </a:rPr>
                        <a:t>Resultado</a:t>
                      </a:r>
                    </a:p>
                  </a:txBody>
                  <a:tcPr marL="133350" marR="133350" marT="76200" marB="76200" anchor="ctr">
                    <a:lnR w="7620">
                      <a:solidFill>
                        <a:srgbClr val="526079"/>
                      </a:solidFill>
                      <a:prstDash val="solid"/>
                    </a:lnR>
                    <a:lnT w="7620">
                      <a:solidFill>
                        <a:srgbClr val="526079"/>
                      </a:solidFill>
                      <a:prstDash val="solid"/>
                    </a:lnT>
                    <a:lnB w="7620">
                      <a:solidFill>
                        <a:srgbClr val="526079"/>
                      </a:solidFill>
                      <a:prstDash val="solid"/>
                    </a:lnB>
                    <a:solidFill>
                      <a:srgbClr val="F6F1E8"/>
                    </a:solidFill>
                  </a:tcPr>
                </a:tc>
              </a:tr>
              <a:tr h="714375">
                <a:tc>
                  <a:txBody>
                    <a:bodyPr>
                      <a:noAutofit/>
                    </a:bodyPr>
                    <a:lstStyle/>
                    <a:p>
                      <a:r>
                        <a:rPr sz="2400" b="0">
                          <a:solidFill>
                            <a:srgbClr val="F6F1E8"/>
                          </a:solidFill>
                          <a:latin typeface="Arial"/>
                          <a:ea typeface="Arial"/>
                          <a:cs typeface="Arial"/>
                        </a:rPr>
                        <a:t>ciclo de vida v5</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550" b="1">
                          <a:solidFill>
                            <a:srgbClr val="9CD1B7"/>
                          </a:solidFill>
                          <a:latin typeface="Arial"/>
                          <a:ea typeface="Arial"/>
                          <a:cs typeface="Arial"/>
                        </a:rPr>
                        <a:t>6/6</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714375">
                <a:tc>
                  <a:txBody>
                    <a:bodyPr>
                      <a:noAutofit/>
                    </a:bodyPr>
                    <a:lstStyle/>
                    <a:p>
                      <a:r>
                        <a:rPr sz="2400" b="0">
                          <a:solidFill>
                            <a:srgbClr val="F6F1E8"/>
                          </a:solidFill>
                          <a:latin typeface="Arial"/>
                          <a:ea typeface="Arial"/>
                          <a:cs typeface="Arial"/>
                        </a:rPr>
                        <a:t>regresión IoC</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550" b="1">
                          <a:solidFill>
                            <a:srgbClr val="9CD1B7"/>
                          </a:solidFill>
                          <a:latin typeface="Arial"/>
                          <a:ea typeface="Arial"/>
                          <a:cs typeface="Arial"/>
                        </a:rPr>
                        <a:t>16/16</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r h="714375">
                <a:tc>
                  <a:txBody>
                    <a:bodyPr>
                      <a:noAutofit/>
                    </a:bodyPr>
                    <a:lstStyle/>
                    <a:p>
                      <a:r>
                        <a:rPr sz="2400" b="0">
                          <a:solidFill>
                            <a:srgbClr val="F6F1E8"/>
                          </a:solidFill>
                          <a:latin typeface="Arial"/>
                          <a:ea typeface="Arial"/>
                          <a:cs typeface="Arial"/>
                        </a:rPr>
                        <a:t>fuentes de biblioteca</a:t>
                      </a:r>
                    </a:p>
                  </a:txBody>
                  <a:tcPr marL="133350" marR="133350" marT="76200" marB="76200" anchor="ctr">
                    <a:lnL w="7620">
                      <a:solidFill>
                        <a:srgbClr val="526079"/>
                      </a:solidFill>
                      <a:prstDash val="solid"/>
                    </a:lnL>
                    <a:lnR w="7620">
                      <a:solidFill>
                        <a:srgbClr val="526079"/>
                      </a:solidFill>
                      <a:prstDash val="solid"/>
                    </a:lnR>
                    <a:lnB w="7620">
                      <a:solidFill>
                        <a:srgbClr val="526079"/>
                      </a:solidFill>
                      <a:prstDash val="solid"/>
                    </a:lnB>
                    <a:solidFill>
                      <a:srgbClr val="11233E"/>
                    </a:solidFill>
                  </a:tcPr>
                </a:tc>
                <a:tc>
                  <a:txBody>
                    <a:bodyPr>
                      <a:noAutofit/>
                    </a:bodyPr>
                    <a:lstStyle/>
                    <a:p>
                      <a:r>
                        <a:rPr sz="2550" b="1">
                          <a:solidFill>
                            <a:srgbClr val="9CD1B7"/>
                          </a:solidFill>
                          <a:latin typeface="Arial"/>
                          <a:ea typeface="Arial"/>
                          <a:cs typeface="Arial"/>
                        </a:rPr>
                        <a:t>22</a:t>
                      </a:r>
                    </a:p>
                  </a:txBody>
                  <a:tcPr marL="133350" marR="133350" marT="76200" marB="76200" anchor="ctr">
                    <a:lnR w="7620">
                      <a:solidFill>
                        <a:srgbClr val="526079"/>
                      </a:solidFill>
                      <a:prstDash val="solid"/>
                    </a:lnR>
                    <a:lnB w="7620">
                      <a:solidFill>
                        <a:srgbClr val="526079"/>
                      </a:solidFill>
                      <a:prstDash val="solid"/>
                    </a:lnB>
                    <a:solidFill>
                      <a:srgbClr val="11233E"/>
                    </a:solidFill>
                  </a:tcPr>
                </a:tc>
              </a:tr>
            </a:tbl>
          </a:graphicData>
        </a:graphic>
      </p:graphicFrame>
      <p:sp>
        <p:nvSpPr>
          <p:cNvPr id="3" name="contenido-1">
            <a:extLst xmlns:a="http://schemas.openxmlformats.org/drawingml/2006/main">
              <a:ext uri="{FF2B5EF4-FFF2-40B4-BE49-F238E27FC236}">
                <a16:creationId xmlns:a16="http://schemas.microsoft.com/office/drawing/2014/main" id="{E26887AF-E596-4178-ABAE-5C1FBF547F92}"/>
              </a:ext>
            </a:extLst>
          </p:cNvPr>
          <p:cNvSpPr>
            <a:spLocks xmlns:a="http://schemas.openxmlformats.org/drawingml/2006/main" noGrp="1"/>
          </p:cNvSpPr>
          <p:nvPr/>
        </p:nvSpPr>
        <p:spPr>
          <a:xfrm xmlns:a="http://schemas.openxmlformats.org/drawingml/2006/main">
            <a:off x="609600" y="499110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DDEB"/>
                </a:solidFill>
                <a:latin typeface="Arial"/>
                <a:ea typeface="Arial"/>
                <a:cs typeface="Arial"/>
              </a:defRPr>
            </a:defPPr>
          </a:lstStyle>
          <a:p xmlns:a="http://schemas.openxmlformats.org/drawingml/2006/main">
            <a:pPr algn="l">
              <a:lnSpc>
                <a:spcPct val="108000"/>
              </a:lnSpc>
              <a:buNone/>
              <a:defRPr sz="2250" b="0">
                <a:solidFill>
                  <a:srgbClr val="D4DDEB"/>
                </a:solidFill>
                <a:latin typeface="Arial"/>
                <a:ea typeface="Arial"/>
                <a:cs typeface="Arial"/>
              </a:defRPr>
            </a:pPr>
            <a:r>
              <a:rPr sz="2250" b="0">
                <a:solidFill>
                  <a:srgbClr val="D4DDEB"/>
                </a:solidFill>
                <a:latin typeface="Arial"/>
                <a:ea typeface="Arial"/>
                <a:cs typeface="Arial"/>
              </a:rPr>
              <a:t>Seis escenarios de ciclo de vida aprobados.</a:t>
            </a:r>
          </a:p>
        </p:txBody>
      </p:sp>
      <p:sp>
        <p:nvSpPr>
          <p:cNvPr id="4" name="contenido-2">
            <a:extLst xmlns:a="http://schemas.openxmlformats.org/drawingml/2006/main">
              <a:ext uri="{FF2B5EF4-FFF2-40B4-BE49-F238E27FC236}">
                <a16:creationId xmlns:a16="http://schemas.microsoft.com/office/drawing/2014/main" id="{95132EC4-1432-409C-8083-09940BECDB4C}"/>
              </a:ext>
            </a:extLst>
          </p:cNvPr>
          <p:cNvSpPr>
            <a:spLocks xmlns:a="http://schemas.openxmlformats.org/drawingml/2006/main" noGrp="1"/>
          </p:cNvSpPr>
          <p:nvPr/>
        </p:nvSpPr>
        <p:spPr>
          <a:xfrm xmlns:a="http://schemas.openxmlformats.org/drawingml/2006/main">
            <a:off x="609600" y="545782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DDEB"/>
                </a:solidFill>
                <a:latin typeface="Arial"/>
                <a:ea typeface="Arial"/>
                <a:cs typeface="Arial"/>
              </a:defRPr>
            </a:defPPr>
          </a:lstStyle>
          <a:p xmlns:a="http://schemas.openxmlformats.org/drawingml/2006/main">
            <a:pPr algn="l">
              <a:lnSpc>
                <a:spcPct val="108000"/>
              </a:lnSpc>
              <a:buNone/>
              <a:defRPr sz="2250" b="0">
                <a:solidFill>
                  <a:srgbClr val="D4DDEB"/>
                </a:solidFill>
                <a:latin typeface="Arial"/>
                <a:ea typeface="Arial"/>
                <a:cs typeface="Arial"/>
              </a:defRPr>
            </a:pPr>
            <a:r>
              <a:rPr sz="2250" b="0">
                <a:solidFill>
                  <a:srgbClr val="D4DDEB"/>
                </a:solidFill>
                <a:latin typeface="Arial"/>
                <a:ea typeface="Arial"/>
                <a:cs typeface="Arial"/>
              </a:rPr>
              <a:t>Dieciséis escenarios IoC previos aprobados.</a:t>
            </a:r>
          </a:p>
        </p:txBody>
      </p:sp>
      <p:sp>
        <p:nvSpPr>
          <p:cNvPr id="5" name="contenido-3">
            <a:extLst xmlns:a="http://schemas.openxmlformats.org/drawingml/2006/main">
              <a:ext uri="{FF2B5EF4-FFF2-40B4-BE49-F238E27FC236}">
                <a16:creationId xmlns:a16="http://schemas.microsoft.com/office/drawing/2014/main" id="{DB4B9846-98AA-4B7B-9D34-70ED5B2E5B8C}"/>
              </a:ext>
            </a:extLst>
          </p:cNvPr>
          <p:cNvSpPr>
            <a:spLocks xmlns:a="http://schemas.openxmlformats.org/drawingml/2006/main" noGrp="1"/>
          </p:cNvSpPr>
          <p:nvPr/>
        </p:nvSpPr>
        <p:spPr>
          <a:xfrm xmlns:a="http://schemas.openxmlformats.org/drawingml/2006/main">
            <a:off x="609600" y="59245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DDEB"/>
                </a:solidFill>
                <a:latin typeface="Arial"/>
                <a:ea typeface="Arial"/>
                <a:cs typeface="Arial"/>
              </a:defRPr>
            </a:defPPr>
          </a:lstStyle>
          <a:p xmlns:a="http://schemas.openxmlformats.org/drawingml/2006/main">
            <a:pPr algn="l">
              <a:lnSpc>
                <a:spcPct val="108000"/>
              </a:lnSpc>
              <a:buNone/>
              <a:defRPr sz="2250" b="0">
                <a:solidFill>
                  <a:srgbClr val="D4DDEB"/>
                </a:solidFill>
                <a:latin typeface="Arial"/>
                <a:ea typeface="Arial"/>
                <a:cs typeface="Arial"/>
              </a:defRPr>
            </a:pPr>
            <a:r>
              <a:rPr sz="2250" b="0">
                <a:solidFill>
                  <a:srgbClr val="D4DDEB"/>
                </a:solidFill>
                <a:latin typeface="Arial"/>
                <a:ea typeface="Arial"/>
                <a:cs typeface="Arial"/>
              </a:rPr>
              <a:t>Biblioteca de 22 fuentes compilada sin errores ni advertencias.</a:t>
            </a:r>
          </a:p>
        </p:txBody>
      </p:sp>
      <p:sp>
        <p:nvSpPr>
          <p:cNvPr id="6" name="pie-22">
            <a:extLst xmlns:a="http://schemas.openxmlformats.org/drawingml/2006/main">
              <a:ext uri="{FF2B5EF4-FFF2-40B4-BE49-F238E27FC236}">
                <a16:creationId xmlns:a16="http://schemas.microsoft.com/office/drawing/2014/main" id="{74E14725-672C-4BDE-9AF1-7BD9F4F0B6D2}"/>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22</a:t>
            </a:r>
          </a:p>
        </p:txBody>
      </p:sp>
    </p:spTree>
    <p:extLst>
      <p:ext uri="{BB962C8B-B14F-4D97-AF65-F5344CB8AC3E}">
        <p14:creationId xmlns:p14="http://schemas.microsoft.com/office/powerpoint/2010/main" val="2104595758"/>
      </p:ext>
    </p:extLst>
  </p:cSld>
</p:sld>
</file>

<file path=ppt/slides/slide2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23">
            <a:extLst xmlns:a="http://schemas.openxmlformats.org/drawingml/2006/main">
              <a:ext uri="{FF2B5EF4-FFF2-40B4-BE49-F238E27FC236}">
                <a16:creationId xmlns:a16="http://schemas.microsoft.com/office/drawing/2014/main" id="{CE3524A4-AA5E-4119-8873-5C793980C4FE}"/>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Evidencia reproducible</a:t>
            </a:r>
          </a:p>
        </p:txBody>
      </p:sp>
      <p:sp>
        <p:nvSpPr>
          <p:cNvPr id="2" name="codigo-comandos-editable">
            <a:extLst xmlns:a="http://schemas.openxmlformats.org/drawingml/2006/main">
              <a:ext uri="{FF2B5EF4-FFF2-40B4-BE49-F238E27FC236}">
                <a16:creationId xmlns:a16="http://schemas.microsoft.com/office/drawing/2014/main" id="{13DA5380-CA04-4C4A-952F-19AB684C9FB5}"/>
              </a:ext>
            </a:extLst>
          </p:cNvPr>
          <p:cNvSpPr>
            <a:spLocks xmlns:a="http://schemas.openxmlformats.org/drawingml/2006/main" noGrp="1"/>
          </p:cNvSpPr>
          <p:nvPr/>
        </p:nvSpPr>
        <p:spPr>
          <a:xfrm xmlns:a="http://schemas.openxmlformats.org/drawingml/2006/main">
            <a:off x="609600" y="2238375"/>
            <a:ext cx="109728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233E"/>
                </a:solidFill>
                <a:latin typeface="Consolas"/>
                <a:ea typeface="Consolas"/>
                <a:cs typeface="Consolas"/>
              </a:defRPr>
            </a:defPPr>
          </a:lstStyle>
          <a:p xmlns:a="http://schemas.openxmlformats.org/drawingml/2006/main">
            <a:pPr algn="l">
              <a:lnSpc>
                <a:spcPct val="108000"/>
              </a:lnSpc>
              <a:buNone/>
              <a:defRPr sz="2250" b="0">
                <a:solidFill>
                  <a:srgbClr val="11233E"/>
                </a:solidFill>
                <a:latin typeface="Consolas"/>
                <a:ea typeface="Consolas"/>
                <a:cs typeface="Consolas"/>
              </a:defRPr>
            </a:pPr>
            <a:r>
              <a:rPr sz="2250" b="0">
                <a:solidFill>
                  <a:srgbClr val="11233E"/>
                </a:solidFill>
                <a:latin typeface="Consolas"/>
                <a:ea typeface="Consolas"/>
                <a:cs typeface="Consolas"/>
              </a:rPr>
              <a:t>python herramientas/compilar_v5.py</a:t>
            </a:r>
          </a:p>
          <a:p xmlns:a="http://schemas.openxmlformats.org/drawingml/2006/main">
            <a:pPr algn="l">
              <a:lnSpc>
                <a:spcPct val="108000"/>
              </a:lnSpc>
              <a:buNone/>
              <a:defRPr sz="2250" b="0">
                <a:solidFill>
                  <a:srgbClr val="11233E"/>
                </a:solidFill>
                <a:latin typeface="Consolas"/>
                <a:ea typeface="Consolas"/>
                <a:cs typeface="Consolas"/>
              </a:defRPr>
            </a:pPr>
            <a:r>
              <a:rPr sz="2250" b="0">
                <a:solidFill>
                  <a:srgbClr val="11233E"/>
                </a:solidFill>
                <a:latin typeface="Consolas"/>
                <a:ea typeface="Consolas"/>
                <a:cs typeface="Consolas"/>
              </a:rPr>
              <a:t>python herramientas/verificar_v5.py</a:t>
            </a:r>
          </a:p>
        </p:txBody>
      </p:sp>
      <p:sp>
        <p:nvSpPr>
          <p:cNvPr id="3" name="contenido-1">
            <a:extLst xmlns:a="http://schemas.openxmlformats.org/drawingml/2006/main">
              <a:ext uri="{FF2B5EF4-FFF2-40B4-BE49-F238E27FC236}">
                <a16:creationId xmlns:a16="http://schemas.microsoft.com/office/drawing/2014/main" id="{92253713-030B-45A9-847E-3D8FA6C5A2E4}"/>
              </a:ext>
            </a:extLst>
          </p:cNvPr>
          <p:cNvSpPr>
            <a:spLocks xmlns:a="http://schemas.openxmlformats.org/drawingml/2006/main" noGrp="1"/>
          </p:cNvSpPr>
          <p:nvPr/>
        </p:nvSpPr>
        <p:spPr>
          <a:xfrm xmlns:a="http://schemas.openxmlformats.org/drawingml/2006/main">
            <a:off x="609600" y="425767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compilar_v5.py ejecuta los harness.</a:t>
            </a:r>
          </a:p>
        </p:txBody>
      </p:sp>
      <p:sp>
        <p:nvSpPr>
          <p:cNvPr id="4" name="contenido-2">
            <a:extLst xmlns:a="http://schemas.openxmlformats.org/drawingml/2006/main">
              <a:ext uri="{FF2B5EF4-FFF2-40B4-BE49-F238E27FC236}">
                <a16:creationId xmlns:a16="http://schemas.microsoft.com/office/drawing/2014/main" id="{99F51AE2-CF1E-41FA-A641-DD520E916EAE}"/>
              </a:ext>
            </a:extLst>
          </p:cNvPr>
          <p:cNvSpPr>
            <a:spLocks xmlns:a="http://schemas.openxmlformats.org/drawingml/2006/main" noGrp="1"/>
          </p:cNvSpPr>
          <p:nvPr/>
        </p:nvSpPr>
        <p:spPr>
          <a:xfrm xmlns:a="http://schemas.openxmlformats.org/drawingml/2006/main">
            <a:off x="609600" y="4899660"/>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verificar_v5.py comprueba hashes, alcance y evidencia.</a:t>
            </a:r>
          </a:p>
        </p:txBody>
      </p:sp>
      <p:sp>
        <p:nvSpPr>
          <p:cNvPr id="5" name="contenido-3">
            <a:extLst xmlns:a="http://schemas.openxmlformats.org/drawingml/2006/main">
              <a:ext uri="{FF2B5EF4-FFF2-40B4-BE49-F238E27FC236}">
                <a16:creationId xmlns:a16="http://schemas.microsoft.com/office/drawing/2014/main" id="{C272454B-556F-40B9-9E48-21C331B1C220}"/>
              </a:ext>
            </a:extLst>
          </p:cNvPr>
          <p:cNvSpPr>
            <a:spLocks xmlns:a="http://schemas.openxmlformats.org/drawingml/2006/main" noGrp="1"/>
          </p:cNvSpPr>
          <p:nvPr/>
        </p:nvSpPr>
        <p:spPr>
          <a:xfrm xmlns:a="http://schemas.openxmlformats.org/drawingml/2006/main">
            <a:off x="609600" y="5541645"/>
            <a:ext cx="10972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1233E"/>
                </a:solidFill>
                <a:latin typeface="Arial"/>
                <a:ea typeface="Arial"/>
                <a:cs typeface="Arial"/>
              </a:defRPr>
            </a:defPPr>
          </a:lstStyle>
          <a:p xmlns:a="http://schemas.openxmlformats.org/drawingml/2006/main">
            <a:pPr algn="l">
              <a:lnSpc>
                <a:spcPct val="108000"/>
              </a:lnSpc>
              <a:buNone/>
              <a:defRPr sz="2400" b="0">
                <a:solidFill>
                  <a:srgbClr val="11233E"/>
                </a:solidFill>
                <a:latin typeface="Arial"/>
                <a:ea typeface="Arial"/>
                <a:cs typeface="Arial"/>
              </a:defRPr>
            </a:pPr>
            <a:r>
              <a:rPr sz="2400" b="0">
                <a:solidFill>
                  <a:srgbClr val="11233E"/>
                </a:solidFill>
                <a:latin typeface="Arial"/>
                <a:ea typeface="Arial"/>
                <a:cs typeface="Arial"/>
              </a:rPr>
              <a:t>Resultados nuevos en evidencia/semanas/semana09/.</a:t>
            </a:r>
          </a:p>
        </p:txBody>
      </p:sp>
      <p:sp>
        <p:nvSpPr>
          <p:cNvPr id="6" name="pie-23">
            <a:extLst xmlns:a="http://schemas.openxmlformats.org/drawingml/2006/main">
              <a:ext uri="{FF2B5EF4-FFF2-40B4-BE49-F238E27FC236}">
                <a16:creationId xmlns:a16="http://schemas.microsoft.com/office/drawing/2014/main" id="{0C32446D-6294-4BC5-9D65-3856AB875BCA}"/>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23</a:t>
            </a:r>
          </a:p>
        </p:txBody>
      </p:sp>
    </p:spTree>
    <p:extLst>
      <p:ext uri="{BB962C8B-B14F-4D97-AF65-F5344CB8AC3E}">
        <p14:creationId xmlns:p14="http://schemas.microsoft.com/office/powerpoint/2010/main" val="962411060"/>
      </p:ext>
    </p:extLst>
  </p:cSld>
</p:sld>
</file>

<file path=ppt/slides/slide24.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24">
            <a:extLst xmlns:a="http://schemas.openxmlformats.org/drawingml/2006/main">
              <a:ext uri="{FF2B5EF4-FFF2-40B4-BE49-F238E27FC236}">
                <a16:creationId xmlns:a16="http://schemas.microsoft.com/office/drawing/2014/main" id="{D07F811D-E550-4592-BA1B-1DE90718B50E}"/>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El seguimiento queda en GitHub</a:t>
            </a:r>
          </a:p>
        </p:txBody>
      </p:sp>
      <p:sp>
        <p:nvSpPr>
          <p:cNvPr id="2" name="contenido-1">
            <a:extLst xmlns:a="http://schemas.openxmlformats.org/drawingml/2006/main">
              <a:ext uri="{FF2B5EF4-FFF2-40B4-BE49-F238E27FC236}">
                <a16:creationId xmlns:a16="http://schemas.microsoft.com/office/drawing/2014/main" id="{80636D09-CB80-44DA-8D9E-39C44C7129FA}"/>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Issue #10: motivo y criterios.</a:t>
            </a:r>
          </a:p>
        </p:txBody>
      </p:sp>
      <p:sp>
        <p:nvSpPr>
          <p:cNvPr id="3" name="contenido-2">
            <a:extLst xmlns:a="http://schemas.openxmlformats.org/drawingml/2006/main">
              <a:ext uri="{FF2B5EF4-FFF2-40B4-BE49-F238E27FC236}">
                <a16:creationId xmlns:a16="http://schemas.microsoft.com/office/drawing/2014/main" id="{84480570-1048-4210-A076-D01A8FF31EC8}"/>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Rama semana-09-gestion-cambios.</a:t>
            </a:r>
          </a:p>
        </p:txBody>
      </p:sp>
      <p:sp>
        <p:nvSpPr>
          <p:cNvPr id="4" name="contenido-3">
            <a:extLst xmlns:a="http://schemas.openxmlformats.org/drawingml/2006/main">
              <a:ext uri="{FF2B5EF4-FFF2-40B4-BE49-F238E27FC236}">
                <a16:creationId xmlns:a16="http://schemas.microsoft.com/office/drawing/2014/main" id="{9FA4EABE-3B97-4ED9-B980-CFDFE137BBF1}"/>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PR #13: diff y resultados.</a:t>
            </a:r>
          </a:p>
        </p:txBody>
      </p:sp>
      <p:sp>
        <p:nvSpPr>
          <p:cNvPr id="5" name="contenido-4">
            <a:extLst xmlns:a="http://schemas.openxmlformats.org/drawingml/2006/main">
              <a:ext uri="{FF2B5EF4-FFF2-40B4-BE49-F238E27FC236}">
                <a16:creationId xmlns:a16="http://schemas.microsoft.com/office/drawing/2014/main" id="{C3C26AEB-5D87-4A65-83AA-CF02551BA6EA}"/>
              </a:ext>
            </a:extLst>
          </p:cNvPr>
          <p:cNvSpPr>
            <a:spLocks xmlns:a="http://schemas.openxmlformats.org/drawingml/2006/main" noGrp="1"/>
          </p:cNvSpPr>
          <p:nvPr/>
        </p:nvSpPr>
        <p:spPr>
          <a:xfrm xmlns:a="http://schemas.openxmlformats.org/drawingml/2006/main">
            <a:off x="609600" y="421386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Issues #11 y #12: propuestas abiertas.</a:t>
            </a:r>
          </a:p>
        </p:txBody>
      </p:sp>
      <p:sp>
        <p:nvSpPr>
          <p:cNvPr id="6" name="pie-24">
            <a:extLst xmlns:a="http://schemas.openxmlformats.org/drawingml/2006/main">
              <a:ext uri="{FF2B5EF4-FFF2-40B4-BE49-F238E27FC236}">
                <a16:creationId xmlns:a16="http://schemas.microsoft.com/office/drawing/2014/main" id="{EDDDB0E1-A1C2-4C5A-94E0-A924A8EC87BB}"/>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24</a:t>
            </a:r>
          </a:p>
        </p:txBody>
      </p:sp>
    </p:spTree>
    <p:extLst>
      <p:ext uri="{BB962C8B-B14F-4D97-AF65-F5344CB8AC3E}">
        <p14:creationId xmlns:p14="http://schemas.microsoft.com/office/powerpoint/2010/main" val="1121553677"/>
      </p:ext>
    </p:extLst>
  </p:cSld>
</p:sld>
</file>

<file path=ppt/slides/slide2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7" name="titulo-25">
            <a:extLst xmlns:a="http://schemas.openxmlformats.org/drawingml/2006/main">
              <a:ext uri="{FF2B5EF4-FFF2-40B4-BE49-F238E27FC236}">
                <a16:creationId xmlns:a16="http://schemas.microsoft.com/office/drawing/2014/main" id="{E369B030-C1B4-49E9-966A-F005BF2DD4CB}"/>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1233E"/>
                </a:solidFill>
                <a:latin typeface="Arial"/>
                <a:ea typeface="Arial"/>
                <a:cs typeface="Arial"/>
              </a:defRPr>
            </a:defPPr>
          </a:lstStyle>
          <a:p xmlns:a="http://schemas.openxmlformats.org/drawingml/2006/main">
            <a:pPr algn="l">
              <a:lnSpc>
                <a:spcPct val="108000"/>
              </a:lnSpc>
              <a:buNone/>
              <a:defRPr sz="4050" b="1">
                <a:solidFill>
                  <a:srgbClr val="11233E"/>
                </a:solidFill>
                <a:latin typeface="Arial"/>
                <a:ea typeface="Arial"/>
                <a:cs typeface="Arial"/>
              </a:defRPr>
            </a:pPr>
            <a:r>
              <a:rPr sz="4050" b="1">
                <a:solidFill>
                  <a:srgbClr val="11233E"/>
                </a:solidFill>
                <a:latin typeface="Arial"/>
                <a:ea typeface="Arial"/>
                <a:cs typeface="Arial"/>
              </a:rPr>
              <a:t>Reversión prevista</a:t>
            </a:r>
          </a:p>
        </p:txBody>
      </p:sp>
      <p:sp>
        <p:nvSpPr>
          <p:cNvPr id="2" name="contenido-1">
            <a:extLst xmlns:a="http://schemas.openxmlformats.org/drawingml/2006/main">
              <a:ext uri="{FF2B5EF4-FFF2-40B4-BE49-F238E27FC236}">
                <a16:creationId xmlns:a16="http://schemas.microsoft.com/office/drawing/2014/main" id="{FAAE8C71-DF59-469E-A5F0-417B4E37E6E2}"/>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Detener la integración si falla un criterio.</a:t>
            </a:r>
          </a:p>
        </p:txBody>
      </p:sp>
      <p:sp>
        <p:nvSpPr>
          <p:cNvPr id="3" name="contenido-2">
            <a:extLst xmlns:a="http://schemas.openxmlformats.org/drawingml/2006/main">
              <a:ext uri="{FF2B5EF4-FFF2-40B4-BE49-F238E27FC236}">
                <a16:creationId xmlns:a16="http://schemas.microsoft.com/office/drawing/2014/main" id="{C53EC95A-5656-443E-B9EA-27EA1D1F3602}"/>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Después de integrar: evaluar revert del commit de C07.</a:t>
            </a:r>
          </a:p>
        </p:txBody>
      </p:sp>
      <p:sp>
        <p:nvSpPr>
          <p:cNvPr id="4" name="contenido-3">
            <a:extLst xmlns:a="http://schemas.openxmlformats.org/drawingml/2006/main">
              <a:ext uri="{FF2B5EF4-FFF2-40B4-BE49-F238E27FC236}">
                <a16:creationId xmlns:a16="http://schemas.microsoft.com/office/drawing/2014/main" id="{EC8C51FF-168E-44DF-B26C-0DA98E92228C}"/>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Recompilar y comprobar el estado restaurado.</a:t>
            </a:r>
          </a:p>
        </p:txBody>
      </p:sp>
      <p:sp>
        <p:nvSpPr>
          <p:cNvPr id="5" name="contenido-4">
            <a:extLst xmlns:a="http://schemas.openxmlformats.org/drawingml/2006/main">
              <a:ext uri="{FF2B5EF4-FFF2-40B4-BE49-F238E27FC236}">
                <a16:creationId xmlns:a16="http://schemas.microsoft.com/office/drawing/2014/main" id="{D7F5963F-79ED-4563-B4A7-52AA6D7E6501}"/>
              </a:ext>
            </a:extLst>
          </p:cNvPr>
          <p:cNvSpPr>
            <a:spLocks xmlns:a="http://schemas.openxmlformats.org/drawingml/2006/main" noGrp="1"/>
          </p:cNvSpPr>
          <p:nvPr/>
        </p:nvSpPr>
        <p:spPr>
          <a:xfrm xmlns:a="http://schemas.openxmlformats.org/drawingml/2006/main">
            <a:off x="609600" y="421386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1233E"/>
                </a:solidFill>
                <a:latin typeface="Arial"/>
                <a:ea typeface="Arial"/>
                <a:cs typeface="Arial"/>
              </a:defRPr>
            </a:defPPr>
          </a:lstStyle>
          <a:p xmlns:a="http://schemas.openxmlformats.org/drawingml/2006/main">
            <a:pPr algn="l">
              <a:lnSpc>
                <a:spcPct val="108000"/>
              </a:lnSpc>
              <a:buNone/>
              <a:defRPr sz="2550" b="0">
                <a:solidFill>
                  <a:srgbClr val="11233E"/>
                </a:solidFill>
                <a:latin typeface="Arial"/>
                <a:ea typeface="Arial"/>
                <a:cs typeface="Arial"/>
              </a:defRPr>
            </a:pPr>
            <a:r>
              <a:rPr sz="2550" b="0">
                <a:solidFill>
                  <a:srgbClr val="11233E"/>
                </a:solidFill>
                <a:latin typeface="Arial"/>
                <a:ea typeface="Arial"/>
                <a:cs typeface="Arial"/>
              </a:rPr>
              <a:t>Plan documentado; no se revirtió main.</a:t>
            </a:r>
          </a:p>
        </p:txBody>
      </p:sp>
      <p:sp>
        <p:nvSpPr>
          <p:cNvPr id="6" name="pie-25">
            <a:extLst xmlns:a="http://schemas.openxmlformats.org/drawingml/2006/main">
              <a:ext uri="{FF2B5EF4-FFF2-40B4-BE49-F238E27FC236}">
                <a16:creationId xmlns:a16="http://schemas.microsoft.com/office/drawing/2014/main" id="{A3D1787F-2C9C-4250-857E-D2181570F0BC}"/>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11233E"/>
                </a:solidFill>
                <a:latin typeface="Arial"/>
                <a:ea typeface="Arial"/>
                <a:cs typeface="Arial"/>
              </a:defRPr>
            </a:defPPr>
          </a:lstStyle>
          <a:p xmlns:a="http://schemas.openxmlformats.org/drawingml/2006/main">
            <a:pPr algn="r">
              <a:lnSpc>
                <a:spcPct val="108000"/>
              </a:lnSpc>
              <a:buNone/>
              <a:defRPr sz="1350" b="0">
                <a:solidFill>
                  <a:srgbClr val="11233E"/>
                </a:solidFill>
                <a:latin typeface="Arial"/>
                <a:ea typeface="Arial"/>
                <a:cs typeface="Arial"/>
              </a:defRPr>
            </a:pPr>
            <a:r>
              <a:rPr sz="1350" b="0">
                <a:solidFill>
                  <a:srgbClr val="11233E"/>
                </a:solidFill>
                <a:latin typeface="Arial"/>
                <a:ea typeface="Arial"/>
                <a:cs typeface="Arial"/>
              </a:rPr>
              <a:t>25</a:t>
            </a:r>
          </a:p>
        </p:txBody>
      </p:sp>
    </p:spTree>
    <p:extLst>
      <p:ext uri="{BB962C8B-B14F-4D97-AF65-F5344CB8AC3E}">
        <p14:creationId xmlns:p14="http://schemas.microsoft.com/office/powerpoint/2010/main" val="341061087"/>
      </p:ext>
    </p:extLst>
  </p:cSld>
</p:sld>
</file>

<file path=ppt/slides/slide26.xml><?xml version="1.0" encoding="utf-8"?>
<p:sld xmlns:p="http://schemas.openxmlformats.org/presentationml/2006/main">
  <p:cSld>
    <p:bg>
      <p:bgPr>
        <a:solidFill xmlns:a="http://schemas.openxmlformats.org/drawingml/2006/main">
          <a:srgbClr val="11233E"/>
        </a:solidFill>
      </p:bgPr>
    </p:bg>
    <p:spTree>
      <p:nvGrpSpPr>
        <p:cNvPr id="1" name=""/>
        <p:cNvGrpSpPr/>
        <p:nvPr/>
      </p:nvGrpSpPr>
      <p:grpSpPr>
        <a:xfrm xmlns:a="http://schemas.openxmlformats.org/drawingml/2006/main"/>
      </p:grpSpPr>
      <p:sp>
        <p:nvSpPr>
          <p:cNvPr id="7" name="titulo-26">
            <a:extLst xmlns:a="http://schemas.openxmlformats.org/drawingml/2006/main">
              <a:ext uri="{FF2B5EF4-FFF2-40B4-BE49-F238E27FC236}">
                <a16:creationId xmlns:a16="http://schemas.microsoft.com/office/drawing/2014/main" id="{793213FF-45C1-42C5-BD9D-2EC3D0B8922D}"/>
              </a:ext>
            </a:extLst>
          </p:cNvPr>
          <p:cNvSpPr>
            <a:spLocks xmlns:a="http://schemas.openxmlformats.org/drawingml/2006/main" noGrp="1"/>
          </p:cNvSpPr>
          <p:nvPr/>
        </p:nvSpPr>
        <p:spPr>
          <a:xfrm xmlns:a="http://schemas.openxmlformats.org/drawingml/2006/main">
            <a:off x="609600" y="571500"/>
            <a:ext cx="109728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6F1E8"/>
                </a:solidFill>
                <a:latin typeface="Arial"/>
                <a:ea typeface="Arial"/>
                <a:cs typeface="Arial"/>
              </a:defRPr>
            </a:defPPr>
          </a:lstStyle>
          <a:p xmlns:a="http://schemas.openxmlformats.org/drawingml/2006/main">
            <a:pPr algn="l">
              <a:lnSpc>
                <a:spcPct val="108000"/>
              </a:lnSpc>
              <a:buNone/>
              <a:defRPr sz="4050" b="1">
                <a:solidFill>
                  <a:srgbClr val="F6F1E8"/>
                </a:solidFill>
                <a:latin typeface="Arial"/>
                <a:ea typeface="Arial"/>
                <a:cs typeface="Arial"/>
              </a:defRPr>
            </a:pPr>
            <a:r>
              <a:rPr sz="4050" b="1">
                <a:solidFill>
                  <a:srgbClr val="F6F1E8"/>
                </a:solidFill>
                <a:latin typeface="Arial"/>
                <a:ea typeface="Arial"/>
                <a:cs typeface="Arial"/>
              </a:rPr>
              <a:t>Qué mejora y qué sigue pendiente</a:t>
            </a:r>
          </a:p>
        </p:txBody>
      </p:sp>
      <p:sp>
        <p:nvSpPr>
          <p:cNvPr id="2" name="contenido-1">
            <a:extLst xmlns:a="http://schemas.openxmlformats.org/drawingml/2006/main">
              <a:ext uri="{FF2B5EF4-FFF2-40B4-BE49-F238E27FC236}">
                <a16:creationId xmlns:a16="http://schemas.microsoft.com/office/drawing/2014/main" id="{EFF0594E-44F0-48F3-A7D2-A8E02628CA87}"/>
              </a:ext>
            </a:extLst>
          </p:cNvPr>
          <p:cNvSpPr>
            <a:spLocks xmlns:a="http://schemas.openxmlformats.org/drawingml/2006/main" noGrp="1"/>
          </p:cNvSpPr>
          <p:nvPr/>
        </p:nvSpPr>
        <p:spPr>
          <a:xfrm xmlns:a="http://schemas.openxmlformats.org/drawingml/2006/main">
            <a:off x="609600" y="204787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Tres solicitudes evaluadas; una corrección comprobada.</a:t>
            </a:r>
          </a:p>
        </p:txBody>
      </p:sp>
      <p:sp>
        <p:nvSpPr>
          <p:cNvPr id="3" name="contenido-2">
            <a:extLst xmlns:a="http://schemas.openxmlformats.org/drawingml/2006/main">
              <a:ext uri="{FF2B5EF4-FFF2-40B4-BE49-F238E27FC236}">
                <a16:creationId xmlns:a16="http://schemas.microsoft.com/office/drawing/2014/main" id="{091B1115-9122-4C74-92DF-84390B49137E}"/>
              </a:ext>
            </a:extLst>
          </p:cNvPr>
          <p:cNvSpPr>
            <a:spLocks xmlns:a="http://schemas.openxmlformats.org/drawingml/2006/main" noGrp="1"/>
          </p:cNvSpPr>
          <p:nvPr/>
        </p:nvSpPr>
        <p:spPr>
          <a:xfrm xmlns:a="http://schemas.openxmlformats.org/drawingml/2006/main">
            <a:off x="609600" y="276987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Liberación explícita del comando durante ejecución síncrona.</a:t>
            </a:r>
          </a:p>
        </p:txBody>
      </p:sp>
      <p:sp>
        <p:nvSpPr>
          <p:cNvPr id="4" name="contenido-3">
            <a:extLst xmlns:a="http://schemas.openxmlformats.org/drawingml/2006/main">
              <a:ext uri="{FF2B5EF4-FFF2-40B4-BE49-F238E27FC236}">
                <a16:creationId xmlns:a16="http://schemas.microsoft.com/office/drawing/2014/main" id="{07E3354C-DE1D-4605-ABDA-778EA1C1591D}"/>
              </a:ext>
            </a:extLst>
          </p:cNvPr>
          <p:cNvSpPr>
            <a:spLocks xmlns:a="http://schemas.openxmlformats.org/drawingml/2006/main" noGrp="1"/>
          </p:cNvSpPr>
          <p:nvPr/>
        </p:nvSpPr>
        <p:spPr>
          <a:xfrm xmlns:a="http://schemas.openxmlformats.org/drawingml/2006/main">
            <a:off x="609600" y="3491865"/>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Dos propuestas pendientes y trazabilidad en GitHub.</a:t>
            </a:r>
          </a:p>
        </p:txBody>
      </p:sp>
      <p:sp>
        <p:nvSpPr>
          <p:cNvPr id="5" name="contenido-4">
            <a:extLst xmlns:a="http://schemas.openxmlformats.org/drawingml/2006/main">
              <a:ext uri="{FF2B5EF4-FFF2-40B4-BE49-F238E27FC236}">
                <a16:creationId xmlns:a16="http://schemas.microsoft.com/office/drawing/2014/main" id="{B483D952-39A2-4744-AB7A-5C38FFA2BDC5}"/>
              </a:ext>
            </a:extLst>
          </p:cNvPr>
          <p:cNvSpPr>
            <a:spLocks xmlns:a="http://schemas.openxmlformats.org/drawingml/2006/main" noGrp="1"/>
          </p:cNvSpPr>
          <p:nvPr/>
        </p:nvSpPr>
        <p:spPr>
          <a:xfrm xmlns:a="http://schemas.openxmlformats.org/drawingml/2006/main">
            <a:off x="609600" y="4213860"/>
            <a:ext cx="10972800" cy="436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6F1E8"/>
                </a:solidFill>
                <a:latin typeface="Arial"/>
                <a:ea typeface="Arial"/>
                <a:cs typeface="Arial"/>
              </a:defRPr>
            </a:defPPr>
          </a:lstStyle>
          <a:p xmlns:a="http://schemas.openxmlformats.org/drawingml/2006/main">
            <a:pPr algn="l">
              <a:lnSpc>
                <a:spcPct val="108000"/>
              </a:lnSpc>
              <a:buNone/>
              <a:defRPr sz="2550" b="0">
                <a:solidFill>
                  <a:srgbClr val="F6F1E8"/>
                </a:solidFill>
                <a:latin typeface="Arial"/>
                <a:ea typeface="Arial"/>
                <a:cs typeface="Arial"/>
              </a:defRPr>
            </a:pPr>
            <a:r>
              <a:rPr sz="2550" b="0">
                <a:solidFill>
                  <a:srgbClr val="F6F1E8"/>
                </a:solidFill>
                <a:latin typeface="Arial"/>
                <a:ea typeface="Arial"/>
                <a:cs typeface="Arial"/>
              </a:rPr>
              <a:t>Integración real con SQL e interfaz aún pendiente.</a:t>
            </a:r>
          </a:p>
        </p:txBody>
      </p:sp>
      <p:sp>
        <p:nvSpPr>
          <p:cNvPr id="6" name="pie-26">
            <a:extLst xmlns:a="http://schemas.openxmlformats.org/drawingml/2006/main">
              <a:ext uri="{FF2B5EF4-FFF2-40B4-BE49-F238E27FC236}">
                <a16:creationId xmlns:a16="http://schemas.microsoft.com/office/drawing/2014/main" id="{F0D1EAFE-37A4-473B-AE00-1F3AA81D76E1}"/>
              </a:ext>
            </a:extLst>
          </p:cNvPr>
          <p:cNvSpPr>
            <a:spLocks xmlns:a="http://schemas.openxmlformats.org/drawingml/2006/main" noGrp="1"/>
          </p:cNvSpPr>
          <p:nvPr/>
        </p:nvSpPr>
        <p:spPr>
          <a:xfrm xmlns:a="http://schemas.openxmlformats.org/drawingml/2006/main">
            <a:off x="10972800" y="64008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D4DDEB"/>
                </a:solidFill>
                <a:latin typeface="Arial"/>
                <a:ea typeface="Arial"/>
                <a:cs typeface="Arial"/>
              </a:defRPr>
            </a:defPPr>
          </a:lstStyle>
          <a:p xmlns:a="http://schemas.openxmlformats.org/drawingml/2006/main">
            <a:pPr algn="r">
              <a:lnSpc>
                <a:spcPct val="108000"/>
              </a:lnSpc>
              <a:buNone/>
              <a:defRPr sz="1350" b="0">
                <a:solidFill>
                  <a:srgbClr val="D4DDEB"/>
                </a:solidFill>
                <a:latin typeface="Arial"/>
                <a:ea typeface="Arial"/>
                <a:cs typeface="Arial"/>
              </a:defRPr>
            </a:pPr>
            <a:r>
              <a:rPr sz="1350" b="0">
                <a:solidFill>
                  <a:srgbClr val="D4DDEB"/>
                </a:solidFill>
                <a:latin typeface="Arial"/>
                <a:ea typeface="Arial"/>
                <a:cs typeface="Arial"/>
              </a:rPr>
              <a:t>26</a:t>
            </a:r>
          </a:p>
        </p:txBody>
      </p:sp>
    </p:spTree>
    <p:extLst>
      <p:ext uri="{BB962C8B-B14F-4D97-AF65-F5344CB8AC3E}">
        <p14:creationId xmlns:p14="http://schemas.microsoft.com/office/powerpoint/2010/main" val="18383455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2026-10-16T04:04:40.4210000Z</dcterms:created>
  <dcterms:modified xsi:type="dcterms:W3CDTF">2026-10-16T04:04:40.4210000Z</dcterms:modified>
</coreProperties>
</file>