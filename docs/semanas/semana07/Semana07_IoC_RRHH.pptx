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2e9ca471d9f4dc0" /><Relationship Type="http://schemas.openxmlformats.org/officeDocument/2006/relationships/extended-properties" Target="/docProps/app.xml" Id="R14e91ee5dc8a41cb" /><Relationship Type="http://schemas.openxmlformats.org/officeDocument/2006/relationships/officeDocument" Target="/ppt/presentation.xml" Id="R5afe2190d9764460" /></Relationships>
</file>

<file path=ppt/presentation.xml><?xml version="1.0" encoding="utf-8"?>
<p:presentation xmlns:p="http://schemas.openxmlformats.org/presentationml/2006/main">
  <p:sldMasterIdLst>
    <p:sldMasterId xmlns:r="http://schemas.openxmlformats.org/officeDocument/2006/relationships" id="2147483648" r:id="R09f9c94a036a40da"/>
  </p:sldMasterIdLst>
  <p:notesMasterIdLst>
    <p:notesMasterId xmlns:r="http://schemas.openxmlformats.org/officeDocument/2006/relationships" r:id="R6c37a016ae6e4b2c"/>
  </p:notesMasterIdLst>
  <p:sldIdLst>
    <p:sldId xmlns:r="http://schemas.openxmlformats.org/officeDocument/2006/relationships" id="256" r:id="R2c520234f18f415b"/>
    <p:sldId xmlns:r="http://schemas.openxmlformats.org/officeDocument/2006/relationships" id="257" r:id="Rd3b40e2daaa94b89"/>
    <p:sldId xmlns:r="http://schemas.openxmlformats.org/officeDocument/2006/relationships" id="258" r:id="R8cf3ba05a5c24697"/>
    <p:sldId xmlns:r="http://schemas.openxmlformats.org/officeDocument/2006/relationships" id="259" r:id="R2e0c88e2e2dc4a6e"/>
    <p:sldId xmlns:r="http://schemas.openxmlformats.org/officeDocument/2006/relationships" id="260" r:id="R5c895dddc3904b42"/>
    <p:sldId xmlns:r="http://schemas.openxmlformats.org/officeDocument/2006/relationships" id="261" r:id="R1a7d63a3e4cc4ce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7a0b9aadc334ca3" /><Relationship Type="http://schemas.openxmlformats.org/officeDocument/2006/relationships/slideMaster" Target="/ppt/slideMasters/slideMaster1.xml" Id="R09f9c94a036a40da" /><Relationship Type="http://schemas.openxmlformats.org/officeDocument/2006/relationships/notesMaster" Target="/ppt/notesMasters/notesMaster1.xml" Id="R6c37a016ae6e4b2c" /><Relationship Type="http://schemas.openxmlformats.org/officeDocument/2006/relationships/presProps" Target="/ppt/presProps.xml" Id="Rf0b1471597e144cb" /><Relationship Type="http://schemas.openxmlformats.org/officeDocument/2006/relationships/tableStyles" Target="/ppt/tableStyles.xml" Id="R835cb7cf698a4705" /><Relationship Type="http://schemas.openxmlformats.org/officeDocument/2006/relationships/slide" Target="/ppt/slides/slide1.xml" Id="R2c520234f18f415b" /><Relationship Type="http://schemas.openxmlformats.org/officeDocument/2006/relationships/slide" Target="/ppt/slides/slide2.xml" Id="Rd3b40e2daaa94b89" /><Relationship Type="http://schemas.openxmlformats.org/officeDocument/2006/relationships/slide" Target="/ppt/slides/slide3.xml" Id="R8cf3ba05a5c24697" /><Relationship Type="http://schemas.openxmlformats.org/officeDocument/2006/relationships/slide" Target="/ppt/slides/slide4.xml" Id="R2e0c88e2e2dc4a6e" /><Relationship Type="http://schemas.openxmlformats.org/officeDocument/2006/relationships/slide" Target="/ppt/slides/slide5.xml" Id="R5c895dddc3904b42" /><Relationship Type="http://schemas.openxmlformats.org/officeDocument/2006/relationships/slide" Target="/ppt/slides/slide6.xml" Id="R1a7d63a3e4cc4ce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de612f0140e443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314c7c76a164334" /><Relationship Type="http://schemas.openxmlformats.org/officeDocument/2006/relationships/notesMaster" Target="/ppt/notesMasters/notesMaster1.xml" Id="Ra6eab5618c29461f" /></Relationships>
</file>

<file path=ppt/notesSlides/_rels/notesSlide2.xml.rels>&#65279;<?xml version="1.0" encoding="utf-8"?><Relationships xmlns="http://schemas.openxmlformats.org/package/2006/relationships"><Relationship Type="http://schemas.openxmlformats.org/officeDocument/2006/relationships/slide" Target="/ppt/slides/slide2.xml" Id="R66859e25d4784c9d" /><Relationship Type="http://schemas.openxmlformats.org/officeDocument/2006/relationships/notesMaster" Target="/ppt/notesMasters/notesMaster1.xml" Id="R7c6c5edf178f4a45" /></Relationships>
</file>

<file path=ppt/notesSlides/_rels/notesSlide3.xml.rels>&#65279;<?xml version="1.0" encoding="utf-8"?><Relationships xmlns="http://schemas.openxmlformats.org/package/2006/relationships"><Relationship Type="http://schemas.openxmlformats.org/officeDocument/2006/relationships/slide" Target="/ppt/slides/slide3.xml" Id="R8451f077e8454757" /><Relationship Type="http://schemas.openxmlformats.org/officeDocument/2006/relationships/notesMaster" Target="/ppt/notesMasters/notesMaster1.xml" Id="R2116434f3b4443ae" /></Relationships>
</file>

<file path=ppt/notesSlides/_rels/notesSlide4.xml.rels>&#65279;<?xml version="1.0" encoding="utf-8"?><Relationships xmlns="http://schemas.openxmlformats.org/package/2006/relationships"><Relationship Type="http://schemas.openxmlformats.org/officeDocument/2006/relationships/slide" Target="/ppt/slides/slide4.xml" Id="Rc7b616edd2be4cbe" /><Relationship Type="http://schemas.openxmlformats.org/officeDocument/2006/relationships/notesMaster" Target="/ppt/notesMasters/notesMaster1.xml" Id="R3a4b6b8a6e564cd2" /></Relationships>
</file>

<file path=ppt/notesSlides/_rels/notesSlide5.xml.rels>&#65279;<?xml version="1.0" encoding="utf-8"?><Relationships xmlns="http://schemas.openxmlformats.org/package/2006/relationships"><Relationship Type="http://schemas.openxmlformats.org/officeDocument/2006/relationships/slide" Target="/ppt/slides/slide5.xml" Id="Rb75ae6c571da45b9" /><Relationship Type="http://schemas.openxmlformats.org/officeDocument/2006/relationships/notesMaster" Target="/ppt/notesMasters/notesMaster1.xml" Id="Rd882d50bd6644262" /></Relationships>
</file>

<file path=ppt/notesSlides/_rels/notesSlide6.xml.rels>&#65279;<?xml version="1.0" encoding="utf-8"?><Relationships xmlns="http://schemas.openxmlformats.org/package/2006/relationships"><Relationship Type="http://schemas.openxmlformats.org/officeDocument/2006/relationships/slide" Target="/ppt/slides/slide6.xml" Id="R2be98e5a953345ec" /><Relationship Type="http://schemas.openxmlformats.org/officeDocument/2006/relationships/notesMaster" Target="/ppt/notesMasters/notesMaster1.xml" Id="R1dee6da9c3b5431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 a 0:40. Esta exposición presenta un caso concreto de inversión de control dentro de los reportes de RRHH. La clase GeneradorReportes coordina la preparación y la ejecución de un reporte. En la versión v3, esa misma clase decide crear un EjecutorReportesSql. Nuestro objetivo es trasladar esa decisión al código que compone los objetos. Así podremos entregar un ejecutor SQL en el uso normal y un sustituto en las pruebas. La mejora se concentra en esa dependencia. Fuentes: referencias/semanas/semana07/Semana07_EVO_TG.pdf, páginas 8 a 11; src/v3/caso_reportes/GeneradorReportes.cs.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0:40 a 1:25. Este fragmento corresponde al código real de v3. El campo _sql tiene el tipo concreto EjecutorReportesSql y el constructor crea una instancia mediante new. Después, Generar llama a ese campo. Una definición de reporte puede cambiar qué comando se prepara, pero no puede cambiar quién lo ejecuta. Por eso una prueba de Generar queda ligada al ejecutor que abre la conexión y llama a Fill. La dependencia fija está en el campo y en su creación dentro del constructor. Fuentes: src/v3/caso_reportes/GeneradorReportes.cs y EjecutorReportesSql.cs.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1:25 a 2:15. En v4 introducimos IEjecutorReportes. La interfaz tiene un único método: Ejecutar recibe el ComandoReporte y devuelve un DataSet. El campo del generador ahora utiliza esa interfaz. Su constructor recibe la instancia y la asigna, en lugar de crearla. Esto aplica inyección de dependencias por constructor: quien construye el generador elige la implementación. EjecutorReportesSql implementa el contrato. Preparar y Generar conservan sus cuerpos anteriores. También conservamos SqlConnection porque esta etapa solo cambia la dependencia del ejecutor. Fuentes: src/v4/caso_ioc/IEjecutorReportes.cs, GeneradorReportes.cs y evidencia/semanas/semana07/verificacion_v4.json.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2:15 a 3:00. La creación continúa existiendo, pero cambia de lugar. ComposicionReportes.CrearSql crea el ejecutor con la conexión y el adaptador actuales. Después crea GeneradorReportes y le entrega esa misma conexión y el ejecutor. El diagrama muestra que la composición crea ambos objetos y entrega SQL como dependencia del generador. La fachada llama a CrearSql y luego a Generar. Esta es una composición manual y no requiere un contenedor. Las pruebas construyen el generador directamente con un sustituto que implementa la interfaz. Fuentes: src/v4/caso_ioc/ComposicionReportes.cs y RRHHClass.cs.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3:00 a 4:05. La comprobación local aprobó 16 escenarios. Once llaman a Generar completo mediante un ejecutor de prueba y verifican los contratos recuperados: procedimiento, tabla, conexión y propiedades de los parámetros. El sustituto registra la solicitud y devuelve un DataSet conocido. Se comprueba que el generador devuelve exactamente ese objeto. Los cinco escenarios adicionales prueban sustitución de ejecutor, preparación sin ejecución, propagación de una excepción conocida, composición SQL sin abrir la conexión y fallo de preparación sin llamar al ejecutor. La biblioteca y el harness compilaron sin errores ni advertencias. Los datos son sintéticos y no se ejecutó el método del ejecutor SQL. Fuentes: evidencia/semanas/semana07/compilacion_y_pruebas.json y verificacion_v4.json.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4:05 a 4:45. El aporte de IoC es que el generador recibe la dependencia en lugar de elegir su creación. Ese cambio permite sustituir la ejecución y comprobar Generar completo sin SQL. La abstracción tiene un alcance concreto: Preparar sigue usando SqlConnection y ComandoReporte contiene un SqlCommand. El ejecutor SQL conserva su constructor y su cuerpo ADO.NET. Por eso estas pruebas acreditan la sustitución y los contratos que se verificaron. La integración con la base real y el funcionamiento completo de la aplicación continúan pendientes. Fuentes: src/v4/caso_ioc/GeneradorReportes.cs, EjecutorReportesSql.cs y evidencia/semanas/semana07/verificacion_v4.json.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a8494efa2e646f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fb2585583324425" /><Relationship Type="http://schemas.openxmlformats.org/officeDocument/2006/relationships/slideLayout" Target="/ppt/slideLayouts/slideLayout1.xml" Id="R2b00e50672a64be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b00e50672a64be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b07e434b2984251" /><Relationship Type="http://schemas.openxmlformats.org/officeDocument/2006/relationships/notesSlide" Target="/ppt/notesSlides/notesSlide1.xml" Id="Raf182f4ff0414f5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9d94a2329ba4d1d" /><Relationship Type="http://schemas.openxmlformats.org/officeDocument/2006/relationships/notesSlide" Target="/ppt/notesSlides/notesSlide2.xml" Id="R0f78ac4254f6462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e363950bec24f1f" /><Relationship Type="http://schemas.openxmlformats.org/officeDocument/2006/relationships/notesSlide" Target="/ppt/notesSlides/notesSlide3.xml" Id="R5ecb125846ad43d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ee051226cbe4774" /><Relationship Type="http://schemas.openxmlformats.org/officeDocument/2006/relationships/notesSlide" Target="/ppt/notesSlides/notesSlide4.xml" Id="R0ffb19d71fd2491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b7e1fc9ca294df5" /><Relationship Type="http://schemas.openxmlformats.org/officeDocument/2006/relationships/notesSlide" Target="/ppt/notesSlides/notesSlide5.xml" Id="R7a8815d772bc4e9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433bf60ff4a4696" /><Relationship Type="http://schemas.openxmlformats.org/officeDocument/2006/relationships/notesSlide" Target="/ppt/notesSlides/notesSlide6.xml" Id="R9ff7847f4285410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ulo-1">
            <a:extLst xmlns:a="http://schemas.openxmlformats.org/drawingml/2006/main">
              <a:ext uri="{FF2B5EF4-FFF2-40B4-BE49-F238E27FC236}">
                <a16:creationId xmlns:a16="http://schemas.microsoft.com/office/drawing/2014/main" id="{2B4608BB-04DA-497B-9D57-BD7AB53FF2D9}"/>
              </a:ext>
            </a:extLst>
          </p:cNvPr>
          <p:cNvSpPr>
            <a:spLocks xmlns:a="http://schemas.openxmlformats.org/drawingml/2006/main" noGrp="1"/>
          </p:cNvSpPr>
          <p:nvPr/>
        </p:nvSpPr>
        <p:spPr>
          <a:xfrm xmlns:a="http://schemas.openxmlformats.org/drawingml/2006/main">
            <a:off x="609600" y="4381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225" b="1">
                <a:solidFill>
                  <a:srgbClr val="123548"/>
                </a:solidFill>
                <a:latin typeface="Arial"/>
                <a:ea typeface="Arial"/>
                <a:cs typeface="Arial"/>
              </a:defRPr>
            </a:pPr>
            <a:r>
              <a:rPr sz="3225" b="1">
                <a:solidFill>
                  <a:srgbClr val="123548"/>
                </a:solidFill>
                <a:latin typeface="Arial"/>
                <a:ea typeface="Arial"/>
                <a:cs typeface="Arial"/>
              </a:rPr>
              <a:t>Inversión de control en reportes RRHH</a:t>
            </a:r>
          </a:p>
        </p:txBody>
      </p:sp>
      <p:sp>
        <p:nvSpPr>
          <p:cNvPr id="2" name="pagina-1">
            <a:extLst xmlns:a="http://schemas.openxmlformats.org/drawingml/2006/main">
              <a:ext uri="{FF2B5EF4-FFF2-40B4-BE49-F238E27FC236}">
                <a16:creationId xmlns:a16="http://schemas.microsoft.com/office/drawing/2014/main" id="{0014EE82-07B1-490E-8F98-07EA6AB578A6}"/>
              </a:ext>
            </a:extLst>
          </p:cNvPr>
          <p:cNvSpPr>
            <a:spLocks xmlns:a="http://schemas.openxmlformats.org/drawingml/2006/main" noGrp="1"/>
          </p:cNvSpPr>
          <p:nvPr/>
        </p:nvSpPr>
        <p:spPr>
          <a:xfrm xmlns:a="http://schemas.openxmlformats.org/drawingml/2006/main">
            <a:off x="11334750" y="6324600"/>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350" b="0">
                <a:solidFill>
                  <a:srgbClr val="526B78"/>
                </a:solidFill>
                <a:latin typeface="Arial"/>
                <a:ea typeface="Arial"/>
                <a:cs typeface="Arial"/>
              </a:defRPr>
            </a:pPr>
            <a:r>
              <a:rPr sz="1350" b="0">
                <a:solidFill>
                  <a:srgbClr val="526B78"/>
                </a:solidFill>
                <a:latin typeface="Arial"/>
                <a:ea typeface="Arial"/>
                <a:cs typeface="Arial"/>
              </a:rPr>
              <a:t>1</a:t>
            </a:r>
          </a:p>
        </p:txBody>
      </p:sp>
      <p:sp>
        <p:nvSpPr>
          <p:cNvPr id="3" name="caso-etiqueta">
            <a:extLst xmlns:a="http://schemas.openxmlformats.org/drawingml/2006/main">
              <a:ext uri="{FF2B5EF4-FFF2-40B4-BE49-F238E27FC236}">
                <a16:creationId xmlns:a16="http://schemas.microsoft.com/office/drawing/2014/main" id="{2396C5FA-92E6-478D-9ABE-CA57A6E2BBDE}"/>
              </a:ext>
            </a:extLst>
          </p:cNvPr>
          <p:cNvSpPr>
            <a:spLocks xmlns:a="http://schemas.openxmlformats.org/drawingml/2006/main" noGrp="1"/>
          </p:cNvSpPr>
          <p:nvPr/>
        </p:nvSpPr>
        <p:spPr>
          <a:xfrm xmlns:a="http://schemas.openxmlformats.org/drawingml/2006/main">
            <a:off x="609600" y="1543050"/>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025" b="1">
                <a:solidFill>
                  <a:srgbClr val="087F8C"/>
                </a:solidFill>
                <a:latin typeface="Arial"/>
                <a:ea typeface="Arial"/>
                <a:cs typeface="Arial"/>
              </a:defRPr>
            </a:pPr>
            <a:r>
              <a:rPr sz="2025" b="1">
                <a:solidFill>
                  <a:srgbClr val="087F8C"/>
                </a:solidFill>
                <a:latin typeface="Arial"/>
                <a:ea typeface="Arial"/>
                <a:cs typeface="Arial"/>
              </a:rPr>
              <a:t>Caso práctico de semana 07</a:t>
            </a:r>
          </a:p>
        </p:txBody>
      </p:sp>
      <p:sp>
        <p:nvSpPr>
          <p:cNvPr id="4" name="caso-objeto">
            <a:extLst xmlns:a="http://schemas.openxmlformats.org/drawingml/2006/main">
              <a:ext uri="{FF2B5EF4-FFF2-40B4-BE49-F238E27FC236}">
                <a16:creationId xmlns:a16="http://schemas.microsoft.com/office/drawing/2014/main" id="{CBFAF5B3-661A-4217-AA62-830009088388}"/>
              </a:ext>
            </a:extLst>
          </p:cNvPr>
          <p:cNvSpPr>
            <a:spLocks xmlns:a="http://schemas.openxmlformats.org/drawingml/2006/main" noGrp="1"/>
          </p:cNvSpPr>
          <p:nvPr/>
        </p:nvSpPr>
        <p:spPr>
          <a:xfrm xmlns:a="http://schemas.openxmlformats.org/drawingml/2006/main">
            <a:off x="609600" y="228600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4350" b="1">
                <a:solidFill>
                  <a:srgbClr val="123548"/>
                </a:solidFill>
                <a:latin typeface="Arial"/>
                <a:ea typeface="Arial"/>
                <a:cs typeface="Arial"/>
              </a:defRPr>
            </a:pPr>
            <a:r>
              <a:rPr sz="4350" b="1">
                <a:solidFill>
                  <a:srgbClr val="123548"/>
                </a:solidFill>
                <a:latin typeface="Arial"/>
                <a:ea typeface="Arial"/>
                <a:cs typeface="Arial"/>
              </a:rPr>
              <a:t>GeneradorReportes</a:t>
            </a:r>
          </a:p>
        </p:txBody>
      </p:sp>
      <p:sp>
        <p:nvSpPr>
          <p:cNvPr id="5" name="caso-objetivo">
            <a:extLst xmlns:a="http://schemas.openxmlformats.org/drawingml/2006/main">
              <a:ext uri="{FF2B5EF4-FFF2-40B4-BE49-F238E27FC236}">
                <a16:creationId xmlns:a16="http://schemas.microsoft.com/office/drawing/2014/main" id="{C7327CDA-32D2-420E-BAB3-4B3C52C1BC4B}"/>
              </a:ext>
            </a:extLst>
          </p:cNvPr>
          <p:cNvSpPr>
            <a:spLocks xmlns:a="http://schemas.openxmlformats.org/drawingml/2006/main" noGrp="1"/>
          </p:cNvSpPr>
          <p:nvPr/>
        </p:nvSpPr>
        <p:spPr>
          <a:xfrm xmlns:a="http://schemas.openxmlformats.org/drawingml/2006/main">
            <a:off x="609600" y="3390900"/>
            <a:ext cx="1057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850" b="0">
                <a:solidFill>
                  <a:srgbClr val="123548"/>
                </a:solidFill>
                <a:latin typeface="Arial"/>
                <a:ea typeface="Arial"/>
                <a:cs typeface="Arial"/>
              </a:defRPr>
            </a:pPr>
            <a:r>
              <a:rPr sz="2850" b="0">
                <a:solidFill>
                  <a:srgbClr val="123548"/>
                </a:solidFill>
                <a:latin typeface="Arial"/>
                <a:ea typeface="Arial"/>
                <a:cs typeface="Arial"/>
              </a:rPr>
              <a:t>Permitir que el código que usa el generador</a:t>
            </a:r>
          </a:p>
          <a:p xmlns:a="http://schemas.openxmlformats.org/drawingml/2006/main">
            <a:pPr algn="l">
              <a:lnSpc>
                <a:spcPct val="105000"/>
              </a:lnSpc>
              <a:buNone/>
              <a:defRPr sz="2850" b="0">
                <a:solidFill>
                  <a:srgbClr val="123548"/>
                </a:solidFill>
                <a:latin typeface="Arial"/>
                <a:ea typeface="Arial"/>
                <a:cs typeface="Arial"/>
              </a:defRPr>
            </a:pPr>
            <a:r>
              <a:rPr sz="2850" b="0">
                <a:solidFill>
                  <a:srgbClr val="123548"/>
                </a:solidFill>
                <a:latin typeface="Arial"/>
                <a:ea typeface="Arial"/>
                <a:cs typeface="Arial"/>
              </a:rPr>
              <a:t>elija cómo ejecutar un reporte.</a:t>
            </a:r>
          </a:p>
        </p:txBody>
      </p:sp>
      <p:sp>
        <p:nvSpPr>
          <p:cNvPr id="6" name="caso-problema">
            <a:extLst xmlns:a="http://schemas.openxmlformats.org/drawingml/2006/main">
              <a:ext uri="{FF2B5EF4-FFF2-40B4-BE49-F238E27FC236}">
                <a16:creationId xmlns:a16="http://schemas.microsoft.com/office/drawing/2014/main" id="{446BFD7B-4AC2-4394-ACF5-BFA066F8EEA5}"/>
              </a:ext>
            </a:extLst>
          </p:cNvPr>
          <p:cNvSpPr>
            <a:spLocks xmlns:a="http://schemas.openxmlformats.org/drawingml/2006/main" noGrp="1"/>
          </p:cNvSpPr>
          <p:nvPr/>
        </p:nvSpPr>
        <p:spPr>
          <a:xfrm xmlns:a="http://schemas.openxmlformats.org/drawingml/2006/main">
            <a:off x="609600" y="521970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950" b="0">
                <a:solidFill>
                  <a:srgbClr val="526B78"/>
                </a:solidFill>
                <a:latin typeface="Arial"/>
                <a:ea typeface="Arial"/>
                <a:cs typeface="Arial"/>
              </a:defRPr>
            </a:pPr>
            <a:r>
              <a:rPr sz="1950" b="0">
                <a:solidFill>
                  <a:srgbClr val="526B78"/>
                </a:solidFill>
                <a:latin typeface="Arial"/>
                <a:ea typeface="Arial"/>
                <a:cs typeface="Arial"/>
              </a:rPr>
              <a:t>Dependencia fija en v3: EjecutorReportesSql</a:t>
            </a:r>
          </a:p>
        </p:txBody>
      </p:sp>
    </p:spTree>
    <p:extLst>
      <p:ext uri="{BB962C8B-B14F-4D97-AF65-F5344CB8AC3E}">
        <p14:creationId xmlns:p14="http://schemas.microsoft.com/office/powerpoint/2010/main" val="5340776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itulo-2">
            <a:extLst xmlns:a="http://schemas.openxmlformats.org/drawingml/2006/main">
              <a:ext uri="{FF2B5EF4-FFF2-40B4-BE49-F238E27FC236}">
                <a16:creationId xmlns:a16="http://schemas.microsoft.com/office/drawing/2014/main" id="{55E56979-AAA0-410E-AEF9-C3FD97D440D4}"/>
              </a:ext>
            </a:extLst>
          </p:cNvPr>
          <p:cNvSpPr>
            <a:spLocks xmlns:a="http://schemas.openxmlformats.org/drawingml/2006/main" noGrp="1"/>
          </p:cNvSpPr>
          <p:nvPr/>
        </p:nvSpPr>
        <p:spPr>
          <a:xfrm xmlns:a="http://schemas.openxmlformats.org/drawingml/2006/main">
            <a:off x="609600" y="4381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225" b="1">
                <a:solidFill>
                  <a:srgbClr val="123548"/>
                </a:solidFill>
                <a:latin typeface="Arial"/>
                <a:ea typeface="Arial"/>
                <a:cs typeface="Arial"/>
              </a:defRPr>
            </a:pPr>
            <a:r>
              <a:rPr sz="3225" b="1">
                <a:solidFill>
                  <a:srgbClr val="123548"/>
                </a:solidFill>
                <a:latin typeface="Arial"/>
                <a:ea typeface="Arial"/>
                <a:cs typeface="Arial"/>
              </a:rPr>
              <a:t>Antes: el generador elige el ejecutor SQL</a:t>
            </a:r>
          </a:p>
        </p:txBody>
      </p:sp>
      <p:sp>
        <p:nvSpPr>
          <p:cNvPr id="2" name="pagina-2">
            <a:extLst xmlns:a="http://schemas.openxmlformats.org/drawingml/2006/main">
              <a:ext uri="{FF2B5EF4-FFF2-40B4-BE49-F238E27FC236}">
                <a16:creationId xmlns:a16="http://schemas.microsoft.com/office/drawing/2014/main" id="{06C90779-3365-4009-B26F-0439C9E106D1}"/>
              </a:ext>
            </a:extLst>
          </p:cNvPr>
          <p:cNvSpPr>
            <a:spLocks xmlns:a="http://schemas.openxmlformats.org/drawingml/2006/main" noGrp="1"/>
          </p:cNvSpPr>
          <p:nvPr/>
        </p:nvSpPr>
        <p:spPr>
          <a:xfrm xmlns:a="http://schemas.openxmlformats.org/drawingml/2006/main">
            <a:off x="11334750" y="6324600"/>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350" b="0">
                <a:solidFill>
                  <a:srgbClr val="526B78"/>
                </a:solidFill>
                <a:latin typeface="Arial"/>
                <a:ea typeface="Arial"/>
                <a:cs typeface="Arial"/>
              </a:defRPr>
            </a:pPr>
            <a:r>
              <a:rPr sz="1350" b="0">
                <a:solidFill>
                  <a:srgbClr val="526B78"/>
                </a:solidFill>
                <a:latin typeface="Arial"/>
                <a:ea typeface="Arial"/>
                <a:cs typeface="Arial"/>
              </a:rPr>
              <a:t>2</a:t>
            </a:r>
          </a:p>
        </p:txBody>
      </p:sp>
      <p:sp>
        <p:nvSpPr>
          <p:cNvPr id="3" name="antes-origen">
            <a:extLst xmlns:a="http://schemas.openxmlformats.org/drawingml/2006/main">
              <a:ext uri="{FF2B5EF4-FFF2-40B4-BE49-F238E27FC236}">
                <a16:creationId xmlns:a16="http://schemas.microsoft.com/office/drawing/2014/main" id="{27139548-66BC-4646-B607-E43D0ECE932C}"/>
              </a:ext>
            </a:extLst>
          </p:cNvPr>
          <p:cNvSpPr>
            <a:spLocks xmlns:a="http://schemas.openxmlformats.org/drawingml/2006/main" noGrp="1"/>
          </p:cNvSpPr>
          <p:nvPr/>
        </p:nvSpPr>
        <p:spPr>
          <a:xfrm xmlns:a="http://schemas.openxmlformats.org/drawingml/2006/main">
            <a:off x="609600" y="12382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a:solidFill>
                  <a:srgbClr val="526B78"/>
                </a:solidFill>
                <a:latin typeface="Arial"/>
                <a:ea typeface="Arial"/>
                <a:cs typeface="Arial"/>
              </a:defRPr>
            </a:pPr>
            <a:r>
              <a:rPr sz="1575" b="0">
                <a:solidFill>
                  <a:srgbClr val="526B78"/>
                </a:solidFill>
                <a:latin typeface="Arial"/>
                <a:ea typeface="Arial"/>
                <a:cs typeface="Arial"/>
              </a:rPr>
              <a:t>v3 / caso_reportes / GeneradorReportes.cs</a:t>
            </a:r>
          </a:p>
        </p:txBody>
      </p:sp>
      <p:sp>
        <p:nvSpPr>
          <p:cNvPr id="4" name="antes-fondo">
            <a:extLst xmlns:a="http://schemas.openxmlformats.org/drawingml/2006/main">
              <a:ext uri="{FF2B5EF4-FFF2-40B4-BE49-F238E27FC236}">
                <a16:creationId xmlns:a16="http://schemas.microsoft.com/office/drawing/2014/main" id="{B2CB4251-DD54-4AB1-A8FD-FB794DF4981A}"/>
              </a:ext>
            </a:extLst>
          </p:cNvPr>
          <p:cNvSpPr>
            <a:spLocks xmlns:a="http://schemas.openxmlformats.org/drawingml/2006/main" noGrp="1"/>
          </p:cNvSpPr>
          <p:nvPr/>
        </p:nvSpPr>
        <p:spPr>
          <a:xfrm xmlns:a="http://schemas.openxmlformats.org/drawingml/2006/main">
            <a:off x="609600" y="1790700"/>
            <a:ext cx="10953750" cy="3352800"/>
          </a:xfrm>
          <a:prstGeom xmlns:a="http://schemas.openxmlformats.org/drawingml/2006/main" prst="rect">
            <a:avLst/>
          </a:prstGeom>
          <a:solidFill xmlns:a="http://schemas.openxmlformats.org/drawingml/2006/main">
            <a:srgbClr val="ECF4F6"/>
          </a:solidFill>
          <a:ln xmlns:a="http://schemas.openxmlformats.org/drawingml/2006/main" w="0">
            <a:noFill/>
          </a:ln>
        </p:spPr>
      </p:sp>
      <p:sp>
        <p:nvSpPr>
          <p:cNvPr id="5" name="antes-1">
            <a:extLst xmlns:a="http://schemas.openxmlformats.org/drawingml/2006/main">
              <a:ext uri="{FF2B5EF4-FFF2-40B4-BE49-F238E27FC236}">
                <a16:creationId xmlns:a16="http://schemas.microsoft.com/office/drawing/2014/main" id="{1A0972F0-89FB-4214-A606-08643CF1F2A7}"/>
              </a:ext>
            </a:extLst>
          </p:cNvPr>
          <p:cNvSpPr>
            <a:spLocks xmlns:a="http://schemas.openxmlformats.org/drawingml/2006/main" noGrp="1"/>
          </p:cNvSpPr>
          <p:nvPr/>
        </p:nvSpPr>
        <p:spPr>
          <a:xfrm xmlns:a="http://schemas.openxmlformats.org/drawingml/2006/main">
            <a:off x="838200" y="2019300"/>
            <a:ext cx="10496550" cy="3680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5000"/>
              </a:lnSpc>
              <a:buNone/>
              <a:defRPr sz="2100" b="1">
                <a:solidFill>
                  <a:srgbClr val="087F8C"/>
                </a:solidFill>
                <a:latin typeface="Consolas"/>
                <a:ea typeface="Consolas"/>
                <a:cs typeface="Consolas"/>
              </a:defRPr>
            </a:pPr>
            <a:r>
              <a:rPr sz="2100" b="1">
                <a:solidFill>
                  <a:srgbClr val="087F8C"/>
                </a:solidFill>
                <a:latin typeface="Consolas"/>
                <a:ea typeface="Consolas"/>
                <a:cs typeface="Consolas"/>
              </a:rPr>
              <a:t>private readonly EjecutorReportesSql _sql;</a:t>
            </a:r>
          </a:p>
        </p:txBody>
      </p:sp>
      <p:sp>
        <p:nvSpPr>
          <p:cNvPr id="6" name="antes-2">
            <a:extLst xmlns:a="http://schemas.openxmlformats.org/drawingml/2006/main">
              <a:ext uri="{FF2B5EF4-FFF2-40B4-BE49-F238E27FC236}">
                <a16:creationId xmlns:a16="http://schemas.microsoft.com/office/drawing/2014/main" id="{D0B376E4-D87F-47E4-B1F4-7BA0CB2A53D9}"/>
              </a:ext>
            </a:extLst>
          </p:cNvPr>
          <p:cNvSpPr>
            <a:spLocks xmlns:a="http://schemas.openxmlformats.org/drawingml/2006/main" noGrp="1"/>
          </p:cNvSpPr>
          <p:nvPr/>
        </p:nvSpPr>
        <p:spPr>
          <a:xfrm xmlns:a="http://schemas.openxmlformats.org/drawingml/2006/main">
            <a:off x="838200" y="2387346"/>
            <a:ext cx="10496550" cy="3680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 name="antes-3">
            <a:extLst xmlns:a="http://schemas.openxmlformats.org/drawingml/2006/main">
              <a:ext uri="{FF2B5EF4-FFF2-40B4-BE49-F238E27FC236}">
                <a16:creationId xmlns:a16="http://schemas.microsoft.com/office/drawing/2014/main" id="{8EE9D44A-7B50-402B-8883-A297984EB263}"/>
              </a:ext>
            </a:extLst>
          </p:cNvPr>
          <p:cNvSpPr>
            <a:spLocks xmlns:a="http://schemas.openxmlformats.org/drawingml/2006/main" noGrp="1"/>
          </p:cNvSpPr>
          <p:nvPr/>
        </p:nvSpPr>
        <p:spPr>
          <a:xfrm xmlns:a="http://schemas.openxmlformats.org/drawingml/2006/main">
            <a:off x="838200" y="2755392"/>
            <a:ext cx="10496550" cy="3680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5000"/>
              </a:lnSpc>
              <a:buNone/>
              <a:defRPr sz="2100" b="0">
                <a:solidFill>
                  <a:srgbClr val="173F50"/>
                </a:solidFill>
                <a:latin typeface="Consolas"/>
                <a:ea typeface="Consolas"/>
                <a:cs typeface="Consolas"/>
              </a:defRPr>
            </a:pPr>
            <a:r>
              <a:rPr sz="2100" b="0">
                <a:solidFill>
                  <a:srgbClr val="173F50"/>
                </a:solidFill>
                <a:latin typeface="Consolas"/>
                <a:ea typeface="Consolas"/>
                <a:cs typeface="Consolas"/>
              </a:rPr>
              <a:t>public GeneradorReportes(SqlConnection conexion,</a:t>
            </a:r>
          </a:p>
        </p:txBody>
      </p:sp>
      <p:sp>
        <p:nvSpPr>
          <p:cNvPr id="8" name="antes-4">
            <a:extLst xmlns:a="http://schemas.openxmlformats.org/drawingml/2006/main">
              <a:ext uri="{FF2B5EF4-FFF2-40B4-BE49-F238E27FC236}">
                <a16:creationId xmlns:a16="http://schemas.microsoft.com/office/drawing/2014/main" id="{8A08CFF1-A459-44F4-9DF4-D5733C3A54D8}"/>
              </a:ext>
            </a:extLst>
          </p:cNvPr>
          <p:cNvSpPr>
            <a:spLocks xmlns:a="http://schemas.openxmlformats.org/drawingml/2006/main" noGrp="1"/>
          </p:cNvSpPr>
          <p:nvPr/>
        </p:nvSpPr>
        <p:spPr>
          <a:xfrm xmlns:a="http://schemas.openxmlformats.org/drawingml/2006/main">
            <a:off x="838200" y="3123438"/>
            <a:ext cx="10496550" cy="3680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5000"/>
              </a:lnSpc>
              <a:buNone/>
              <a:defRPr sz="2100" b="0">
                <a:solidFill>
                  <a:srgbClr val="173F50"/>
                </a:solidFill>
                <a:latin typeface="Consolas"/>
                <a:ea typeface="Consolas"/>
                <a:cs typeface="Consolas"/>
              </a:defRPr>
            </a:pPr>
            <a:r>
              <a:rPr sz="2100" b="0">
                <a:solidFill>
                  <a:srgbClr val="173F50"/>
                </a:solidFill>
                <a:latin typeface="Consolas"/>
                <a:ea typeface="Consolas"/>
                <a:cs typeface="Consolas"/>
              </a:rPr>
              <a:t>                        SqlDataAdapter adaptador)</a:t>
            </a:r>
          </a:p>
        </p:txBody>
      </p:sp>
      <p:sp>
        <p:nvSpPr>
          <p:cNvPr id="9" name="antes-5">
            <a:extLst xmlns:a="http://schemas.openxmlformats.org/drawingml/2006/main">
              <a:ext uri="{FF2B5EF4-FFF2-40B4-BE49-F238E27FC236}">
                <a16:creationId xmlns:a16="http://schemas.microsoft.com/office/drawing/2014/main" id="{FB73AEA2-EC6B-42D6-BEDD-D5551AB33504}"/>
              </a:ext>
            </a:extLst>
          </p:cNvPr>
          <p:cNvSpPr>
            <a:spLocks xmlns:a="http://schemas.openxmlformats.org/drawingml/2006/main" noGrp="1"/>
          </p:cNvSpPr>
          <p:nvPr/>
        </p:nvSpPr>
        <p:spPr>
          <a:xfrm xmlns:a="http://schemas.openxmlformats.org/drawingml/2006/main">
            <a:off x="838200" y="3491484"/>
            <a:ext cx="10496550" cy="3680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5000"/>
              </a:lnSpc>
              <a:buNone/>
              <a:defRPr sz="2100" b="0">
                <a:solidFill>
                  <a:srgbClr val="173F50"/>
                </a:solidFill>
                <a:latin typeface="Consolas"/>
                <a:ea typeface="Consolas"/>
                <a:cs typeface="Consolas"/>
              </a:defRPr>
            </a:pPr>
            <a:r>
              <a:rPr sz="2100" b="0">
                <a:solidFill>
                  <a:srgbClr val="173F50"/>
                </a:solidFill>
                <a:latin typeface="Consolas"/>
                <a:ea typeface="Consolas"/>
                <a:cs typeface="Consolas"/>
              </a:rPr>
              <a:t>{</a:t>
            </a:r>
          </a:p>
        </p:txBody>
      </p:sp>
      <p:sp>
        <p:nvSpPr>
          <p:cNvPr id="10" name="antes-6">
            <a:extLst xmlns:a="http://schemas.openxmlformats.org/drawingml/2006/main">
              <a:ext uri="{FF2B5EF4-FFF2-40B4-BE49-F238E27FC236}">
                <a16:creationId xmlns:a16="http://schemas.microsoft.com/office/drawing/2014/main" id="{79A6911B-94AD-4CD6-8B7A-72ECB949F900}"/>
              </a:ext>
            </a:extLst>
          </p:cNvPr>
          <p:cNvSpPr>
            <a:spLocks xmlns:a="http://schemas.openxmlformats.org/drawingml/2006/main" noGrp="1"/>
          </p:cNvSpPr>
          <p:nvPr/>
        </p:nvSpPr>
        <p:spPr>
          <a:xfrm xmlns:a="http://schemas.openxmlformats.org/drawingml/2006/main">
            <a:off x="838200" y="3859530"/>
            <a:ext cx="10496550" cy="3680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5000"/>
              </a:lnSpc>
              <a:buNone/>
              <a:defRPr sz="2100" b="0">
                <a:solidFill>
                  <a:srgbClr val="173F50"/>
                </a:solidFill>
                <a:latin typeface="Consolas"/>
                <a:ea typeface="Consolas"/>
                <a:cs typeface="Consolas"/>
              </a:defRPr>
            </a:pPr>
            <a:r>
              <a:rPr sz="2100" b="0">
                <a:solidFill>
                  <a:srgbClr val="173F50"/>
                </a:solidFill>
                <a:latin typeface="Consolas"/>
                <a:ea typeface="Consolas"/>
                <a:cs typeface="Consolas"/>
              </a:rPr>
              <a:t>    _conexion = conexion;</a:t>
            </a:r>
          </a:p>
        </p:txBody>
      </p:sp>
      <p:sp>
        <p:nvSpPr>
          <p:cNvPr id="11" name="antes-7">
            <a:extLst xmlns:a="http://schemas.openxmlformats.org/drawingml/2006/main">
              <a:ext uri="{FF2B5EF4-FFF2-40B4-BE49-F238E27FC236}">
                <a16:creationId xmlns:a16="http://schemas.microsoft.com/office/drawing/2014/main" id="{C056032E-FE9E-41E0-AE96-7A1FB6993DCE}"/>
              </a:ext>
            </a:extLst>
          </p:cNvPr>
          <p:cNvSpPr>
            <a:spLocks xmlns:a="http://schemas.openxmlformats.org/drawingml/2006/main" noGrp="1"/>
          </p:cNvSpPr>
          <p:nvPr/>
        </p:nvSpPr>
        <p:spPr>
          <a:xfrm xmlns:a="http://schemas.openxmlformats.org/drawingml/2006/main">
            <a:off x="838200" y="4227576"/>
            <a:ext cx="10496550" cy="3680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5000"/>
              </a:lnSpc>
              <a:buNone/>
              <a:defRPr sz="2100" b="1">
                <a:solidFill>
                  <a:srgbClr val="087F8C"/>
                </a:solidFill>
                <a:latin typeface="Consolas"/>
                <a:ea typeface="Consolas"/>
                <a:cs typeface="Consolas"/>
              </a:defRPr>
            </a:pPr>
            <a:r>
              <a:rPr sz="2100" b="1">
                <a:solidFill>
                  <a:srgbClr val="087F8C"/>
                </a:solidFill>
                <a:latin typeface="Consolas"/>
                <a:ea typeface="Consolas"/>
                <a:cs typeface="Consolas"/>
              </a:rPr>
              <a:t>    _sql = new EjecutorReportesSql(conexion, adaptador);</a:t>
            </a:r>
          </a:p>
        </p:txBody>
      </p:sp>
      <p:sp>
        <p:nvSpPr>
          <p:cNvPr id="12" name="antes-8">
            <a:extLst xmlns:a="http://schemas.openxmlformats.org/drawingml/2006/main">
              <a:ext uri="{FF2B5EF4-FFF2-40B4-BE49-F238E27FC236}">
                <a16:creationId xmlns:a16="http://schemas.microsoft.com/office/drawing/2014/main" id="{8748585C-AF06-407A-B8AE-E0678EBFF576}"/>
              </a:ext>
            </a:extLst>
          </p:cNvPr>
          <p:cNvSpPr>
            <a:spLocks xmlns:a="http://schemas.openxmlformats.org/drawingml/2006/main" noGrp="1"/>
          </p:cNvSpPr>
          <p:nvPr/>
        </p:nvSpPr>
        <p:spPr>
          <a:xfrm xmlns:a="http://schemas.openxmlformats.org/drawingml/2006/main">
            <a:off x="838200" y="4595622"/>
            <a:ext cx="10496550" cy="3680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5000"/>
              </a:lnSpc>
              <a:buNone/>
              <a:defRPr sz="2100" b="0">
                <a:solidFill>
                  <a:srgbClr val="173F50"/>
                </a:solidFill>
                <a:latin typeface="Consolas"/>
                <a:ea typeface="Consolas"/>
                <a:cs typeface="Consolas"/>
              </a:defRPr>
            </a:pPr>
            <a:r>
              <a:rPr sz="2100" b="0">
                <a:solidFill>
                  <a:srgbClr val="173F50"/>
                </a:solidFill>
                <a:latin typeface="Consolas"/>
                <a:ea typeface="Consolas"/>
                <a:cs typeface="Consolas"/>
              </a:rPr>
              <a:t>}</a:t>
            </a:r>
          </a:p>
        </p:txBody>
      </p:sp>
      <p:sp>
        <p:nvSpPr>
          <p:cNvPr id="13" name="antes-limitacion">
            <a:extLst xmlns:a="http://schemas.openxmlformats.org/drawingml/2006/main">
              <a:ext uri="{FF2B5EF4-FFF2-40B4-BE49-F238E27FC236}">
                <a16:creationId xmlns:a16="http://schemas.microsoft.com/office/drawing/2014/main" id="{D057A431-2F72-42E4-9669-A34C9909B0E1}"/>
              </a:ext>
            </a:extLst>
          </p:cNvPr>
          <p:cNvSpPr>
            <a:spLocks xmlns:a="http://schemas.openxmlformats.org/drawingml/2006/main" noGrp="1"/>
          </p:cNvSpPr>
          <p:nvPr/>
        </p:nvSpPr>
        <p:spPr>
          <a:xfrm xmlns:a="http://schemas.openxmlformats.org/drawingml/2006/main">
            <a:off x="609600" y="544830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175" b="0">
                <a:solidFill>
                  <a:srgbClr val="123548"/>
                </a:solidFill>
                <a:latin typeface="Arial"/>
                <a:ea typeface="Arial"/>
                <a:cs typeface="Arial"/>
              </a:defRPr>
            </a:pPr>
            <a:r>
              <a:rPr sz="2175" b="0">
                <a:solidFill>
                  <a:srgbClr val="123548"/>
                </a:solidFill>
                <a:latin typeface="Arial"/>
                <a:ea typeface="Arial"/>
                <a:cs typeface="Arial"/>
              </a:rPr>
              <a:t>Generar queda ligado a SQL. Una prueba completa necesita</a:t>
            </a:r>
          </a:p>
          <a:p xmlns:a="http://schemas.openxmlformats.org/drawingml/2006/main">
            <a:pPr algn="l">
              <a:lnSpc>
                <a:spcPct val="105000"/>
              </a:lnSpc>
              <a:buNone/>
              <a:defRPr sz="2175" b="0">
                <a:solidFill>
                  <a:srgbClr val="123548"/>
                </a:solidFill>
                <a:latin typeface="Arial"/>
                <a:ea typeface="Arial"/>
                <a:cs typeface="Arial"/>
              </a:defRPr>
            </a:pPr>
            <a:r>
              <a:rPr sz="2175" b="0">
                <a:solidFill>
                  <a:srgbClr val="123548"/>
                </a:solidFill>
                <a:latin typeface="Arial"/>
                <a:ea typeface="Arial"/>
                <a:cs typeface="Arial"/>
              </a:rPr>
              <a:t>sustituir la ejecución, pero v3 no permite hacerlo.</a:t>
            </a:r>
          </a:p>
        </p:txBody>
      </p:sp>
    </p:spTree>
    <p:extLst>
      <p:ext uri="{BB962C8B-B14F-4D97-AF65-F5344CB8AC3E}">
        <p14:creationId xmlns:p14="http://schemas.microsoft.com/office/powerpoint/2010/main" val="205885965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ulo-3">
            <a:extLst xmlns:a="http://schemas.openxmlformats.org/drawingml/2006/main">
              <a:ext uri="{FF2B5EF4-FFF2-40B4-BE49-F238E27FC236}">
                <a16:creationId xmlns:a16="http://schemas.microsoft.com/office/drawing/2014/main" id="{B6EFDAB0-98B3-4F05-8BDD-545CBC1CEDD5}"/>
              </a:ext>
            </a:extLst>
          </p:cNvPr>
          <p:cNvSpPr>
            <a:spLocks xmlns:a="http://schemas.openxmlformats.org/drawingml/2006/main" noGrp="1"/>
          </p:cNvSpPr>
          <p:nvPr/>
        </p:nvSpPr>
        <p:spPr>
          <a:xfrm xmlns:a="http://schemas.openxmlformats.org/drawingml/2006/main">
            <a:off x="609600" y="4381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225" b="1">
                <a:solidFill>
                  <a:srgbClr val="123548"/>
                </a:solidFill>
                <a:latin typeface="Arial"/>
                <a:ea typeface="Arial"/>
                <a:cs typeface="Arial"/>
              </a:defRPr>
            </a:pPr>
            <a:r>
              <a:rPr sz="3225" b="1">
                <a:solidFill>
                  <a:srgbClr val="123548"/>
                </a:solidFill>
                <a:latin typeface="Arial"/>
                <a:ea typeface="Arial"/>
                <a:cs typeface="Arial"/>
              </a:rPr>
              <a:t>Después: el constructor recibe la dependencia</a:t>
            </a:r>
          </a:p>
        </p:txBody>
      </p:sp>
      <p:sp>
        <p:nvSpPr>
          <p:cNvPr id="2" name="pagina-3">
            <a:extLst xmlns:a="http://schemas.openxmlformats.org/drawingml/2006/main">
              <a:ext uri="{FF2B5EF4-FFF2-40B4-BE49-F238E27FC236}">
                <a16:creationId xmlns:a16="http://schemas.microsoft.com/office/drawing/2014/main" id="{8A9BEA44-9FB6-488F-A122-E157143150AB}"/>
              </a:ext>
            </a:extLst>
          </p:cNvPr>
          <p:cNvSpPr>
            <a:spLocks xmlns:a="http://schemas.openxmlformats.org/drawingml/2006/main" noGrp="1"/>
          </p:cNvSpPr>
          <p:nvPr/>
        </p:nvSpPr>
        <p:spPr>
          <a:xfrm xmlns:a="http://schemas.openxmlformats.org/drawingml/2006/main">
            <a:off x="11334750" y="6324600"/>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350" b="0">
                <a:solidFill>
                  <a:srgbClr val="526B78"/>
                </a:solidFill>
                <a:latin typeface="Arial"/>
                <a:ea typeface="Arial"/>
                <a:cs typeface="Arial"/>
              </a:defRPr>
            </a:pPr>
            <a:r>
              <a:rPr sz="1350" b="0">
                <a:solidFill>
                  <a:srgbClr val="526B78"/>
                </a:solidFill>
                <a:latin typeface="Arial"/>
                <a:ea typeface="Arial"/>
                <a:cs typeface="Arial"/>
              </a:rPr>
              <a:t>3</a:t>
            </a:r>
          </a:p>
        </p:txBody>
      </p:sp>
      <p:sp>
        <p:nvSpPr>
          <p:cNvPr id="3" name="despues-interface-label">
            <a:extLst xmlns:a="http://schemas.openxmlformats.org/drawingml/2006/main">
              <a:ext uri="{FF2B5EF4-FFF2-40B4-BE49-F238E27FC236}">
                <a16:creationId xmlns:a16="http://schemas.microsoft.com/office/drawing/2014/main" id="{7BF9C663-0EB4-4EFA-A9BF-75EE6C49216F}"/>
              </a:ext>
            </a:extLst>
          </p:cNvPr>
          <p:cNvSpPr>
            <a:spLocks xmlns:a="http://schemas.openxmlformats.org/drawingml/2006/main" noGrp="1"/>
          </p:cNvSpPr>
          <p:nvPr/>
        </p:nvSpPr>
        <p:spPr>
          <a:xfrm xmlns:a="http://schemas.openxmlformats.org/drawingml/2006/main">
            <a:off x="609600" y="1276350"/>
            <a:ext cx="952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725" b="1">
                <a:solidFill>
                  <a:srgbClr val="087F8C"/>
                </a:solidFill>
                <a:latin typeface="Arial"/>
                <a:ea typeface="Arial"/>
                <a:cs typeface="Arial"/>
              </a:defRPr>
            </a:pPr>
            <a:r>
              <a:rPr sz="1725" b="1">
                <a:solidFill>
                  <a:srgbClr val="087F8C"/>
                </a:solidFill>
                <a:latin typeface="Arial"/>
                <a:ea typeface="Arial"/>
                <a:cs typeface="Arial"/>
              </a:rPr>
              <a:t>Contrato de ejecución</a:t>
            </a:r>
          </a:p>
        </p:txBody>
      </p:sp>
      <p:sp>
        <p:nvSpPr>
          <p:cNvPr id="4" name="interfaz-fondo">
            <a:extLst xmlns:a="http://schemas.openxmlformats.org/drawingml/2006/main">
              <a:ext uri="{FF2B5EF4-FFF2-40B4-BE49-F238E27FC236}">
                <a16:creationId xmlns:a16="http://schemas.microsoft.com/office/drawing/2014/main" id="{9D9512FF-88AD-443A-843D-8A249E645E55}"/>
              </a:ext>
            </a:extLst>
          </p:cNvPr>
          <p:cNvSpPr>
            <a:spLocks xmlns:a="http://schemas.openxmlformats.org/drawingml/2006/main" noGrp="1"/>
          </p:cNvSpPr>
          <p:nvPr/>
        </p:nvSpPr>
        <p:spPr>
          <a:xfrm xmlns:a="http://schemas.openxmlformats.org/drawingml/2006/main">
            <a:off x="609600" y="1733550"/>
            <a:ext cx="10953750" cy="1543050"/>
          </a:xfrm>
          <a:prstGeom xmlns:a="http://schemas.openxmlformats.org/drawingml/2006/main" prst="rect">
            <a:avLst/>
          </a:prstGeom>
          <a:solidFill xmlns:a="http://schemas.openxmlformats.org/drawingml/2006/main">
            <a:srgbClr val="ECF4F6"/>
          </a:solidFill>
          <a:ln xmlns:a="http://schemas.openxmlformats.org/drawingml/2006/main" w="0">
            <a:noFill/>
          </a:ln>
        </p:spPr>
      </p:sp>
      <p:sp>
        <p:nvSpPr>
          <p:cNvPr id="5" name="interfaz-1">
            <a:extLst xmlns:a="http://schemas.openxmlformats.org/drawingml/2006/main">
              <a:ext uri="{FF2B5EF4-FFF2-40B4-BE49-F238E27FC236}">
                <a16:creationId xmlns:a16="http://schemas.microsoft.com/office/drawing/2014/main" id="{002348C0-5727-42FC-8BCC-97924FB2677F}"/>
              </a:ext>
            </a:extLst>
          </p:cNvPr>
          <p:cNvSpPr>
            <a:spLocks xmlns:a="http://schemas.openxmlformats.org/drawingml/2006/main" noGrp="1"/>
          </p:cNvSpPr>
          <p:nvPr/>
        </p:nvSpPr>
        <p:spPr>
          <a:xfrm xmlns:a="http://schemas.openxmlformats.org/drawingml/2006/main">
            <a:off x="838200" y="1962150"/>
            <a:ext cx="10496550" cy="3154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5000"/>
              </a:lnSpc>
              <a:buNone/>
              <a:defRPr sz="1800" b="1">
                <a:solidFill>
                  <a:srgbClr val="087F8C"/>
                </a:solidFill>
                <a:latin typeface="Consolas"/>
                <a:ea typeface="Consolas"/>
                <a:cs typeface="Consolas"/>
              </a:defRPr>
            </a:pPr>
            <a:r>
              <a:rPr sz="1800" b="1">
                <a:solidFill>
                  <a:srgbClr val="087F8C"/>
                </a:solidFill>
                <a:latin typeface="Consolas"/>
                <a:ea typeface="Consolas"/>
                <a:cs typeface="Consolas"/>
              </a:rPr>
              <a:t>public interface IEjecutorReportes</a:t>
            </a:r>
          </a:p>
        </p:txBody>
      </p:sp>
      <p:sp>
        <p:nvSpPr>
          <p:cNvPr id="6" name="interfaz-2">
            <a:extLst xmlns:a="http://schemas.openxmlformats.org/drawingml/2006/main">
              <a:ext uri="{FF2B5EF4-FFF2-40B4-BE49-F238E27FC236}">
                <a16:creationId xmlns:a16="http://schemas.microsoft.com/office/drawing/2014/main" id="{56041E8D-04C3-4238-ACD7-5B837DA8CEED}"/>
              </a:ext>
            </a:extLst>
          </p:cNvPr>
          <p:cNvSpPr>
            <a:spLocks xmlns:a="http://schemas.openxmlformats.org/drawingml/2006/main" noGrp="1"/>
          </p:cNvSpPr>
          <p:nvPr/>
        </p:nvSpPr>
        <p:spPr>
          <a:xfrm xmlns:a="http://schemas.openxmlformats.org/drawingml/2006/main">
            <a:off x="838200" y="2277618"/>
            <a:ext cx="10496550" cy="3154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5000"/>
              </a:lnSpc>
              <a:buNone/>
              <a:defRPr sz="1800" b="0">
                <a:solidFill>
                  <a:srgbClr val="173F50"/>
                </a:solidFill>
                <a:latin typeface="Consolas"/>
                <a:ea typeface="Consolas"/>
                <a:cs typeface="Consolas"/>
              </a:defRPr>
            </a:pPr>
            <a:r>
              <a:rPr sz="1800" b="0">
                <a:solidFill>
                  <a:srgbClr val="173F50"/>
                </a:solidFill>
                <a:latin typeface="Consolas"/>
                <a:ea typeface="Consolas"/>
                <a:cs typeface="Consolas"/>
              </a:rPr>
              <a:t>{</a:t>
            </a:r>
          </a:p>
        </p:txBody>
      </p:sp>
      <p:sp>
        <p:nvSpPr>
          <p:cNvPr id="7" name="interfaz-3">
            <a:extLst xmlns:a="http://schemas.openxmlformats.org/drawingml/2006/main">
              <a:ext uri="{FF2B5EF4-FFF2-40B4-BE49-F238E27FC236}">
                <a16:creationId xmlns:a16="http://schemas.microsoft.com/office/drawing/2014/main" id="{E0A18548-84B6-47AB-ACDC-4B79F41AFF9C}"/>
              </a:ext>
            </a:extLst>
          </p:cNvPr>
          <p:cNvSpPr>
            <a:spLocks xmlns:a="http://schemas.openxmlformats.org/drawingml/2006/main" noGrp="1"/>
          </p:cNvSpPr>
          <p:nvPr/>
        </p:nvSpPr>
        <p:spPr>
          <a:xfrm xmlns:a="http://schemas.openxmlformats.org/drawingml/2006/main">
            <a:off x="838200" y="2593086"/>
            <a:ext cx="10496550" cy="3154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5000"/>
              </a:lnSpc>
              <a:buNone/>
              <a:defRPr sz="1800" b="1">
                <a:solidFill>
                  <a:srgbClr val="087F8C"/>
                </a:solidFill>
                <a:latin typeface="Consolas"/>
                <a:ea typeface="Consolas"/>
                <a:cs typeface="Consolas"/>
              </a:defRPr>
            </a:pPr>
            <a:r>
              <a:rPr sz="1800" b="1">
                <a:solidFill>
                  <a:srgbClr val="087F8C"/>
                </a:solidFill>
                <a:latin typeface="Consolas"/>
                <a:ea typeface="Consolas"/>
                <a:cs typeface="Consolas"/>
              </a:rPr>
              <a:t>    DataSet Ejecutar(ComandoReporte reporte);</a:t>
            </a:r>
          </a:p>
        </p:txBody>
      </p:sp>
      <p:sp>
        <p:nvSpPr>
          <p:cNvPr id="8" name="interfaz-4">
            <a:extLst xmlns:a="http://schemas.openxmlformats.org/drawingml/2006/main">
              <a:ext uri="{FF2B5EF4-FFF2-40B4-BE49-F238E27FC236}">
                <a16:creationId xmlns:a16="http://schemas.microsoft.com/office/drawing/2014/main" id="{A1D262E2-FC81-4E21-A885-905788FCEA3E}"/>
              </a:ext>
            </a:extLst>
          </p:cNvPr>
          <p:cNvSpPr>
            <a:spLocks xmlns:a="http://schemas.openxmlformats.org/drawingml/2006/main" noGrp="1"/>
          </p:cNvSpPr>
          <p:nvPr/>
        </p:nvSpPr>
        <p:spPr>
          <a:xfrm xmlns:a="http://schemas.openxmlformats.org/drawingml/2006/main">
            <a:off x="838200" y="2908554"/>
            <a:ext cx="10496550" cy="3154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5000"/>
              </a:lnSpc>
              <a:buNone/>
              <a:defRPr sz="1800" b="0">
                <a:solidFill>
                  <a:srgbClr val="173F50"/>
                </a:solidFill>
                <a:latin typeface="Consolas"/>
                <a:ea typeface="Consolas"/>
                <a:cs typeface="Consolas"/>
              </a:defRPr>
            </a:pPr>
            <a:r>
              <a:rPr sz="1800" b="0">
                <a:solidFill>
                  <a:srgbClr val="173F50"/>
                </a:solidFill>
                <a:latin typeface="Consolas"/>
                <a:ea typeface="Consolas"/>
                <a:cs typeface="Consolas"/>
              </a:rPr>
              <a:t>}</a:t>
            </a:r>
          </a:p>
        </p:txBody>
      </p:sp>
      <p:sp>
        <p:nvSpPr>
          <p:cNvPr id="9" name="despues-generador-label">
            <a:extLst xmlns:a="http://schemas.openxmlformats.org/drawingml/2006/main">
              <a:ext uri="{FF2B5EF4-FFF2-40B4-BE49-F238E27FC236}">
                <a16:creationId xmlns:a16="http://schemas.microsoft.com/office/drawing/2014/main" id="{1AFC0ECF-57F6-4B8D-9B67-C1FED08F68C7}"/>
              </a:ext>
            </a:extLst>
          </p:cNvPr>
          <p:cNvSpPr>
            <a:spLocks xmlns:a="http://schemas.openxmlformats.org/drawingml/2006/main" noGrp="1"/>
          </p:cNvSpPr>
          <p:nvPr/>
        </p:nvSpPr>
        <p:spPr>
          <a:xfrm xmlns:a="http://schemas.openxmlformats.org/drawingml/2006/main">
            <a:off x="609600" y="3524250"/>
            <a:ext cx="952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725" b="1">
                <a:solidFill>
                  <a:srgbClr val="087F8C"/>
                </a:solidFill>
                <a:latin typeface="Arial"/>
                <a:ea typeface="Arial"/>
                <a:cs typeface="Arial"/>
              </a:defRPr>
            </a:pPr>
            <a:r>
              <a:rPr sz="1725" b="1">
                <a:solidFill>
                  <a:srgbClr val="087F8C"/>
                </a:solidFill>
                <a:latin typeface="Arial"/>
                <a:ea typeface="Arial"/>
                <a:cs typeface="Arial"/>
              </a:rPr>
              <a:t>GeneradorReportes en v4</a:t>
            </a:r>
          </a:p>
        </p:txBody>
      </p:sp>
      <p:sp>
        <p:nvSpPr>
          <p:cNvPr id="10" name="inyeccion-fondo">
            <a:extLst xmlns:a="http://schemas.openxmlformats.org/drawingml/2006/main">
              <a:ext uri="{FF2B5EF4-FFF2-40B4-BE49-F238E27FC236}">
                <a16:creationId xmlns:a16="http://schemas.microsoft.com/office/drawing/2014/main" id="{E61463DF-EB52-4C44-A175-282FD073B7BE}"/>
              </a:ext>
            </a:extLst>
          </p:cNvPr>
          <p:cNvSpPr>
            <a:spLocks xmlns:a="http://schemas.openxmlformats.org/drawingml/2006/main" noGrp="1"/>
          </p:cNvSpPr>
          <p:nvPr/>
        </p:nvSpPr>
        <p:spPr>
          <a:xfrm xmlns:a="http://schemas.openxmlformats.org/drawingml/2006/main">
            <a:off x="609600" y="3943350"/>
            <a:ext cx="10953750" cy="2133600"/>
          </a:xfrm>
          <a:prstGeom xmlns:a="http://schemas.openxmlformats.org/drawingml/2006/main" prst="rect">
            <a:avLst/>
          </a:prstGeom>
          <a:solidFill xmlns:a="http://schemas.openxmlformats.org/drawingml/2006/main">
            <a:srgbClr val="ECF4F6"/>
          </a:solidFill>
          <a:ln xmlns:a="http://schemas.openxmlformats.org/drawingml/2006/main" w="0">
            <a:noFill/>
          </a:ln>
        </p:spPr>
      </p:sp>
      <p:sp>
        <p:nvSpPr>
          <p:cNvPr id="11" name="inyeccion-1">
            <a:extLst xmlns:a="http://schemas.openxmlformats.org/drawingml/2006/main">
              <a:ext uri="{FF2B5EF4-FFF2-40B4-BE49-F238E27FC236}">
                <a16:creationId xmlns:a16="http://schemas.microsoft.com/office/drawing/2014/main" id="{F1823D4C-6CCF-4B59-AEA0-0F28C16D6947}"/>
              </a:ext>
            </a:extLst>
          </p:cNvPr>
          <p:cNvSpPr>
            <a:spLocks xmlns:a="http://schemas.openxmlformats.org/drawingml/2006/main" noGrp="1"/>
          </p:cNvSpPr>
          <p:nvPr/>
        </p:nvSpPr>
        <p:spPr>
          <a:xfrm xmlns:a="http://schemas.openxmlformats.org/drawingml/2006/main">
            <a:off x="838200" y="4171950"/>
            <a:ext cx="10496550" cy="28917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5000"/>
              </a:lnSpc>
              <a:buNone/>
              <a:defRPr sz="1650" b="1">
                <a:solidFill>
                  <a:srgbClr val="087F8C"/>
                </a:solidFill>
                <a:latin typeface="Consolas"/>
                <a:ea typeface="Consolas"/>
                <a:cs typeface="Consolas"/>
              </a:defRPr>
            </a:pPr>
            <a:r>
              <a:rPr sz="1650" b="1">
                <a:solidFill>
                  <a:srgbClr val="087F8C"/>
                </a:solidFill>
                <a:latin typeface="Consolas"/>
                <a:ea typeface="Consolas"/>
                <a:cs typeface="Consolas"/>
              </a:rPr>
              <a:t>private readonly IEjecutorReportes _sql;</a:t>
            </a:r>
          </a:p>
        </p:txBody>
      </p:sp>
      <p:sp>
        <p:nvSpPr>
          <p:cNvPr id="12" name="inyeccion-2">
            <a:extLst xmlns:a="http://schemas.openxmlformats.org/drawingml/2006/main">
              <a:ext uri="{FF2B5EF4-FFF2-40B4-BE49-F238E27FC236}">
                <a16:creationId xmlns:a16="http://schemas.microsoft.com/office/drawing/2014/main" id="{2CFCBBF2-3CA4-4F54-917E-E85234737D41}"/>
              </a:ext>
            </a:extLst>
          </p:cNvPr>
          <p:cNvSpPr>
            <a:spLocks xmlns:a="http://schemas.openxmlformats.org/drawingml/2006/main" noGrp="1"/>
          </p:cNvSpPr>
          <p:nvPr/>
        </p:nvSpPr>
        <p:spPr>
          <a:xfrm xmlns:a="http://schemas.openxmlformats.org/drawingml/2006/main">
            <a:off x="838200" y="4461129"/>
            <a:ext cx="10496550" cy="28917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5000"/>
              </a:lnSpc>
              <a:buNone/>
              <a:defRPr sz="1650" b="0">
                <a:solidFill>
                  <a:srgbClr val="173F50"/>
                </a:solidFill>
                <a:latin typeface="Consolas"/>
                <a:ea typeface="Consolas"/>
                <a:cs typeface="Consolas"/>
              </a:defRPr>
            </a:pPr>
            <a:r>
              <a:rPr sz="1650" b="0">
                <a:solidFill>
                  <a:srgbClr val="173F50"/>
                </a:solidFill>
                <a:latin typeface="Consolas"/>
                <a:ea typeface="Consolas"/>
                <a:cs typeface="Consolas"/>
              </a:rPr>
              <a:t>public GeneradorReportes(SqlConnection conexion, IEjecutorReportes sql)</a:t>
            </a:r>
          </a:p>
        </p:txBody>
      </p:sp>
      <p:sp>
        <p:nvSpPr>
          <p:cNvPr id="13" name="inyeccion-3">
            <a:extLst xmlns:a="http://schemas.openxmlformats.org/drawingml/2006/main">
              <a:ext uri="{FF2B5EF4-FFF2-40B4-BE49-F238E27FC236}">
                <a16:creationId xmlns:a16="http://schemas.microsoft.com/office/drawing/2014/main" id="{644B9AE8-4904-4734-9FFA-9C5811D2B7D9}"/>
              </a:ext>
            </a:extLst>
          </p:cNvPr>
          <p:cNvSpPr>
            <a:spLocks xmlns:a="http://schemas.openxmlformats.org/drawingml/2006/main" noGrp="1"/>
          </p:cNvSpPr>
          <p:nvPr/>
        </p:nvSpPr>
        <p:spPr>
          <a:xfrm xmlns:a="http://schemas.openxmlformats.org/drawingml/2006/main">
            <a:off x="838200" y="4750308"/>
            <a:ext cx="10496550" cy="28917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5000"/>
              </a:lnSpc>
              <a:buNone/>
              <a:defRPr sz="1650" b="0">
                <a:solidFill>
                  <a:srgbClr val="173F50"/>
                </a:solidFill>
                <a:latin typeface="Consolas"/>
                <a:ea typeface="Consolas"/>
                <a:cs typeface="Consolas"/>
              </a:defRPr>
            </a:pPr>
            <a:r>
              <a:rPr sz="1650" b="0">
                <a:solidFill>
                  <a:srgbClr val="173F50"/>
                </a:solidFill>
                <a:latin typeface="Consolas"/>
                <a:ea typeface="Consolas"/>
                <a:cs typeface="Consolas"/>
              </a:rPr>
              <a:t>{</a:t>
            </a:r>
          </a:p>
        </p:txBody>
      </p:sp>
      <p:sp>
        <p:nvSpPr>
          <p:cNvPr id="14" name="inyeccion-4">
            <a:extLst xmlns:a="http://schemas.openxmlformats.org/drawingml/2006/main">
              <a:ext uri="{FF2B5EF4-FFF2-40B4-BE49-F238E27FC236}">
                <a16:creationId xmlns:a16="http://schemas.microsoft.com/office/drawing/2014/main" id="{FB84A40E-0C68-4608-9B1E-4398AF1C013C}"/>
              </a:ext>
            </a:extLst>
          </p:cNvPr>
          <p:cNvSpPr>
            <a:spLocks xmlns:a="http://schemas.openxmlformats.org/drawingml/2006/main" noGrp="1"/>
          </p:cNvSpPr>
          <p:nvPr/>
        </p:nvSpPr>
        <p:spPr>
          <a:xfrm xmlns:a="http://schemas.openxmlformats.org/drawingml/2006/main">
            <a:off x="838200" y="5039487"/>
            <a:ext cx="10496550" cy="28917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5000"/>
              </a:lnSpc>
              <a:buNone/>
              <a:defRPr sz="1650" b="0">
                <a:solidFill>
                  <a:srgbClr val="173F50"/>
                </a:solidFill>
                <a:latin typeface="Consolas"/>
                <a:ea typeface="Consolas"/>
                <a:cs typeface="Consolas"/>
              </a:defRPr>
            </a:pPr>
            <a:r>
              <a:rPr sz="1650" b="0">
                <a:solidFill>
                  <a:srgbClr val="173F50"/>
                </a:solidFill>
                <a:latin typeface="Consolas"/>
                <a:ea typeface="Consolas"/>
                <a:cs typeface="Consolas"/>
              </a:rPr>
              <a:t>    _conexion = conexion;</a:t>
            </a:r>
          </a:p>
        </p:txBody>
      </p:sp>
      <p:sp>
        <p:nvSpPr>
          <p:cNvPr id="15" name="inyeccion-5">
            <a:extLst xmlns:a="http://schemas.openxmlformats.org/drawingml/2006/main">
              <a:ext uri="{FF2B5EF4-FFF2-40B4-BE49-F238E27FC236}">
                <a16:creationId xmlns:a16="http://schemas.microsoft.com/office/drawing/2014/main" id="{CCF30C44-8450-4E9E-8A92-3F27F3F12611}"/>
              </a:ext>
            </a:extLst>
          </p:cNvPr>
          <p:cNvSpPr>
            <a:spLocks xmlns:a="http://schemas.openxmlformats.org/drawingml/2006/main" noGrp="1"/>
          </p:cNvSpPr>
          <p:nvPr/>
        </p:nvSpPr>
        <p:spPr>
          <a:xfrm xmlns:a="http://schemas.openxmlformats.org/drawingml/2006/main">
            <a:off x="838200" y="5328666"/>
            <a:ext cx="10496550" cy="28917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5000"/>
              </a:lnSpc>
              <a:buNone/>
              <a:defRPr sz="1650" b="1">
                <a:solidFill>
                  <a:srgbClr val="087F8C"/>
                </a:solidFill>
                <a:latin typeface="Consolas"/>
                <a:ea typeface="Consolas"/>
                <a:cs typeface="Consolas"/>
              </a:defRPr>
            </a:pPr>
            <a:r>
              <a:rPr sz="1650" b="1">
                <a:solidFill>
                  <a:srgbClr val="087F8C"/>
                </a:solidFill>
                <a:latin typeface="Consolas"/>
                <a:ea typeface="Consolas"/>
                <a:cs typeface="Consolas"/>
              </a:rPr>
              <a:t>    _sql = sql;</a:t>
            </a:r>
          </a:p>
        </p:txBody>
      </p:sp>
      <p:sp>
        <p:nvSpPr>
          <p:cNvPr id="16" name="inyeccion-6">
            <a:extLst xmlns:a="http://schemas.openxmlformats.org/drawingml/2006/main">
              <a:ext uri="{FF2B5EF4-FFF2-40B4-BE49-F238E27FC236}">
                <a16:creationId xmlns:a16="http://schemas.microsoft.com/office/drawing/2014/main" id="{8289CB2C-22FF-4180-9D24-B4FC8661A6F7}"/>
              </a:ext>
            </a:extLst>
          </p:cNvPr>
          <p:cNvSpPr>
            <a:spLocks xmlns:a="http://schemas.openxmlformats.org/drawingml/2006/main" noGrp="1"/>
          </p:cNvSpPr>
          <p:nvPr/>
        </p:nvSpPr>
        <p:spPr>
          <a:xfrm xmlns:a="http://schemas.openxmlformats.org/drawingml/2006/main">
            <a:off x="838200" y="5617845"/>
            <a:ext cx="10496550" cy="28917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5000"/>
              </a:lnSpc>
              <a:buNone/>
              <a:defRPr sz="1650" b="0">
                <a:solidFill>
                  <a:srgbClr val="173F50"/>
                </a:solidFill>
                <a:latin typeface="Consolas"/>
                <a:ea typeface="Consolas"/>
                <a:cs typeface="Consolas"/>
              </a:defRPr>
            </a:pPr>
            <a:r>
              <a:rPr sz="1650" b="0">
                <a:solidFill>
                  <a:srgbClr val="173F50"/>
                </a:solidFill>
                <a:latin typeface="Consolas"/>
                <a:ea typeface="Consolas"/>
                <a:cs typeface="Consolas"/>
              </a:rPr>
              <a:t>}</a:t>
            </a:r>
          </a:p>
        </p:txBody>
      </p:sp>
    </p:spTree>
    <p:extLst>
      <p:ext uri="{BB962C8B-B14F-4D97-AF65-F5344CB8AC3E}">
        <p14:creationId xmlns:p14="http://schemas.microsoft.com/office/powerpoint/2010/main" val="180065666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itulo-4">
            <a:extLst xmlns:a="http://schemas.openxmlformats.org/drawingml/2006/main">
              <a:ext uri="{FF2B5EF4-FFF2-40B4-BE49-F238E27FC236}">
                <a16:creationId xmlns:a16="http://schemas.microsoft.com/office/drawing/2014/main" id="{79A8829C-3C1B-4C7B-9FD7-F54B0B71494C}"/>
              </a:ext>
            </a:extLst>
          </p:cNvPr>
          <p:cNvSpPr>
            <a:spLocks xmlns:a="http://schemas.openxmlformats.org/drawingml/2006/main" noGrp="1"/>
          </p:cNvSpPr>
          <p:nvPr/>
        </p:nvSpPr>
        <p:spPr>
          <a:xfrm xmlns:a="http://schemas.openxmlformats.org/drawingml/2006/main">
            <a:off x="609600" y="4381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225" b="1">
                <a:solidFill>
                  <a:srgbClr val="123548"/>
                </a:solidFill>
                <a:latin typeface="Arial"/>
                <a:ea typeface="Arial"/>
                <a:cs typeface="Arial"/>
              </a:defRPr>
            </a:pPr>
            <a:r>
              <a:rPr sz="3225" b="1">
                <a:solidFill>
                  <a:srgbClr val="123548"/>
                </a:solidFill>
                <a:latin typeface="Arial"/>
                <a:ea typeface="Arial"/>
                <a:cs typeface="Arial"/>
              </a:rPr>
              <a:t>La composición crea los objetos fuera del generador</a:t>
            </a:r>
          </a:p>
        </p:txBody>
      </p:sp>
      <p:sp>
        <p:nvSpPr>
          <p:cNvPr id="2" name="pagina-4">
            <a:extLst xmlns:a="http://schemas.openxmlformats.org/drawingml/2006/main">
              <a:ext uri="{FF2B5EF4-FFF2-40B4-BE49-F238E27FC236}">
                <a16:creationId xmlns:a16="http://schemas.microsoft.com/office/drawing/2014/main" id="{3C7F5B8E-27EF-499D-8CD1-AF00A1C04F4B}"/>
              </a:ext>
            </a:extLst>
          </p:cNvPr>
          <p:cNvSpPr>
            <a:spLocks xmlns:a="http://schemas.openxmlformats.org/drawingml/2006/main" noGrp="1"/>
          </p:cNvSpPr>
          <p:nvPr/>
        </p:nvSpPr>
        <p:spPr>
          <a:xfrm xmlns:a="http://schemas.openxmlformats.org/drawingml/2006/main">
            <a:off x="11334750" y="6324600"/>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350" b="0">
                <a:solidFill>
                  <a:srgbClr val="526B78"/>
                </a:solidFill>
                <a:latin typeface="Arial"/>
                <a:ea typeface="Arial"/>
                <a:cs typeface="Arial"/>
              </a:defRPr>
            </a:pPr>
            <a:r>
              <a:rPr sz="1350" b="0">
                <a:solidFill>
                  <a:srgbClr val="526B78"/>
                </a:solidFill>
                <a:latin typeface="Arial"/>
                <a:ea typeface="Arial"/>
                <a:cs typeface="Arial"/>
              </a:rPr>
              <a:t>4</a:t>
            </a:r>
          </a:p>
        </p:txBody>
      </p:sp>
      <p:sp>
        <p:nvSpPr>
          <p:cNvPr id="3" name="composicion-subtitulo">
            <a:extLst xmlns:a="http://schemas.openxmlformats.org/drawingml/2006/main">
              <a:ext uri="{FF2B5EF4-FFF2-40B4-BE49-F238E27FC236}">
                <a16:creationId xmlns:a16="http://schemas.microsoft.com/office/drawing/2014/main" id="{85EBB22B-AF8D-4750-AF54-4B3D3AB33DD2}"/>
              </a:ext>
            </a:extLst>
          </p:cNvPr>
          <p:cNvSpPr>
            <a:spLocks xmlns:a="http://schemas.openxmlformats.org/drawingml/2006/main" noGrp="1"/>
          </p:cNvSpPr>
          <p:nvPr/>
        </p:nvSpPr>
        <p:spPr>
          <a:xfrm xmlns:a="http://schemas.openxmlformats.org/drawingml/2006/main">
            <a:off x="609600" y="1304925"/>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950" b="0">
                <a:solidFill>
                  <a:srgbClr val="087F8C"/>
                </a:solidFill>
                <a:latin typeface="Consolas"/>
                <a:ea typeface="Consolas"/>
                <a:cs typeface="Consolas"/>
              </a:defRPr>
            </a:pPr>
            <a:r>
              <a:rPr sz="1950" b="0">
                <a:solidFill>
                  <a:srgbClr val="087F8C"/>
                </a:solidFill>
                <a:latin typeface="Consolas"/>
                <a:ea typeface="Consolas"/>
                <a:cs typeface="Consolas"/>
              </a:rPr>
              <a:t>ComposicionReportes.CrearSql(conexion, adaptador)</a:t>
            </a:r>
          </a:p>
        </p:txBody>
      </p:sp>
      <p:sp>
        <p:nvSpPr>
          <p:cNvPr id="4" name="composicion-factory">
            <a:extLst xmlns:a="http://schemas.openxmlformats.org/drawingml/2006/main">
              <a:ext uri="{FF2B5EF4-FFF2-40B4-BE49-F238E27FC236}">
                <a16:creationId xmlns:a16="http://schemas.microsoft.com/office/drawing/2014/main" id="{E37D1675-409B-4EF6-89ED-4A42E151E271}"/>
              </a:ext>
            </a:extLst>
          </p:cNvPr>
          <p:cNvSpPr>
            <a:spLocks xmlns:a="http://schemas.openxmlformats.org/drawingml/2006/main" noGrp="1"/>
          </p:cNvSpPr>
          <p:nvPr/>
        </p:nvSpPr>
        <p:spPr>
          <a:xfrm xmlns:a="http://schemas.openxmlformats.org/drawingml/2006/main">
            <a:off x="609600" y="2247900"/>
            <a:ext cx="2857500" cy="1104900"/>
          </a:xfrm>
          <a:prstGeom xmlns:a="http://schemas.openxmlformats.org/drawingml/2006/main" prst="rect">
            <a:avLst/>
          </a:prstGeom>
          <a:noFill xmlns:a="http://schemas.openxmlformats.org/drawingml/2006/main"/>
          <a:ln xmlns:a="http://schemas.openxmlformats.org/drawingml/2006/main" w="19050">
            <a:solidFill>
              <a:srgbClr val="087F8C"/>
            </a:solid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2325" b="0">
                <a:solidFill>
                  <a:srgbClr val="123548"/>
                </a:solidFill>
                <a:latin typeface="Arial"/>
                <a:ea typeface="Arial"/>
                <a:cs typeface="Arial"/>
              </a:defRPr>
            </a:pPr>
            <a:r>
              <a:rPr sz="2325" b="0">
                <a:solidFill>
                  <a:srgbClr val="123548"/>
                </a:solidFill>
                <a:latin typeface="Arial"/>
                <a:ea typeface="Arial"/>
                <a:cs typeface="Arial"/>
              </a:rPr>
              <a:t>Composición</a:t>
            </a:r>
          </a:p>
          <a:p xmlns:a="http://schemas.openxmlformats.org/drawingml/2006/main">
            <a:pPr algn="ctr">
              <a:lnSpc>
                <a:spcPct val="105000"/>
              </a:lnSpc>
              <a:buNone/>
              <a:defRPr sz="2325" b="0">
                <a:solidFill>
                  <a:srgbClr val="123548"/>
                </a:solidFill>
                <a:latin typeface="Arial"/>
                <a:ea typeface="Arial"/>
                <a:cs typeface="Arial"/>
              </a:defRPr>
            </a:pPr>
            <a:r>
              <a:rPr sz="2325" b="0">
                <a:solidFill>
                  <a:srgbClr val="123548"/>
                </a:solidFill>
                <a:latin typeface="Arial"/>
                <a:ea typeface="Arial"/>
                <a:cs typeface="Arial"/>
              </a:rPr>
              <a:t>manual</a:t>
            </a:r>
          </a:p>
        </p:txBody>
      </p:sp>
      <p:sp>
        <p:nvSpPr>
          <p:cNvPr id="5" name="composicion-sql">
            <a:extLst xmlns:a="http://schemas.openxmlformats.org/drawingml/2006/main">
              <a:ext uri="{FF2B5EF4-FFF2-40B4-BE49-F238E27FC236}">
                <a16:creationId xmlns:a16="http://schemas.microsoft.com/office/drawing/2014/main" id="{E0013B4F-1C8C-4026-96EF-E13BD950FEDC}"/>
              </a:ext>
            </a:extLst>
          </p:cNvPr>
          <p:cNvSpPr>
            <a:spLocks xmlns:a="http://schemas.openxmlformats.org/drawingml/2006/main" noGrp="1"/>
          </p:cNvSpPr>
          <p:nvPr/>
        </p:nvSpPr>
        <p:spPr>
          <a:xfrm xmlns:a="http://schemas.openxmlformats.org/drawingml/2006/main">
            <a:off x="4552950" y="1962150"/>
            <a:ext cx="6896100" cy="1028700"/>
          </a:xfrm>
          <a:prstGeom xmlns:a="http://schemas.openxmlformats.org/drawingml/2006/main" prst="rect">
            <a:avLst/>
          </a:prstGeom>
          <a:noFill xmlns:a="http://schemas.openxmlformats.org/drawingml/2006/main"/>
          <a:ln xmlns:a="http://schemas.openxmlformats.org/drawingml/2006/main" w="19050">
            <a:solidFill>
              <a:srgbClr val="087F8C"/>
            </a:solid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2250" b="0">
                <a:solidFill>
                  <a:srgbClr val="123548"/>
                </a:solidFill>
                <a:latin typeface="Arial"/>
                <a:ea typeface="Arial"/>
                <a:cs typeface="Arial"/>
              </a:defRPr>
            </a:pPr>
            <a:r>
              <a:rPr sz="2250" b="0">
                <a:solidFill>
                  <a:srgbClr val="123548"/>
                </a:solidFill>
                <a:latin typeface="Arial"/>
                <a:ea typeface="Arial"/>
                <a:cs typeface="Arial"/>
              </a:rPr>
              <a:t>EjecutorReportesSql</a:t>
            </a:r>
          </a:p>
          <a:p xmlns:a="http://schemas.openxmlformats.org/drawingml/2006/main">
            <a:pPr algn="ctr">
              <a:lnSpc>
                <a:spcPct val="105000"/>
              </a:lnSpc>
              <a:buNone/>
              <a:defRPr sz="2250" b="0">
                <a:solidFill>
                  <a:srgbClr val="123548"/>
                </a:solidFill>
                <a:latin typeface="Arial"/>
                <a:ea typeface="Arial"/>
                <a:cs typeface="Arial"/>
              </a:defRPr>
            </a:pPr>
            <a:r>
              <a:rPr sz="2250" b="0">
                <a:solidFill>
                  <a:srgbClr val="123548"/>
                </a:solidFill>
                <a:latin typeface="Arial"/>
                <a:ea typeface="Arial"/>
                <a:cs typeface="Arial"/>
              </a:rPr>
              <a:t>con conexión y adaptador</a:t>
            </a:r>
          </a:p>
        </p:txBody>
      </p:sp>
      <p:sp>
        <p:nvSpPr>
          <p:cNvPr id="6" name="composicion-generador">
            <a:extLst xmlns:a="http://schemas.openxmlformats.org/drawingml/2006/main">
              <a:ext uri="{FF2B5EF4-FFF2-40B4-BE49-F238E27FC236}">
                <a16:creationId xmlns:a16="http://schemas.microsoft.com/office/drawing/2014/main" id="{F3370867-8B3B-491F-AC7C-452C8CCC5CFB}"/>
              </a:ext>
            </a:extLst>
          </p:cNvPr>
          <p:cNvSpPr>
            <a:spLocks xmlns:a="http://schemas.openxmlformats.org/drawingml/2006/main" noGrp="1"/>
          </p:cNvSpPr>
          <p:nvPr/>
        </p:nvSpPr>
        <p:spPr>
          <a:xfrm xmlns:a="http://schemas.openxmlformats.org/drawingml/2006/main">
            <a:off x="4552950" y="3705225"/>
            <a:ext cx="6896100" cy="1028700"/>
          </a:xfrm>
          <a:prstGeom xmlns:a="http://schemas.openxmlformats.org/drawingml/2006/main" prst="rect">
            <a:avLst/>
          </a:prstGeom>
          <a:noFill xmlns:a="http://schemas.openxmlformats.org/drawingml/2006/main"/>
          <a:ln xmlns:a="http://schemas.openxmlformats.org/drawingml/2006/main" w="19050">
            <a:solidFill>
              <a:srgbClr val="087F8C"/>
            </a:solid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2250" b="0">
                <a:solidFill>
                  <a:srgbClr val="123548"/>
                </a:solidFill>
                <a:latin typeface="Arial"/>
                <a:ea typeface="Arial"/>
                <a:cs typeface="Arial"/>
              </a:defRPr>
            </a:pPr>
            <a:r>
              <a:rPr sz="2250" b="0">
                <a:solidFill>
                  <a:srgbClr val="123548"/>
                </a:solidFill>
                <a:latin typeface="Arial"/>
                <a:ea typeface="Arial"/>
                <a:cs typeface="Arial"/>
              </a:rPr>
              <a:t>GeneradorReportes</a:t>
            </a:r>
          </a:p>
          <a:p xmlns:a="http://schemas.openxmlformats.org/drawingml/2006/main">
            <a:pPr algn="ctr">
              <a:lnSpc>
                <a:spcPct val="105000"/>
              </a:lnSpc>
              <a:buNone/>
              <a:defRPr sz="2250" b="0">
                <a:solidFill>
                  <a:srgbClr val="123548"/>
                </a:solidFill>
                <a:latin typeface="Arial"/>
                <a:ea typeface="Arial"/>
                <a:cs typeface="Arial"/>
              </a:defRPr>
            </a:pPr>
            <a:r>
              <a:rPr sz="2250" b="0">
                <a:solidFill>
                  <a:srgbClr val="123548"/>
                </a:solidFill>
                <a:latin typeface="Arial"/>
                <a:ea typeface="Arial"/>
                <a:cs typeface="Arial"/>
              </a:rPr>
              <a:t>recibe conexión y ejecutor</a:t>
            </a:r>
          </a:p>
        </p:txBody>
      </p: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467100" y="2476500"/>
            <a:ext cx="1085850" cy="323850"/>
          </a:xfrm>
          <a:prstGeom xmlns:a="http://schemas.openxmlformats.org/drawingml/2006/main" prst="bentConnector3">
            <a:avLst>
              <a:gd name="adj1" fmla="val 50000"/>
            </a:avLst>
          </a:prstGeom>
          <a:ln xmlns:a="http://schemas.openxmlformats.org/drawingml/2006/main" w="19050">
            <a:solidFill>
              <a:srgbClr val="087F8C"/>
            </a:solidFill>
            <a:tailEnd type="triangle" w="med" len="med"/>
          </a:ln>
        </p:spPr>
      </p:cxnSp>
      <p:cxnSp>
        <p:nvCxnSpPr>
          <p:cNvPr id="21" name=""/>
          <p:cNvCxnSpPr>
            <a:stCxn xmlns:a="http://schemas.openxmlformats.org/drawingml/2006/main" id="4" idx="2"/>
            <a:endCxn xmlns:a="http://schemas.openxmlformats.org/drawingml/2006/main" id="6" idx="1"/>
          </p:cNvCxnSpPr>
          <p:nvPr/>
        </p:nvCxnSpPr>
        <p:spPr>
          <a:xfrm xmlns:a="http://schemas.openxmlformats.org/drawingml/2006/main">
            <a:off x="2038350" y="3352800"/>
            <a:ext cx="2514600" cy="866775"/>
          </a:xfrm>
          <a:prstGeom xmlns:a="http://schemas.openxmlformats.org/drawingml/2006/main" prst="bentConnector3">
            <a:avLst>
              <a:gd name="adj1" fmla="val 0"/>
            </a:avLst>
          </a:prstGeom>
          <a:ln xmlns:a="http://schemas.openxmlformats.org/drawingml/2006/main" w="19050">
            <a:solidFill>
              <a:srgbClr val="087F8C"/>
            </a:solidFill>
            <a:tailEnd type="triangle" w="med" len="med"/>
          </a:ln>
        </p:spPr>
      </p:cxnSp>
      <p:cxnSp>
        <p:nvCxnSpPr>
          <p:cNvPr id="22" name=""/>
          <p:cNvCxnSpPr>
            <a:stCxn xmlns:a="http://schemas.openxmlformats.org/drawingml/2006/main" id="5" idx="2"/>
            <a:endCxn xmlns:a="http://schemas.openxmlformats.org/drawingml/2006/main" id="6" idx="0"/>
          </p:cNvCxnSpPr>
          <p:nvPr/>
        </p:nvCxnSpPr>
        <p:spPr>
          <a:xfrm xmlns:a="http://schemas.openxmlformats.org/drawingml/2006/main">
            <a:off x="8001000" y="2990850"/>
            <a:ext cx="0" cy="714375"/>
          </a:xfrm>
          <a:prstGeom xmlns:a="http://schemas.openxmlformats.org/drawingml/2006/main" prst="straightConnector1">
            <a:avLst/>
          </a:prstGeom>
          <a:ln xmlns:a="http://schemas.openxmlformats.org/drawingml/2006/main" w="19050">
            <a:solidFill>
              <a:srgbClr val="087F8C"/>
            </a:solidFill>
            <a:tailEnd type="triangle" w="med" len="med"/>
          </a:ln>
        </p:spPr>
      </p:cxnSp>
      <p:sp>
        <p:nvSpPr>
          <p:cNvPr id="10" name="composicion-paso1">
            <a:extLst xmlns:a="http://schemas.openxmlformats.org/drawingml/2006/main">
              <a:ext uri="{FF2B5EF4-FFF2-40B4-BE49-F238E27FC236}">
                <a16:creationId xmlns:a16="http://schemas.microsoft.com/office/drawing/2014/main" id="{D4A6AE7D-7BA7-4265-80B8-CDD1BE8C13B5}"/>
              </a:ext>
            </a:extLst>
          </p:cNvPr>
          <p:cNvSpPr>
            <a:spLocks xmlns:a="http://schemas.openxmlformats.org/drawingml/2006/main" noGrp="1"/>
          </p:cNvSpPr>
          <p:nvPr/>
        </p:nvSpPr>
        <p:spPr>
          <a:xfrm xmlns:a="http://schemas.openxmlformats.org/drawingml/2006/main">
            <a:off x="3571875" y="2247900"/>
            <a:ext cx="800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575" b="0">
                <a:solidFill>
                  <a:srgbClr val="526B78"/>
                </a:solidFill>
                <a:latin typeface="Arial"/>
                <a:ea typeface="Arial"/>
                <a:cs typeface="Arial"/>
              </a:defRPr>
            </a:pPr>
            <a:r>
              <a:rPr sz="1575" b="0">
                <a:solidFill>
                  <a:srgbClr val="526B78"/>
                </a:solidFill>
                <a:latin typeface="Arial"/>
                <a:ea typeface="Arial"/>
                <a:cs typeface="Arial"/>
              </a:rPr>
              <a:t>crea</a:t>
            </a:r>
          </a:p>
        </p:txBody>
      </p:sp>
      <p:sp>
        <p:nvSpPr>
          <p:cNvPr id="11" name="composicion-paso2">
            <a:extLst xmlns:a="http://schemas.openxmlformats.org/drawingml/2006/main">
              <a:ext uri="{FF2B5EF4-FFF2-40B4-BE49-F238E27FC236}">
                <a16:creationId xmlns:a16="http://schemas.microsoft.com/office/drawing/2014/main" id="{7949BDB4-8D26-4AE8-95A4-BF7FE5074B84}"/>
              </a:ext>
            </a:extLst>
          </p:cNvPr>
          <p:cNvSpPr>
            <a:spLocks xmlns:a="http://schemas.openxmlformats.org/drawingml/2006/main" noGrp="1"/>
          </p:cNvSpPr>
          <p:nvPr/>
        </p:nvSpPr>
        <p:spPr>
          <a:xfrm xmlns:a="http://schemas.openxmlformats.org/drawingml/2006/main">
            <a:off x="3571875" y="3838575"/>
            <a:ext cx="800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575" b="0">
                <a:solidFill>
                  <a:srgbClr val="526B78"/>
                </a:solidFill>
                <a:latin typeface="Arial"/>
                <a:ea typeface="Arial"/>
                <a:cs typeface="Arial"/>
              </a:defRPr>
            </a:pPr>
            <a:r>
              <a:rPr sz="1575" b="0">
                <a:solidFill>
                  <a:srgbClr val="526B78"/>
                </a:solidFill>
                <a:latin typeface="Arial"/>
                <a:ea typeface="Arial"/>
                <a:cs typeface="Arial"/>
              </a:rPr>
              <a:t>crea</a:t>
            </a:r>
          </a:p>
        </p:txBody>
      </p:sp>
      <p:sp>
        <p:nvSpPr>
          <p:cNvPr id="12" name="composicion-entrega">
            <a:extLst xmlns:a="http://schemas.openxmlformats.org/drawingml/2006/main">
              <a:ext uri="{FF2B5EF4-FFF2-40B4-BE49-F238E27FC236}">
                <a16:creationId xmlns:a16="http://schemas.microsoft.com/office/drawing/2014/main" id="{58D3E139-CCB4-4616-BC5B-059C02E72490}"/>
              </a:ext>
            </a:extLst>
          </p:cNvPr>
          <p:cNvSpPr>
            <a:spLocks xmlns:a="http://schemas.openxmlformats.org/drawingml/2006/main" noGrp="1"/>
          </p:cNvSpPr>
          <p:nvPr/>
        </p:nvSpPr>
        <p:spPr>
          <a:xfrm xmlns:a="http://schemas.openxmlformats.org/drawingml/2006/main">
            <a:off x="8239125" y="3181350"/>
            <a:ext cx="142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a:solidFill>
                  <a:srgbClr val="526B78"/>
                </a:solidFill>
                <a:latin typeface="Arial"/>
                <a:ea typeface="Arial"/>
                <a:cs typeface="Arial"/>
              </a:defRPr>
            </a:pPr>
            <a:r>
              <a:rPr sz="1575" b="0">
                <a:solidFill>
                  <a:srgbClr val="526B78"/>
                </a:solidFill>
                <a:latin typeface="Arial"/>
                <a:ea typeface="Arial"/>
                <a:cs typeface="Arial"/>
              </a:rPr>
              <a:t>se entrega</a:t>
            </a:r>
          </a:p>
        </p:txBody>
      </p:sp>
      <p:sp>
        <p:nvSpPr>
          <p:cNvPr id="13" name="composicion-sin-container">
            <a:extLst xmlns:a="http://schemas.openxmlformats.org/drawingml/2006/main">
              <a:ext uri="{FF2B5EF4-FFF2-40B4-BE49-F238E27FC236}">
                <a16:creationId xmlns:a16="http://schemas.microsoft.com/office/drawing/2014/main" id="{283D6497-F8ED-47B4-9876-487BC0A03E77}"/>
              </a:ext>
            </a:extLst>
          </p:cNvPr>
          <p:cNvSpPr>
            <a:spLocks xmlns:a="http://schemas.openxmlformats.org/drawingml/2006/main" noGrp="1"/>
          </p:cNvSpPr>
          <p:nvPr/>
        </p:nvSpPr>
        <p:spPr>
          <a:xfrm xmlns:a="http://schemas.openxmlformats.org/drawingml/2006/main">
            <a:off x="609600" y="5238750"/>
            <a:ext cx="10763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100" b="0">
                <a:solidFill>
                  <a:srgbClr val="123548"/>
                </a:solidFill>
                <a:latin typeface="Arial"/>
                <a:ea typeface="Arial"/>
                <a:cs typeface="Arial"/>
              </a:defRPr>
            </a:pPr>
            <a:r>
              <a:rPr sz="2100" b="0">
                <a:solidFill>
                  <a:srgbClr val="123548"/>
                </a:solidFill>
                <a:latin typeface="Arial"/>
                <a:ea typeface="Arial"/>
                <a:cs typeface="Arial"/>
              </a:rPr>
              <a:t>La fachada usa CrearSql(...).Generar(definicion).</a:t>
            </a:r>
          </a:p>
          <a:p xmlns:a="http://schemas.openxmlformats.org/drawingml/2006/main">
            <a:pPr algn="l">
              <a:lnSpc>
                <a:spcPct val="105000"/>
              </a:lnSpc>
              <a:buNone/>
              <a:defRPr sz="2100" b="0">
                <a:solidFill>
                  <a:srgbClr val="123548"/>
                </a:solidFill>
                <a:latin typeface="Arial"/>
                <a:ea typeface="Arial"/>
                <a:cs typeface="Arial"/>
              </a:defRPr>
            </a:pPr>
            <a:r>
              <a:rPr sz="2100" b="0">
                <a:solidFill>
                  <a:srgbClr val="123548"/>
                </a:solidFill>
                <a:latin typeface="Arial"/>
                <a:ea typeface="Arial"/>
                <a:cs typeface="Arial"/>
              </a:rPr>
              <a:t>El caso utiliza inyección por constructor y composición manual.</a:t>
            </a:r>
          </a:p>
        </p:txBody>
      </p:sp>
    </p:spTree>
    <p:extLst>
      <p:ext uri="{BB962C8B-B14F-4D97-AF65-F5344CB8AC3E}">
        <p14:creationId xmlns:p14="http://schemas.microsoft.com/office/powerpoint/2010/main" val="140821184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ulo-5">
            <a:extLst xmlns:a="http://schemas.openxmlformats.org/drawingml/2006/main">
              <a:ext uri="{FF2B5EF4-FFF2-40B4-BE49-F238E27FC236}">
                <a16:creationId xmlns:a16="http://schemas.microsoft.com/office/drawing/2014/main" id="{A4F948A5-8863-4236-9B61-3AF16D25F5BE}"/>
              </a:ext>
            </a:extLst>
          </p:cNvPr>
          <p:cNvSpPr>
            <a:spLocks xmlns:a="http://schemas.openxmlformats.org/drawingml/2006/main" noGrp="1"/>
          </p:cNvSpPr>
          <p:nvPr/>
        </p:nvSpPr>
        <p:spPr>
          <a:xfrm xmlns:a="http://schemas.openxmlformats.org/drawingml/2006/main">
            <a:off x="609600" y="4381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225" b="1">
                <a:solidFill>
                  <a:srgbClr val="123548"/>
                </a:solidFill>
                <a:latin typeface="Arial"/>
                <a:ea typeface="Arial"/>
                <a:cs typeface="Arial"/>
              </a:defRPr>
            </a:pPr>
            <a:r>
              <a:rPr sz="3225" b="1">
                <a:solidFill>
                  <a:srgbClr val="123548"/>
                </a:solidFill>
                <a:latin typeface="Arial"/>
                <a:ea typeface="Arial"/>
                <a:cs typeface="Arial"/>
              </a:rPr>
              <a:t>Generar completo funciona con un sustituto</a:t>
            </a:r>
          </a:p>
        </p:txBody>
      </p:sp>
      <p:sp>
        <p:nvSpPr>
          <p:cNvPr id="2" name="pagina-5">
            <a:extLst xmlns:a="http://schemas.openxmlformats.org/drawingml/2006/main">
              <a:ext uri="{FF2B5EF4-FFF2-40B4-BE49-F238E27FC236}">
                <a16:creationId xmlns:a16="http://schemas.microsoft.com/office/drawing/2014/main" id="{CA3405E4-4786-4EA8-AB09-26F911E85F01}"/>
              </a:ext>
            </a:extLst>
          </p:cNvPr>
          <p:cNvSpPr>
            <a:spLocks xmlns:a="http://schemas.openxmlformats.org/drawingml/2006/main" noGrp="1"/>
          </p:cNvSpPr>
          <p:nvPr/>
        </p:nvSpPr>
        <p:spPr>
          <a:xfrm xmlns:a="http://schemas.openxmlformats.org/drawingml/2006/main">
            <a:off x="11334750" y="6324600"/>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350" b="0">
                <a:solidFill>
                  <a:srgbClr val="526B78"/>
                </a:solidFill>
                <a:latin typeface="Arial"/>
                <a:ea typeface="Arial"/>
                <a:cs typeface="Arial"/>
              </a:defRPr>
            </a:pPr>
            <a:r>
              <a:rPr sz="1350" b="0">
                <a:solidFill>
                  <a:srgbClr val="526B78"/>
                </a:solidFill>
                <a:latin typeface="Arial"/>
                <a:ea typeface="Arial"/>
                <a:cs typeface="Arial"/>
              </a:rPr>
              <a:t>5</a:t>
            </a:r>
          </a:p>
        </p:txBody>
      </p:sp>
      <p:sp>
        <p:nvSpPr>
          <p:cNvPr id="3" name="pruebas-estado">
            <a:extLst xmlns:a="http://schemas.openxmlformats.org/drawingml/2006/main">
              <a:ext uri="{FF2B5EF4-FFF2-40B4-BE49-F238E27FC236}">
                <a16:creationId xmlns:a16="http://schemas.microsoft.com/office/drawing/2014/main" id="{C97D0A26-1166-4FFD-BC98-A86808E252D6}"/>
              </a:ext>
            </a:extLst>
          </p:cNvPr>
          <p:cNvSpPr>
            <a:spLocks xmlns:a="http://schemas.openxmlformats.org/drawingml/2006/main" noGrp="1"/>
          </p:cNvSpPr>
          <p:nvPr/>
        </p:nvSpPr>
        <p:spPr>
          <a:xfrm xmlns:a="http://schemas.openxmlformats.org/drawingml/2006/main">
            <a:off x="609600" y="1485900"/>
            <a:ext cx="342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4500" b="1">
                <a:solidFill>
                  <a:srgbClr val="087F8C"/>
                </a:solidFill>
                <a:latin typeface="Arial"/>
                <a:ea typeface="Arial"/>
                <a:cs typeface="Arial"/>
              </a:defRPr>
            </a:pPr>
            <a:r>
              <a:rPr sz="4500" b="1">
                <a:solidFill>
                  <a:srgbClr val="087F8C"/>
                </a:solidFill>
                <a:latin typeface="Arial"/>
                <a:ea typeface="Arial"/>
                <a:cs typeface="Arial"/>
              </a:rPr>
              <a:t>PASS</a:t>
            </a:r>
          </a:p>
        </p:txBody>
      </p:sp>
      <p:sp>
        <p:nvSpPr>
          <p:cNvPr id="4" name="pruebas-conteo">
            <a:extLst xmlns:a="http://schemas.openxmlformats.org/drawingml/2006/main">
              <a:ext uri="{FF2B5EF4-FFF2-40B4-BE49-F238E27FC236}">
                <a16:creationId xmlns:a16="http://schemas.microsoft.com/office/drawing/2014/main" id="{3BB99ADD-26D2-4D2E-9518-DBAEF90E209C}"/>
              </a:ext>
            </a:extLst>
          </p:cNvPr>
          <p:cNvSpPr>
            <a:spLocks xmlns:a="http://schemas.openxmlformats.org/drawingml/2006/main" noGrp="1"/>
          </p:cNvSpPr>
          <p:nvPr/>
        </p:nvSpPr>
        <p:spPr>
          <a:xfrm xmlns:a="http://schemas.openxmlformats.org/drawingml/2006/main">
            <a:off x="609600" y="2457450"/>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625" b="1">
                <a:solidFill>
                  <a:srgbClr val="123548"/>
                </a:solidFill>
                <a:latin typeface="Arial"/>
                <a:ea typeface="Arial"/>
                <a:cs typeface="Arial"/>
              </a:defRPr>
            </a:pPr>
            <a:r>
              <a:rPr sz="2625" b="1">
                <a:solidFill>
                  <a:srgbClr val="123548"/>
                </a:solidFill>
                <a:latin typeface="Arial"/>
                <a:ea typeface="Arial"/>
                <a:cs typeface="Arial"/>
              </a:rPr>
              <a:t>16 escenarios aprobados sin abrir SQL</a:t>
            </a:r>
          </a:p>
        </p:txBody>
      </p:sp>
      <p:sp>
        <p:nvSpPr>
          <p:cNvPr id="5" name="pruebas-flujo">
            <a:extLst xmlns:a="http://schemas.openxmlformats.org/drawingml/2006/main">
              <a:ext uri="{FF2B5EF4-FFF2-40B4-BE49-F238E27FC236}">
                <a16:creationId xmlns:a16="http://schemas.microsoft.com/office/drawing/2014/main" id="{A160C9F0-F6A6-42B3-923F-B65B28E1A5B3}"/>
              </a:ext>
            </a:extLst>
          </p:cNvPr>
          <p:cNvSpPr>
            <a:spLocks xmlns:a="http://schemas.openxmlformats.org/drawingml/2006/main" noGrp="1"/>
          </p:cNvSpPr>
          <p:nvPr/>
        </p:nvSpPr>
        <p:spPr>
          <a:xfrm xmlns:a="http://schemas.openxmlformats.org/drawingml/2006/main">
            <a:off x="609600" y="335280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175" b="0">
                <a:solidFill>
                  <a:srgbClr val="123548"/>
                </a:solidFill>
                <a:latin typeface="Arial"/>
                <a:ea typeface="Arial"/>
                <a:cs typeface="Arial"/>
              </a:defRPr>
            </a:pPr>
            <a:r>
              <a:rPr sz="2175" b="0">
                <a:solidFill>
                  <a:srgbClr val="123548"/>
                </a:solidFill>
                <a:latin typeface="Arial"/>
                <a:ea typeface="Arial"/>
                <a:cs typeface="Arial"/>
              </a:rPr>
              <a:t>GeneradorReportes recibe un IEjecutorReportes de prueba.</a:t>
            </a:r>
          </a:p>
          <a:p xmlns:a="http://schemas.openxmlformats.org/drawingml/2006/main">
            <a:pPr algn="l">
              <a:lnSpc>
                <a:spcPct val="105000"/>
              </a:lnSpc>
              <a:buNone/>
              <a:defRPr sz="2175" b="0">
                <a:solidFill>
                  <a:srgbClr val="123548"/>
                </a:solidFill>
                <a:latin typeface="Arial"/>
                <a:ea typeface="Arial"/>
                <a:cs typeface="Arial"/>
              </a:defRPr>
            </a:pPr>
            <a:r>
              <a:rPr sz="2175" b="0">
                <a:solidFill>
                  <a:srgbClr val="123548"/>
                </a:solidFill>
                <a:latin typeface="Arial"/>
                <a:ea typeface="Arial"/>
                <a:cs typeface="Arial"/>
              </a:rPr>
              <a:t>El sustituto registra el ComandoReporte y devuelve un DataSet conocido.</a:t>
            </a:r>
          </a:p>
        </p:txBody>
      </p:sp>
      <p:sp>
        <p:nvSpPr>
          <p:cNvPr id="6" name="pruebas-detalle">
            <a:extLst xmlns:a="http://schemas.openxmlformats.org/drawingml/2006/main">
              <a:ext uri="{FF2B5EF4-FFF2-40B4-BE49-F238E27FC236}">
                <a16:creationId xmlns:a16="http://schemas.microsoft.com/office/drawing/2014/main" id="{69570B9B-EC10-462A-9C6B-D651D6836190}"/>
              </a:ext>
            </a:extLst>
          </p:cNvPr>
          <p:cNvSpPr>
            <a:spLocks xmlns:a="http://schemas.openxmlformats.org/drawingml/2006/main" noGrp="1"/>
          </p:cNvSpPr>
          <p:nvPr/>
        </p:nvSpPr>
        <p:spPr>
          <a:xfrm xmlns:a="http://schemas.openxmlformats.org/drawingml/2006/main">
            <a:off x="609600" y="4648200"/>
            <a:ext cx="108585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025" b="0">
                <a:solidFill>
                  <a:srgbClr val="123548"/>
                </a:solidFill>
                <a:latin typeface="Arial"/>
                <a:ea typeface="Arial"/>
                <a:cs typeface="Arial"/>
              </a:defRPr>
            </a:pPr>
            <a:r>
              <a:rPr sz="2025" b="0">
                <a:solidFill>
                  <a:srgbClr val="123548"/>
                </a:solidFill>
                <a:latin typeface="Arial"/>
                <a:ea typeface="Arial"/>
                <a:cs typeface="Arial"/>
              </a:rPr>
              <a:t>11 contratos de reporte ejercitados con Generar completo.</a:t>
            </a:r>
          </a:p>
          <a:p xmlns:a="http://schemas.openxmlformats.org/drawingml/2006/main">
            <a:pPr algn="l">
              <a:lnSpc>
                <a:spcPct val="105000"/>
              </a:lnSpc>
              <a:buNone/>
              <a:defRPr sz="2025" b="0">
                <a:solidFill>
                  <a:srgbClr val="123548"/>
                </a:solidFill>
                <a:latin typeface="Arial"/>
                <a:ea typeface="Arial"/>
                <a:cs typeface="Arial"/>
              </a:defRPr>
            </a:pPr>
            <a:r>
              <a:rPr sz="2025" b="0">
                <a:solidFill>
                  <a:srgbClr val="123548"/>
                </a:solidFill>
                <a:latin typeface="Arial"/>
                <a:ea typeface="Arial"/>
                <a:cs typeface="Arial"/>
              </a:rPr>
              <a:t>Retorno del DataSet y propagación de errores comprobados.</a:t>
            </a:r>
          </a:p>
          <a:p xmlns:a="http://schemas.openxmlformats.org/drawingml/2006/main">
            <a:pPr algn="l">
              <a:lnSpc>
                <a:spcPct val="105000"/>
              </a:lnSpc>
              <a:buNone/>
              <a:defRPr sz="2025" b="0">
                <a:solidFill>
                  <a:srgbClr val="123548"/>
                </a:solidFill>
                <a:latin typeface="Arial"/>
                <a:ea typeface="Arial"/>
                <a:cs typeface="Arial"/>
              </a:defRPr>
            </a:pPr>
            <a:r>
              <a:rPr sz="2025" b="0">
                <a:solidFill>
                  <a:srgbClr val="123548"/>
                </a:solidFill>
                <a:latin typeface="Arial"/>
                <a:ea typeface="Arial"/>
                <a:cs typeface="Arial"/>
              </a:rPr>
              <a:t>Conexión cerrada. Datos sintéticos.</a:t>
            </a:r>
          </a:p>
        </p:txBody>
      </p:sp>
    </p:spTree>
    <p:extLst>
      <p:ext uri="{BB962C8B-B14F-4D97-AF65-F5344CB8AC3E}">
        <p14:creationId xmlns:p14="http://schemas.microsoft.com/office/powerpoint/2010/main" val="75300612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ulo-6">
            <a:extLst xmlns:a="http://schemas.openxmlformats.org/drawingml/2006/main">
              <a:ext uri="{FF2B5EF4-FFF2-40B4-BE49-F238E27FC236}">
                <a16:creationId xmlns:a16="http://schemas.microsoft.com/office/drawing/2014/main" id="{716A9B1D-13C8-4C9E-BCCA-895B16719CFE}"/>
              </a:ext>
            </a:extLst>
          </p:cNvPr>
          <p:cNvSpPr>
            <a:spLocks xmlns:a="http://schemas.openxmlformats.org/drawingml/2006/main" noGrp="1"/>
          </p:cNvSpPr>
          <p:nvPr/>
        </p:nvSpPr>
        <p:spPr>
          <a:xfrm xmlns:a="http://schemas.openxmlformats.org/drawingml/2006/main">
            <a:off x="609600" y="4381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3225" b="1">
                <a:solidFill>
                  <a:srgbClr val="123548"/>
                </a:solidFill>
                <a:latin typeface="Arial"/>
                <a:ea typeface="Arial"/>
                <a:cs typeface="Arial"/>
              </a:defRPr>
            </a:pPr>
            <a:r>
              <a:rPr sz="3225" b="1">
                <a:solidFill>
                  <a:srgbClr val="123548"/>
                </a:solidFill>
                <a:latin typeface="Arial"/>
                <a:ea typeface="Arial"/>
                <a:cs typeface="Arial"/>
              </a:rPr>
              <a:t>Aporte y límites de esta mejora</a:t>
            </a:r>
          </a:p>
        </p:txBody>
      </p:sp>
      <p:sp>
        <p:nvSpPr>
          <p:cNvPr id="2" name="pagina-6">
            <a:extLst xmlns:a="http://schemas.openxmlformats.org/drawingml/2006/main">
              <a:ext uri="{FF2B5EF4-FFF2-40B4-BE49-F238E27FC236}">
                <a16:creationId xmlns:a16="http://schemas.microsoft.com/office/drawing/2014/main" id="{C0641757-8697-41BE-959A-7761ABAAE383}"/>
              </a:ext>
            </a:extLst>
          </p:cNvPr>
          <p:cNvSpPr>
            <a:spLocks xmlns:a="http://schemas.openxmlformats.org/drawingml/2006/main" noGrp="1"/>
          </p:cNvSpPr>
          <p:nvPr/>
        </p:nvSpPr>
        <p:spPr>
          <a:xfrm xmlns:a="http://schemas.openxmlformats.org/drawingml/2006/main">
            <a:off x="11334750" y="6324600"/>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350" b="0">
                <a:solidFill>
                  <a:srgbClr val="526B78"/>
                </a:solidFill>
                <a:latin typeface="Arial"/>
                <a:ea typeface="Arial"/>
                <a:cs typeface="Arial"/>
              </a:defRPr>
            </a:pPr>
            <a:r>
              <a:rPr sz="1350" b="0">
                <a:solidFill>
                  <a:srgbClr val="526B78"/>
                </a:solidFill>
                <a:latin typeface="Arial"/>
                <a:ea typeface="Arial"/>
                <a:cs typeface="Arial"/>
              </a:rPr>
              <a:t>6</a:t>
            </a:r>
          </a:p>
        </p:txBody>
      </p:sp>
      <p:sp>
        <p:nvSpPr>
          <p:cNvPr id="3" name="aportes-label">
            <a:extLst xmlns:a="http://schemas.openxmlformats.org/drawingml/2006/main">
              <a:ext uri="{FF2B5EF4-FFF2-40B4-BE49-F238E27FC236}">
                <a16:creationId xmlns:a16="http://schemas.microsoft.com/office/drawing/2014/main" id="{97F41443-A115-4600-AEEF-E5266CA06E21}"/>
              </a:ext>
            </a:extLst>
          </p:cNvPr>
          <p:cNvSpPr>
            <a:spLocks xmlns:a="http://schemas.openxmlformats.org/drawingml/2006/main" noGrp="1"/>
          </p:cNvSpPr>
          <p:nvPr/>
        </p:nvSpPr>
        <p:spPr>
          <a:xfrm xmlns:a="http://schemas.openxmlformats.org/drawingml/2006/main">
            <a:off x="609600" y="14668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175" b="1">
                <a:solidFill>
                  <a:srgbClr val="087F8C"/>
                </a:solidFill>
                <a:latin typeface="Arial"/>
                <a:ea typeface="Arial"/>
                <a:cs typeface="Arial"/>
              </a:defRPr>
            </a:pPr>
            <a:r>
              <a:rPr sz="2175" b="1">
                <a:solidFill>
                  <a:srgbClr val="087F8C"/>
                </a:solidFill>
                <a:latin typeface="Arial"/>
                <a:ea typeface="Arial"/>
                <a:cs typeface="Arial"/>
              </a:rPr>
              <a:t>Aporte de IoC</a:t>
            </a:r>
          </a:p>
        </p:txBody>
      </p:sp>
      <p:sp>
        <p:nvSpPr>
          <p:cNvPr id="4" name="aportes">
            <a:extLst xmlns:a="http://schemas.openxmlformats.org/drawingml/2006/main">
              <a:ext uri="{FF2B5EF4-FFF2-40B4-BE49-F238E27FC236}">
                <a16:creationId xmlns:a16="http://schemas.microsoft.com/office/drawing/2014/main" id="{CEBAC8FE-0E07-4654-BC51-0313FB5AACE9}"/>
              </a:ext>
            </a:extLst>
          </p:cNvPr>
          <p:cNvSpPr>
            <a:spLocks xmlns:a="http://schemas.openxmlformats.org/drawingml/2006/main" noGrp="1"/>
          </p:cNvSpPr>
          <p:nvPr/>
        </p:nvSpPr>
        <p:spPr>
          <a:xfrm xmlns:a="http://schemas.openxmlformats.org/drawingml/2006/main">
            <a:off x="609600" y="2076450"/>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400" b="0">
                <a:solidFill>
                  <a:srgbClr val="123548"/>
                </a:solidFill>
                <a:latin typeface="Arial"/>
                <a:ea typeface="Arial"/>
                <a:cs typeface="Arial"/>
              </a:defRPr>
            </a:pPr>
            <a:r>
              <a:rPr sz="2400" b="0">
                <a:solidFill>
                  <a:srgbClr val="123548"/>
                </a:solidFill>
                <a:latin typeface="Arial"/>
                <a:ea typeface="Arial"/>
                <a:cs typeface="Arial"/>
              </a:rPr>
              <a:t>El generador recibe el ejecutor.</a:t>
            </a:r>
          </a:p>
          <a:p xmlns:a="http://schemas.openxmlformats.org/drawingml/2006/main">
            <a:pPr algn="l">
              <a:lnSpc>
                <a:spcPct val="105000"/>
              </a:lnSpc>
              <a:buNone/>
              <a:defRPr sz="2400" b="0">
                <a:solidFill>
                  <a:srgbClr val="123548"/>
                </a:solidFill>
                <a:latin typeface="Arial"/>
                <a:ea typeface="Arial"/>
                <a:cs typeface="Arial"/>
              </a:defRPr>
            </a:pPr>
            <a:r>
              <a:rPr sz="2400" b="0">
                <a:solidFill>
                  <a:srgbClr val="123548"/>
                </a:solidFill>
                <a:latin typeface="Arial"/>
                <a:ea typeface="Arial"/>
                <a:cs typeface="Arial"/>
              </a:rPr>
              <a:t>Un sustituto permite probar Generar sin ejecutar SQL.</a:t>
            </a:r>
          </a:p>
        </p:txBody>
      </p:sp>
      <p:sp>
        <p:nvSpPr>
          <p:cNvPr id="5" name="limites-label">
            <a:extLst xmlns:a="http://schemas.openxmlformats.org/drawingml/2006/main">
              <a:ext uri="{FF2B5EF4-FFF2-40B4-BE49-F238E27FC236}">
                <a16:creationId xmlns:a16="http://schemas.microsoft.com/office/drawing/2014/main" id="{90BE55BA-ED45-4C7C-AB4E-35CBDD050192}"/>
              </a:ext>
            </a:extLst>
          </p:cNvPr>
          <p:cNvSpPr>
            <a:spLocks xmlns:a="http://schemas.openxmlformats.org/drawingml/2006/main" noGrp="1"/>
          </p:cNvSpPr>
          <p:nvPr/>
        </p:nvSpPr>
        <p:spPr>
          <a:xfrm xmlns:a="http://schemas.openxmlformats.org/drawingml/2006/main">
            <a:off x="609600" y="36385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175" b="1">
                <a:solidFill>
                  <a:srgbClr val="087F8C"/>
                </a:solidFill>
                <a:latin typeface="Arial"/>
                <a:ea typeface="Arial"/>
                <a:cs typeface="Arial"/>
              </a:defRPr>
            </a:pPr>
            <a:r>
              <a:rPr sz="2175" b="1">
                <a:solidFill>
                  <a:srgbClr val="087F8C"/>
                </a:solidFill>
                <a:latin typeface="Arial"/>
                <a:ea typeface="Arial"/>
                <a:cs typeface="Arial"/>
              </a:rPr>
              <a:t>Límites comprobables</a:t>
            </a:r>
          </a:p>
        </p:txBody>
      </p:sp>
      <p:sp>
        <p:nvSpPr>
          <p:cNvPr id="6" name="limites">
            <a:extLst xmlns:a="http://schemas.openxmlformats.org/drawingml/2006/main">
              <a:ext uri="{FF2B5EF4-FFF2-40B4-BE49-F238E27FC236}">
                <a16:creationId xmlns:a16="http://schemas.microsoft.com/office/drawing/2014/main" id="{8DCDE922-E41D-4F06-9CFC-536F6DD733D2}"/>
              </a:ext>
            </a:extLst>
          </p:cNvPr>
          <p:cNvSpPr>
            <a:spLocks xmlns:a="http://schemas.openxmlformats.org/drawingml/2006/main" noGrp="1"/>
          </p:cNvSpPr>
          <p:nvPr/>
        </p:nvSpPr>
        <p:spPr>
          <a:xfrm xmlns:a="http://schemas.openxmlformats.org/drawingml/2006/main">
            <a:off x="609600" y="4305300"/>
            <a:ext cx="106680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325" b="0">
                <a:solidFill>
                  <a:srgbClr val="123548"/>
                </a:solidFill>
                <a:latin typeface="Arial"/>
                <a:ea typeface="Arial"/>
                <a:cs typeface="Arial"/>
              </a:defRPr>
            </a:pPr>
            <a:r>
              <a:rPr sz="2325" b="0">
                <a:solidFill>
                  <a:srgbClr val="123548"/>
                </a:solidFill>
                <a:latin typeface="Arial"/>
                <a:ea typeface="Arial"/>
                <a:cs typeface="Arial"/>
              </a:rPr>
              <a:t>Preparar sigue utilizando SqlConnection.</a:t>
            </a:r>
          </a:p>
          <a:p xmlns:a="http://schemas.openxmlformats.org/drawingml/2006/main">
            <a:pPr algn="l">
              <a:lnSpc>
                <a:spcPct val="105000"/>
              </a:lnSpc>
              <a:buNone/>
              <a:defRPr sz="2325" b="0">
                <a:solidFill>
                  <a:srgbClr val="123548"/>
                </a:solidFill>
                <a:latin typeface="Arial"/>
                <a:ea typeface="Arial"/>
                <a:cs typeface="Arial"/>
              </a:defRPr>
            </a:pPr>
            <a:r>
              <a:rPr sz="2325" b="0">
                <a:solidFill>
                  <a:srgbClr val="123548"/>
                </a:solidFill>
                <a:latin typeface="Arial"/>
                <a:ea typeface="Arial"/>
                <a:cs typeface="Arial"/>
              </a:rPr>
              <a:t>La ejecución SQL conserva su código ADO.NET.</a:t>
            </a:r>
          </a:p>
          <a:p xmlns:a="http://schemas.openxmlformats.org/drawingml/2006/main">
            <a:pPr algn="l">
              <a:lnSpc>
                <a:spcPct val="105000"/>
              </a:lnSpc>
              <a:buNone/>
              <a:defRPr sz="2325" b="0">
                <a:solidFill>
                  <a:srgbClr val="123548"/>
                </a:solidFill>
                <a:latin typeface="Arial"/>
                <a:ea typeface="Arial"/>
                <a:cs typeface="Arial"/>
              </a:defRPr>
            </a:pPr>
            <a:r>
              <a:rPr sz="2325" b="0">
                <a:solidFill>
                  <a:srgbClr val="123548"/>
                </a:solidFill>
                <a:latin typeface="Arial"/>
                <a:ea typeface="Arial"/>
                <a:cs typeface="Arial"/>
              </a:rPr>
              <a:t>La integración con la base real continúa pendiente.</a:t>
            </a:r>
          </a:p>
        </p:txBody>
      </p:sp>
    </p:spTree>
    <p:extLst>
      <p:ext uri="{BB962C8B-B14F-4D97-AF65-F5344CB8AC3E}">
        <p14:creationId xmlns:p14="http://schemas.microsoft.com/office/powerpoint/2010/main" val="4660149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2026-10-03T01:06:33.3840000Z</dcterms:created>
  <dcterms:modified xsi:type="dcterms:W3CDTF">2026-10-03T01:06:33.3840000Z</dcterms:modified>
</coreProperties>
</file>