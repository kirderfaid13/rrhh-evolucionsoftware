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8421a1c9a141ea" /><Relationship Type="http://schemas.openxmlformats.org/officeDocument/2006/relationships/extended-properties" Target="/docProps/app.xml" Id="Rb1fdf68195424992" /><Relationship Type="http://schemas.openxmlformats.org/officeDocument/2006/relationships/officeDocument" Target="/ppt/presentation.xml" Id="R16f06990495c4ebb" /></Relationships>
</file>

<file path=ppt/presentation.xml><?xml version="1.0" encoding="utf-8"?>
<p:presentation xmlns:p="http://schemas.openxmlformats.org/presentationml/2006/main">
  <p:sldMasterIdLst>
    <p:sldMasterId xmlns:r="http://schemas.openxmlformats.org/officeDocument/2006/relationships" id="2147483648" r:id="R0cb0685c4b9340aa"/>
  </p:sldMasterIdLst>
  <p:notesMasterIdLst>
    <p:notesMasterId xmlns:r="http://schemas.openxmlformats.org/officeDocument/2006/relationships" r:id="R587190e0af7d4cdc"/>
  </p:notesMasterIdLst>
  <p:sldIdLst>
    <p:sldId xmlns:r="http://schemas.openxmlformats.org/officeDocument/2006/relationships" id="256" r:id="Rf80f3d66afab472e"/>
    <p:sldId xmlns:r="http://schemas.openxmlformats.org/officeDocument/2006/relationships" id="257" r:id="R4c71516646b84b1d"/>
    <p:sldId xmlns:r="http://schemas.openxmlformats.org/officeDocument/2006/relationships" id="258" r:id="R75296256a43242d7"/>
    <p:sldId xmlns:r="http://schemas.openxmlformats.org/officeDocument/2006/relationships" id="259" r:id="Reeaaccacc8de4333"/>
    <p:sldId xmlns:r="http://schemas.openxmlformats.org/officeDocument/2006/relationships" id="260" r:id="R4289bdd1f31243c3"/>
    <p:sldId xmlns:r="http://schemas.openxmlformats.org/officeDocument/2006/relationships" id="261" r:id="R9cdd0b329ee84941"/>
    <p:sldId xmlns:r="http://schemas.openxmlformats.org/officeDocument/2006/relationships" id="262" r:id="R8bec8e5c4d384f3f"/>
    <p:sldId xmlns:r="http://schemas.openxmlformats.org/officeDocument/2006/relationships" id="263" r:id="Rf5b8556a37214d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7e0b2badb74ff3" /><Relationship Type="http://schemas.openxmlformats.org/officeDocument/2006/relationships/slideMaster" Target="/ppt/slideMasters/slideMaster1.xml" Id="R0cb0685c4b9340aa" /><Relationship Type="http://schemas.openxmlformats.org/officeDocument/2006/relationships/notesMaster" Target="/ppt/notesMasters/notesMaster1.xml" Id="R587190e0af7d4cdc" /><Relationship Type="http://schemas.openxmlformats.org/officeDocument/2006/relationships/presProps" Target="/ppt/presProps.xml" Id="R562d86d826ae4726" /><Relationship Type="http://schemas.openxmlformats.org/officeDocument/2006/relationships/tableStyles" Target="/ppt/tableStyles.xml" Id="Rc6e0d1de1d5c48d6" /><Relationship Type="http://schemas.openxmlformats.org/officeDocument/2006/relationships/slide" Target="/ppt/slides/slide1.xml" Id="Rf80f3d66afab472e" /><Relationship Type="http://schemas.openxmlformats.org/officeDocument/2006/relationships/slide" Target="/ppt/slides/slide2.xml" Id="R4c71516646b84b1d" /><Relationship Type="http://schemas.openxmlformats.org/officeDocument/2006/relationships/slide" Target="/ppt/slides/slide3.xml" Id="R75296256a43242d7" /><Relationship Type="http://schemas.openxmlformats.org/officeDocument/2006/relationships/slide" Target="/ppt/slides/slide4.xml" Id="Reeaaccacc8de4333" /><Relationship Type="http://schemas.openxmlformats.org/officeDocument/2006/relationships/slide" Target="/ppt/slides/slide5.xml" Id="R4289bdd1f31243c3" /><Relationship Type="http://schemas.openxmlformats.org/officeDocument/2006/relationships/slide" Target="/ppt/slides/slide6.xml" Id="R9cdd0b329ee84941" /><Relationship Type="http://schemas.openxmlformats.org/officeDocument/2006/relationships/slide" Target="/ppt/slides/slide7.xml" Id="R8bec8e5c4d384f3f" /><Relationship Type="http://schemas.openxmlformats.org/officeDocument/2006/relationships/slide" Target="/ppt/slides/slide8.xml" Id="Rf5b8556a37214d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ff28d6190e4b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f8f31f415442e1" /><Relationship Type="http://schemas.openxmlformats.org/officeDocument/2006/relationships/notesMaster" Target="/ppt/notesMasters/notesMaster1.xml" Id="Ra1c01f6a63504b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36712972374dd0" /><Relationship Type="http://schemas.openxmlformats.org/officeDocument/2006/relationships/notesMaster" Target="/ppt/notesMasters/notesMaster1.xml" Id="R00c5139eee3e49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752802f8ff464a" /><Relationship Type="http://schemas.openxmlformats.org/officeDocument/2006/relationships/notesMaster" Target="/ppt/notesMasters/notesMaster1.xml" Id="Rd9a31e54f9244e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758d0b1e5b4d4f" /><Relationship Type="http://schemas.openxmlformats.org/officeDocument/2006/relationships/notesMaster" Target="/ppt/notesMasters/notesMaster1.xml" Id="Rb7f6a2fad04049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2f7e96d30e4a19" /><Relationship Type="http://schemas.openxmlformats.org/officeDocument/2006/relationships/notesMaster" Target="/ppt/notesMasters/notesMaster1.xml" Id="R452301d83a6947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fa5af778b042f7" /><Relationship Type="http://schemas.openxmlformats.org/officeDocument/2006/relationships/notesMaster" Target="/ppt/notesMasters/notesMaster1.xml" Id="R339dc62d674040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775ad570da456b" /><Relationship Type="http://schemas.openxmlformats.org/officeDocument/2006/relationships/notesMaster" Target="/ppt/notesMasters/notesMaster1.xml" Id="Ref8f37b57d9247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a0f4454f264c97" /><Relationship Type="http://schemas.openxmlformats.org/officeDocument/2006/relationships/notesMaster" Target="/ppt/notesMasters/notesMaster1.xml" Id="R8987bf10f9ad4d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práctico de la semana 08 del curso Evolución y Configuración de Software. Organizamos el trabajo sobre RRHH mediante identificación de elementos, reglas de versiones, registro de cambios y comprobaciones. La consigna práctica pide estas medidas en páginas 14 a 16 de Semana08_EVO_TG.pdf. El alcance conserva el código v4 de la semana 07 y prepara C06 localmente. No se crea una nueva versión funcional del RRHH. Fuente: referencias/semanas/semana08/Semana08_EVO_TG.pdf, páginas 14 a 16. Alcance: specs/c06_gestion_configuracion.json.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RRHH reúne originales recibidos, recuperación parcial y mejoras académicas. Esa procedencia distinta debe acompañar cada archivo. Sin control, el grupo podría confundir propuestas con fuentes verificadas, sobrescribir una etapa o perder la relación entre código y documentación. Son riesgos posibles, no incidentes que afirmemos que ya ocurrieron. Conservamos el original, identificamos las mejoras por etapa y registramos quién revisa e integra. Fuente del problema académico: Semana08_EVO_TG.pdf, páginas 14 a 16. Referencia conceptual: IEEE Computer Society, SWEBOK, capítulo de gestión de configuración, https://www.computer.org/education/bodies-of-knowledge/software-engineering/topics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elemento de configuración puede ser un archivo o un conjunto controlado como unidad. La tabla agrupa los elementos para facilitar la exposición. El inventario y el informe desarrollan las categorías de la consigna: código fuente, datos, compilados, scripts, requisitos, diseño, arquitectura, planes y procedimientos de prueba y planes de calidad. src/*/pruebas/ identifica subdirectorios dentro de src/v2, src/v3 y src/v4. Los originales públicos mantienen los cifrados que ya existían. Claves, configuraciones restauradas y compilados nuevos permanecen en .local/ fuera de Git. El respaldo SQL se conserva en el workspace privado del responsable fuera del repositorio activo. No presentamos el esquema de CMI como verificado. Fuentes: Semana08_EVO_TG.pdf, páginas 11 y 15; IEEE Computer Society, SWEBOK, https://www.computer.org/education/bodies-of-knowledge/software-engineering/topics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Aplicamos la estructura de memoria y contratos solicitada por el equipo a un sistema legado. .context/ conserva hechos y desconocidos. specs/ delimita cada caso. src/ distingue v1, v2, v3 y v4. legado/ conserva la referencia original. configuracion/ incorpora identificación, cambios y planes. docs/ explica decisiones y evidencia/ respalda comprobaciones. herramientas/ permite repetirlas y referencias/ conserva el material del curso. .local/ guarda material privado y Git la ignora. La organización complementa la que ya existe, preservando los entregables anteriores. Fuente: árbol real del repositorio y specs/c06_gestion_configuracion.json.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guarda el historial de cambios y GitHub aloja el repositorio RRHH-EvolucionSoftware. main tiene cinco commits publicados. La línea base C05 es el commit 6d82f9f, con 531 archivos versionados. Esta base permite comparar la preparación C06 de la rama semana-08-gcs. Las guías que el contrato permite actualizar se informan como cambios autorizados. La regla propuesta es una etapa por commit, con explicación de qué cambia, por qué y cómo se verificó. KirderFaid13 revisará e integrará. La integración por solicitud de cambios y squash corresponde al procedimiento propuesto para la siguiente publicación. El sexto commit sigue pendiente de la indicación del responsable. Fuentes: historial Git y specs/c06_gestion_configuracion.json; Git, https://git-scm.com/book/en/v2/Getting-Started-About-Version-Control ; GitHub, https://docs.github.com/en/pull-requests/get-started/about-pull-requests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CAM-S08-001 registra la preparación de gestión de configuración. Antes de editar, el autor comunica alcance y rutas para evitar trabajo simultáneo incompatible. Después implementa en la rama de la semana, ejecuta comprobaciones y documenta resultados y límites. KirderFaid13 confirmó que revisará e integrará los cambios. Se conserva el registro de qué se modifica, dónde, por qué, qué pruebas respaldan el cambio y qué queda pendiente. La solicitud de cambios sirve para comparar y revisar antes de integrar. Este procedimiento se propone para las siguientes integraciones. No afirmamos que exista protección de main o validación automática remota. Fuentes: Semana08_EVO_TG.pdf, página 16; confirmación del responsable; GitHub, https://docs.github.com/en/pull-requests/get-started/about-pull-requests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Separamos las comprobaciones ejecutadas de las pruebas propuestas. Los 16 escenarios v4 comprueban preparación e inyección con sustitutos en un entorno aislado, sin abrir SQL. Los 14 escenarios del auditor comprueban conservación, alcance, rutas e inventario. Incluyen el rechazo de un CSV incompleto, sin hash ni esquema, tras exigir las seis columnas y comparar su contenido con el JSON. El auditor de C06 compara el inventario C05, diferencia cambios autorizados y detecta problemas de configuración mediante muestras temporales. Para el RRHH completo proponemos casos funcionales de interfaz, integración con SQL, rendimiento y seguridad, todos pendientes de un entorno autorizado y criterios acordados. Caja negra, blanca y gris describen el acceso al interior del sistema. Funcionalidad, rendimiento y seguridad describen el objetivo de una prueba. Las categorías pueden combinarse. No atribuimos a las pruebas aisladas resultados reales de CMI o de la interfaz. Fuentes: Semana08_EVO_TG.pdf, páginas 13 y 16; evidencia/semanas/semana08/verificacion_configuracion.json.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demostración usa python herramientas/auditar_configuracion.py. La herramienta compara los 531 archivos versionados de la base C05. Verifica el contenido protegido, separa las actualizaciones de guías permitidas y comprueba el alcance de nuevos archivos. El resultado muestra cero fallos cuando la preparación cumple el contrato. Las comprobaciones adicionales introducen casos inválidos sobre muestras temporales, sin modificar originales. Esta mejora permite saber qué pertenece a cada etapa y detectar alteraciones antes de integrar. C06 queda preparado localmente, con revisión y sexto commit pendientes. Fuentes: evidencia/semanas/semana08/auditoria_configuracion.json y verificacion_configuracion.json; specs/c06_gestion_configuracion.json.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f63e190de443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19ed14de0b4a5c" /><Relationship Type="http://schemas.openxmlformats.org/officeDocument/2006/relationships/slideLayout" Target="/ppt/slideLayouts/slideLayout1.xml" Id="R4a79ff612e7f42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79ff612e7f42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d5f8d3af904372" /><Relationship Type="http://schemas.openxmlformats.org/officeDocument/2006/relationships/notesSlide" Target="/ppt/notesSlides/notesSlide1.xml" Id="R8df23e9c7d8b44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047b72061b4036" /><Relationship Type="http://schemas.openxmlformats.org/officeDocument/2006/relationships/notesSlide" Target="/ppt/notesSlides/notesSlide2.xml" Id="R979fa7d0851f45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b7e099998f433b" /><Relationship Type="http://schemas.openxmlformats.org/officeDocument/2006/relationships/notesSlide" Target="/ppt/notesSlides/notesSlide3.xml" Id="R0e2b1fdb7ad740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ca4422bc7f4c37" /><Relationship Type="http://schemas.openxmlformats.org/officeDocument/2006/relationships/notesSlide" Target="/ppt/notesSlides/notesSlide4.xml" Id="R790e666513bc4d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2fea93b7534df7" /><Relationship Type="http://schemas.openxmlformats.org/officeDocument/2006/relationships/notesSlide" Target="/ppt/notesSlides/notesSlide5.xml" Id="Rba1f2bdd85814c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6553a84f0c4079" /><Relationship Type="http://schemas.openxmlformats.org/officeDocument/2006/relationships/notesSlide" Target="/ppt/notesSlides/notesSlide6.xml" Id="R9bda148434c34e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848f30134a4f4c" /><Relationship Type="http://schemas.openxmlformats.org/officeDocument/2006/relationships/notesSlide" Target="/ppt/notesSlides/notesSlide7.xml" Id="Ra1bf07f102534d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1be07f1064431e" /><Relationship Type="http://schemas.openxmlformats.org/officeDocument/2006/relationships/notesSlide" Target="/ppt/notesSlides/notesSlide8.xml" Id="R45a2ddc4707348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ulo-1">
            <a:extLst xmlns:a="http://schemas.openxmlformats.org/drawingml/2006/main">
              <a:ext uri="{FF2B5EF4-FFF2-40B4-BE49-F238E27FC236}">
                <a16:creationId xmlns:a16="http://schemas.microsoft.com/office/drawing/2014/main" id="{4C317035-FAC6-466B-B017-17F59C264B47}"/>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Gestión de la configuración en RRHH</a:t>
            </a:r>
          </a:p>
        </p:txBody>
      </p:sp>
      <p:sp>
        <p:nvSpPr>
          <p:cNvPr id="2" name="pagina-1">
            <a:extLst xmlns:a="http://schemas.openxmlformats.org/drawingml/2006/main">
              <a:ext uri="{FF2B5EF4-FFF2-40B4-BE49-F238E27FC236}">
                <a16:creationId xmlns:a16="http://schemas.microsoft.com/office/drawing/2014/main" id="{2FFB3BB2-AA4E-43C0-86F2-7119521721D9}"/>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1</a:t>
            </a:r>
          </a:p>
        </p:txBody>
      </p:sp>
      <p:sp>
        <p:nvSpPr>
          <p:cNvPr id="3" name="semana">
            <a:extLst xmlns:a="http://schemas.openxmlformats.org/drawingml/2006/main">
              <a:ext uri="{FF2B5EF4-FFF2-40B4-BE49-F238E27FC236}">
                <a16:creationId xmlns:a16="http://schemas.microsoft.com/office/drawing/2014/main" id="{A7750FD2-E4C3-4966-B540-C7652BA08A80}"/>
              </a:ext>
            </a:extLst>
          </p:cNvPr>
          <p:cNvSpPr>
            <a:spLocks xmlns:a="http://schemas.openxmlformats.org/drawingml/2006/main" noGrp="1"/>
          </p:cNvSpPr>
          <p:nvPr/>
        </p:nvSpPr>
        <p:spPr>
          <a:xfrm xmlns:a="http://schemas.openxmlformats.org/drawingml/2006/main">
            <a:off x="6096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Caso práctico de semana 08</a:t>
            </a:r>
          </a:p>
        </p:txBody>
      </p:sp>
      <p:sp>
        <p:nvSpPr>
          <p:cNvPr id="4" name="proposito">
            <a:extLst xmlns:a="http://schemas.openxmlformats.org/drawingml/2006/main">
              <a:ext uri="{FF2B5EF4-FFF2-40B4-BE49-F238E27FC236}">
                <a16:creationId xmlns:a16="http://schemas.microsoft.com/office/drawing/2014/main" id="{4E4832E2-5BB4-479A-AB2E-0DDD51C01398}"/>
              </a:ext>
            </a:extLst>
          </p:cNvPr>
          <p:cNvSpPr>
            <a:spLocks xmlns:a="http://schemas.openxmlformats.org/drawingml/2006/main" noGrp="1"/>
          </p:cNvSpPr>
          <p:nvPr/>
        </p:nvSpPr>
        <p:spPr>
          <a:xfrm xmlns:a="http://schemas.openxmlformats.org/drawingml/2006/main">
            <a:off x="609600" y="23622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200" b="1">
                <a:solidFill>
                  <a:srgbClr val="173747"/>
                </a:solidFill>
                <a:latin typeface="Arial"/>
                <a:ea typeface="Arial"/>
                <a:cs typeface="Arial"/>
              </a:defRPr>
            </a:pPr>
            <a:r>
              <a:rPr sz="4200" b="1">
                <a:solidFill>
                  <a:srgbClr val="173747"/>
                </a:solidFill>
                <a:latin typeface="Arial"/>
                <a:ea typeface="Arial"/>
                <a:cs typeface="Arial"/>
              </a:rPr>
              <a:t>Control de código, documentos</a:t>
            </a:r>
          </a:p>
          <a:p xmlns:a="http://schemas.openxmlformats.org/drawingml/2006/main">
            <a:pPr algn="l">
              <a:lnSpc>
                <a:spcPct val="106000"/>
              </a:lnSpc>
              <a:buNone/>
              <a:defRPr sz="4200" b="1">
                <a:solidFill>
                  <a:srgbClr val="173747"/>
                </a:solidFill>
                <a:latin typeface="Arial"/>
                <a:ea typeface="Arial"/>
                <a:cs typeface="Arial"/>
              </a:defRPr>
            </a:pPr>
            <a:r>
              <a:rPr sz="4200" b="1">
                <a:solidFill>
                  <a:srgbClr val="173747"/>
                </a:solidFill>
                <a:latin typeface="Arial"/>
                <a:ea typeface="Arial"/>
                <a:cs typeface="Arial"/>
              </a:rPr>
              <a:t>y cambios del proyecto</a:t>
            </a:r>
          </a:p>
        </p:txBody>
      </p:sp>
      <p:sp>
        <p:nvSpPr>
          <p:cNvPr id="5" name="alcance">
            <a:extLst xmlns:a="http://schemas.openxmlformats.org/drawingml/2006/main">
              <a:ext uri="{FF2B5EF4-FFF2-40B4-BE49-F238E27FC236}">
                <a16:creationId xmlns:a16="http://schemas.microsoft.com/office/drawing/2014/main" id="{C5261601-7AAB-4B98-A683-4E6A915B0145}"/>
              </a:ext>
            </a:extLst>
          </p:cNvPr>
          <p:cNvSpPr>
            <a:spLocks xmlns:a="http://schemas.openxmlformats.org/drawingml/2006/main" noGrp="1"/>
          </p:cNvSpPr>
          <p:nvPr/>
        </p:nvSpPr>
        <p:spPr>
          <a:xfrm xmlns:a="http://schemas.openxmlformats.org/drawingml/2006/main">
            <a:off x="609600" y="4448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325" b="0">
                <a:solidFill>
                  <a:srgbClr val="173747"/>
                </a:solidFill>
                <a:latin typeface="Arial"/>
                <a:ea typeface="Arial"/>
                <a:cs typeface="Arial"/>
              </a:defRPr>
            </a:pPr>
            <a:r>
              <a:rPr sz="2325" b="0">
                <a:solidFill>
                  <a:srgbClr val="173747"/>
                </a:solidFill>
                <a:latin typeface="Arial"/>
                <a:ea typeface="Arial"/>
                <a:cs typeface="Arial"/>
              </a:rPr>
              <a:t>RRHH original y evolución académica hasta v4</a:t>
            </a:r>
          </a:p>
        </p:txBody>
      </p:sp>
      <p:sp>
        <p:nvSpPr>
          <p:cNvPr id="6" name="entrega">
            <a:extLst xmlns:a="http://schemas.openxmlformats.org/drawingml/2006/main">
              <a:ext uri="{FF2B5EF4-FFF2-40B4-BE49-F238E27FC236}">
                <a16:creationId xmlns:a16="http://schemas.microsoft.com/office/drawing/2014/main" id="{ACB10D56-747A-42CB-BFF0-459A2039A303}"/>
              </a:ext>
            </a:extLst>
          </p:cNvPr>
          <p:cNvSpPr>
            <a:spLocks xmlns:a="http://schemas.openxmlformats.org/drawingml/2006/main" noGrp="1"/>
          </p:cNvSpPr>
          <p:nvPr/>
        </p:nvSpPr>
        <p:spPr>
          <a:xfrm xmlns:a="http://schemas.openxmlformats.org/drawingml/2006/main">
            <a:off x="609600" y="5267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025" b="0">
                <a:solidFill>
                  <a:srgbClr val="526773"/>
                </a:solidFill>
                <a:latin typeface="Arial"/>
                <a:ea typeface="Arial"/>
                <a:cs typeface="Arial"/>
              </a:defRPr>
            </a:pPr>
            <a:r>
              <a:rPr sz="2025" b="0">
                <a:solidFill>
                  <a:srgbClr val="526773"/>
                </a:solidFill>
                <a:latin typeface="Arial"/>
                <a:ea typeface="Arial"/>
                <a:cs typeface="Arial"/>
              </a:rPr>
              <a:t>Preparación C06 sobre la línea base C05</a:t>
            </a:r>
          </a:p>
        </p:txBody>
      </p:sp>
    </p:spTree>
    <p:extLst>
      <p:ext uri="{BB962C8B-B14F-4D97-AF65-F5344CB8AC3E}">
        <p14:creationId xmlns:p14="http://schemas.microsoft.com/office/powerpoint/2010/main" val="5276395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ulo-2">
            <a:extLst xmlns:a="http://schemas.openxmlformats.org/drawingml/2006/main">
              <a:ext uri="{FF2B5EF4-FFF2-40B4-BE49-F238E27FC236}">
                <a16:creationId xmlns:a16="http://schemas.microsoft.com/office/drawing/2014/main" id="{B4100463-C484-42BD-BD8D-DEE1353FD75C}"/>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Riesgos de trabajar sin control</a:t>
            </a:r>
          </a:p>
        </p:txBody>
      </p:sp>
      <p:sp>
        <p:nvSpPr>
          <p:cNvPr id="2" name="pagina-2">
            <a:extLst xmlns:a="http://schemas.openxmlformats.org/drawingml/2006/main">
              <a:ext uri="{FF2B5EF4-FFF2-40B4-BE49-F238E27FC236}">
                <a16:creationId xmlns:a16="http://schemas.microsoft.com/office/drawing/2014/main" id="{84C15302-2923-4733-A0C3-356C6CD5AF63}"/>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2</a:t>
            </a:r>
          </a:p>
        </p:txBody>
      </p:sp>
      <p:sp>
        <p:nvSpPr>
          <p:cNvPr id="3" name="etiqueta-procedencia">
            <a:extLst xmlns:a="http://schemas.openxmlformats.org/drawingml/2006/main">
              <a:ext uri="{FF2B5EF4-FFF2-40B4-BE49-F238E27FC236}">
                <a16:creationId xmlns:a16="http://schemas.microsoft.com/office/drawing/2014/main" id="{0986879F-D338-4F19-86F2-5595163FC78B}"/>
              </a:ext>
            </a:extLst>
          </p:cNvPr>
          <p:cNvSpPr>
            <a:spLocks xmlns:a="http://schemas.openxmlformats.org/drawingml/2006/main" noGrp="1"/>
          </p:cNvSpPr>
          <p:nvPr/>
        </p:nvSpPr>
        <p:spPr>
          <a:xfrm xmlns:a="http://schemas.openxmlformats.org/drawingml/2006/main">
            <a:off x="609600" y="1619250"/>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Procedencia</a:t>
            </a:r>
          </a:p>
        </p:txBody>
      </p:sp>
      <p:sp>
        <p:nvSpPr>
          <p:cNvPr id="4" name="detalle-procedencia">
            <a:extLst xmlns:a="http://schemas.openxmlformats.org/drawingml/2006/main">
              <a:ext uri="{FF2B5EF4-FFF2-40B4-BE49-F238E27FC236}">
                <a16:creationId xmlns:a16="http://schemas.microsoft.com/office/drawing/2014/main" id="{10955F43-B867-4365-A2B1-5D11070931C7}"/>
              </a:ext>
            </a:extLst>
          </p:cNvPr>
          <p:cNvSpPr>
            <a:spLocks xmlns:a="http://schemas.openxmlformats.org/drawingml/2006/main" noGrp="1"/>
          </p:cNvSpPr>
          <p:nvPr/>
        </p:nvSpPr>
        <p:spPr>
          <a:xfrm xmlns:a="http://schemas.openxmlformats.org/drawingml/2006/main">
            <a:off x="4000500" y="16192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Originales, recuperación parcial y mejoras</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requieren una identificación distinta.</a:t>
            </a:r>
          </a:p>
        </p:txBody>
      </p:sp>
      <p:sp>
        <p:nvSpPr>
          <p:cNvPr id="5" name="etiqueta-sobrescritura">
            <a:extLst xmlns:a="http://schemas.openxmlformats.org/drawingml/2006/main">
              <a:ext uri="{FF2B5EF4-FFF2-40B4-BE49-F238E27FC236}">
                <a16:creationId xmlns:a16="http://schemas.microsoft.com/office/drawing/2014/main" id="{A5AA7B37-AD14-4E0E-9D7E-1A930C141FBA}"/>
              </a:ext>
            </a:extLst>
          </p:cNvPr>
          <p:cNvSpPr>
            <a:spLocks xmlns:a="http://schemas.openxmlformats.org/drawingml/2006/main" noGrp="1"/>
          </p:cNvSpPr>
          <p:nvPr/>
        </p:nvSpPr>
        <p:spPr>
          <a:xfrm xmlns:a="http://schemas.openxmlformats.org/drawingml/2006/main">
            <a:off x="609600" y="27336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Sobrescritura</a:t>
            </a:r>
          </a:p>
        </p:txBody>
      </p:sp>
      <p:sp>
        <p:nvSpPr>
          <p:cNvPr id="6" name="detalle-sobrescritura">
            <a:extLst xmlns:a="http://schemas.openxmlformats.org/drawingml/2006/main">
              <a:ext uri="{FF2B5EF4-FFF2-40B4-BE49-F238E27FC236}">
                <a16:creationId xmlns:a16="http://schemas.microsoft.com/office/drawing/2014/main" id="{404341B2-6DE3-4E46-8F04-87B34E1DF280}"/>
              </a:ext>
            </a:extLst>
          </p:cNvPr>
          <p:cNvSpPr>
            <a:spLocks xmlns:a="http://schemas.openxmlformats.org/drawingml/2006/main" noGrp="1"/>
          </p:cNvSpPr>
          <p:nvPr/>
        </p:nvSpPr>
        <p:spPr>
          <a:xfrm xmlns:a="http://schemas.openxmlformats.org/drawingml/2006/main">
            <a:off x="4000500" y="273367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Editar sin coordinar puede reemplazar</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el trabajo de otra persona.</a:t>
            </a:r>
          </a:p>
        </p:txBody>
      </p:sp>
      <p:sp>
        <p:nvSpPr>
          <p:cNvPr id="7" name="etiqueta-evidencia">
            <a:extLst xmlns:a="http://schemas.openxmlformats.org/drawingml/2006/main">
              <a:ext uri="{FF2B5EF4-FFF2-40B4-BE49-F238E27FC236}">
                <a16:creationId xmlns:a16="http://schemas.microsoft.com/office/drawing/2014/main" id="{1CD2AD10-65B3-4B37-90DE-0C7389074460}"/>
              </a:ext>
            </a:extLst>
          </p:cNvPr>
          <p:cNvSpPr>
            <a:spLocks xmlns:a="http://schemas.openxmlformats.org/drawingml/2006/main" noGrp="1"/>
          </p:cNvSpPr>
          <p:nvPr/>
        </p:nvSpPr>
        <p:spPr>
          <a:xfrm xmlns:a="http://schemas.openxmlformats.org/drawingml/2006/main">
            <a:off x="609600" y="3848100"/>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Evidencia</a:t>
            </a:r>
          </a:p>
        </p:txBody>
      </p:sp>
      <p:sp>
        <p:nvSpPr>
          <p:cNvPr id="8" name="detalle-evidencia">
            <a:extLst xmlns:a="http://schemas.openxmlformats.org/drawingml/2006/main">
              <a:ext uri="{FF2B5EF4-FFF2-40B4-BE49-F238E27FC236}">
                <a16:creationId xmlns:a16="http://schemas.microsoft.com/office/drawing/2014/main" id="{7B5EB1A3-8149-4264-A3C4-324D9A542EBF}"/>
              </a:ext>
            </a:extLst>
          </p:cNvPr>
          <p:cNvSpPr>
            <a:spLocks xmlns:a="http://schemas.openxmlformats.org/drawingml/2006/main" noGrp="1"/>
          </p:cNvSpPr>
          <p:nvPr/>
        </p:nvSpPr>
        <p:spPr>
          <a:xfrm xmlns:a="http://schemas.openxmlformats.org/drawingml/2006/main">
            <a:off x="4000500" y="384810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Código y documentación deben indicar</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a qué etapa y comprobación pertenecen.</a:t>
            </a:r>
          </a:p>
        </p:txBody>
      </p:sp>
      <p:sp>
        <p:nvSpPr>
          <p:cNvPr id="9" name="etiqueta-datos">
            <a:extLst xmlns:a="http://schemas.openxmlformats.org/drawingml/2006/main">
              <a:ext uri="{FF2B5EF4-FFF2-40B4-BE49-F238E27FC236}">
                <a16:creationId xmlns:a16="http://schemas.microsoft.com/office/drawing/2014/main" id="{5D0DC376-3435-4439-880B-9CB030FF6594}"/>
              </a:ext>
            </a:extLst>
          </p:cNvPr>
          <p:cNvSpPr>
            <a:spLocks xmlns:a="http://schemas.openxmlformats.org/drawingml/2006/main" noGrp="1"/>
          </p:cNvSpPr>
          <p:nvPr/>
        </p:nvSpPr>
        <p:spPr>
          <a:xfrm xmlns:a="http://schemas.openxmlformats.org/drawingml/2006/main">
            <a:off x="609600" y="496252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Datos locales</a:t>
            </a:r>
          </a:p>
        </p:txBody>
      </p:sp>
      <p:sp>
        <p:nvSpPr>
          <p:cNvPr id="10" name="detalle-datos">
            <a:extLst xmlns:a="http://schemas.openxmlformats.org/drawingml/2006/main">
              <a:ext uri="{FF2B5EF4-FFF2-40B4-BE49-F238E27FC236}">
                <a16:creationId xmlns:a16="http://schemas.microsoft.com/office/drawing/2014/main" id="{3A28064C-501F-411E-8B43-E6F199531FC2}"/>
              </a:ext>
            </a:extLst>
          </p:cNvPr>
          <p:cNvSpPr>
            <a:spLocks xmlns:a="http://schemas.openxmlformats.org/drawingml/2006/main" noGrp="1"/>
          </p:cNvSpPr>
          <p:nvPr/>
        </p:nvSpPr>
        <p:spPr>
          <a:xfrm xmlns:a="http://schemas.openxmlformats.org/drawingml/2006/main">
            <a:off x="4000500" y="496252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Claves, respaldos y configuraciones reales</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requieren almacenamiento fuera de Git.</a:t>
            </a:r>
          </a:p>
        </p:txBody>
      </p:sp>
    </p:spTree>
    <p:extLst>
      <p:ext uri="{BB962C8B-B14F-4D97-AF65-F5344CB8AC3E}">
        <p14:creationId xmlns:p14="http://schemas.microsoft.com/office/powerpoint/2010/main" val="8896917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ulo-3">
            <a:extLst xmlns:a="http://schemas.openxmlformats.org/drawingml/2006/main">
              <a:ext uri="{FF2B5EF4-FFF2-40B4-BE49-F238E27FC236}">
                <a16:creationId xmlns:a16="http://schemas.microsoft.com/office/drawing/2014/main" id="{DC36FBAE-B45E-4DC9-B432-477FCD90E3E2}"/>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Elementos bajo control</a:t>
            </a:r>
          </a:p>
        </p:txBody>
      </p:sp>
      <p:sp>
        <p:nvSpPr>
          <p:cNvPr id="2" name="pagina-3">
            <a:extLst xmlns:a="http://schemas.openxmlformats.org/drawingml/2006/main">
              <a:ext uri="{FF2B5EF4-FFF2-40B4-BE49-F238E27FC236}">
                <a16:creationId xmlns:a16="http://schemas.microsoft.com/office/drawing/2014/main" id="{B175D321-CD7C-40BD-8D9D-0AF28AB5EBBD}"/>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3</a:t>
            </a:r>
          </a:p>
        </p:txBody>
      </p:sp>
      <p:graphicFrame>
        <p:nvGraphicFramePr>
          <p:cNvPr id="7" name=""/>
          <p:cNvGraphicFramePr/>
          <p:nvPr/>
        </p:nvGraphicFramePr>
        <p:xfrm>
          <a:off xmlns:a="http://schemas.openxmlformats.org/drawingml/2006/main" x="609600" y="1381125"/>
          <a:ext xmlns:a="http://schemas.openxmlformats.org/drawingml/2006/main" cx="10953750" cy="4267200"/>
        </p:xfrm>
        <a:graphic xmlns:a="http://schemas.openxmlformats.org/drawingml/2006/main">
          <a:graphicData uri="http://schemas.openxmlformats.org/drawingml/2006/table">
            <a:tbl>
              <a:tblPr firstRow="1" bandRow="0"/>
              <a:tblGrid>
                <a:gridCol w="3333750"/>
                <a:gridCol w="4810125"/>
                <a:gridCol w="2809875"/>
              </a:tblGrid>
              <a:tr h="609600">
                <a:tc>
                  <a:txBody>
                    <a:bodyPr>
                      <a:noAutofit/>
                    </a:bodyPr>
                    <a:lstStyle/>
                    <a:p>
                      <a:r>
                        <a:rPr sz="1725" b="1">
                          <a:solidFill>
                            <a:srgbClr val="FFFFFF"/>
                          </a:solidFill>
                          <a:latin typeface="Arial"/>
                          <a:ea typeface="Arial"/>
                          <a:cs typeface="Arial"/>
                        </a:rPr>
                        <a:t>Elemento</a:t>
                      </a:r>
                    </a:p>
                  </a:txBody>
                  <a:tcPr marL="114300" marR="114300" marT="38100" marB="38100" anchor="ctr">
                    <a:solidFill>
                      <a:srgbClr val="173747"/>
                    </a:solidFill>
                  </a:tcPr>
                </a:tc>
                <a:tc>
                  <a:txBody>
                    <a:bodyPr>
                      <a:noAutofit/>
                    </a:bodyPr>
                    <a:lstStyle/>
                    <a:p>
                      <a:r>
                        <a:rPr sz="1725" b="1">
                          <a:solidFill>
                            <a:srgbClr val="FFFFFF"/>
                          </a:solidFill>
                          <a:latin typeface="Arial"/>
                          <a:ea typeface="Arial"/>
                          <a:cs typeface="Arial"/>
                        </a:rPr>
                        <a:t>Ubicación</a:t>
                      </a:r>
                    </a:p>
                  </a:txBody>
                  <a:tcPr marL="114300" marR="114300" marT="38100" marB="38100" anchor="ctr">
                    <a:solidFill>
                      <a:srgbClr val="173747"/>
                    </a:solidFill>
                  </a:tcPr>
                </a:tc>
                <a:tc>
                  <a:txBody>
                    <a:bodyPr>
                      <a:noAutofit/>
                    </a:bodyPr>
                    <a:lstStyle/>
                    <a:p>
                      <a:r>
                        <a:rPr sz="1725" b="1">
                          <a:solidFill>
                            <a:srgbClr val="FFFFFF"/>
                          </a:solidFill>
                          <a:latin typeface="Arial"/>
                          <a:ea typeface="Arial"/>
                          <a:cs typeface="Arial"/>
                        </a:rPr>
                        <a:t>Control</a:t>
                      </a:r>
                    </a:p>
                  </a:txBody>
                  <a:tcPr marL="114300" marR="114300" marT="38100" marB="38100" anchor="ctr">
                    <a:solidFill>
                      <a:srgbClr val="173747"/>
                    </a:solidFill>
                  </a:tcPr>
                </a:tc>
              </a:tr>
              <a:tr h="609600">
                <a:tc>
                  <a:txBody>
                    <a:bodyPr>
                      <a:noAutofit/>
                    </a:bodyPr>
                    <a:lstStyle/>
                    <a:p>
                      <a:r>
                        <a:rPr sz="1725" b="0">
                          <a:solidFill>
                            <a:srgbClr val="173747"/>
                          </a:solidFill>
                          <a:latin typeface="Arial"/>
                          <a:ea typeface="Arial"/>
                          <a:cs typeface="Arial"/>
                        </a:rPr>
                        <a:t>Código y mejoras</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src/v1/ hasta src/v4/</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Git, por etapa</a:t>
                      </a:r>
                    </a:p>
                  </a:txBody>
                  <a:tcPr marL="114300" marR="114300" marT="38100" marB="38100" anchor="ctr">
                    <a:solidFill>
                      <a:srgbClr val="FFFFFF"/>
                    </a:solidFill>
                  </a:tcPr>
                </a:tc>
              </a:tr>
              <a:tr h="609600">
                <a:tc>
                  <a:txBody>
                    <a:bodyPr>
                      <a:noAutofit/>
                    </a:bodyPr>
                    <a:lstStyle/>
                    <a:p>
                      <a:r>
                        <a:rPr sz="1725" b="0">
                          <a:solidFill>
                            <a:srgbClr val="173747"/>
                          </a:solidFill>
                          <a:latin typeface="Arial"/>
                          <a:ea typeface="Arial"/>
                          <a:cs typeface="Arial"/>
                        </a:rPr>
                        <a:t>Originales, binarios y datos</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legado/ y copias locales</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Hash y acceso local</a:t>
                      </a:r>
                    </a:p>
                  </a:txBody>
                  <a:tcPr marL="114300" marR="114300" marT="38100" marB="38100" anchor="ctr">
                    <a:solidFill>
                      <a:srgbClr val="FFFFFF"/>
                    </a:solidFill>
                  </a:tcPr>
                </a:tc>
              </a:tr>
              <a:tr h="609600">
                <a:tc>
                  <a:txBody>
                    <a:bodyPr>
                      <a:noAutofit/>
                    </a:bodyPr>
                    <a:lstStyle/>
                    <a:p>
                      <a:r>
                        <a:rPr sz="1725" b="0">
                          <a:solidFill>
                            <a:srgbClr val="173747"/>
                          </a:solidFill>
                          <a:latin typeface="Arial"/>
                          <a:ea typeface="Arial"/>
                          <a:cs typeface="Arial"/>
                        </a:rPr>
                        <a:t>Scripts de construcción</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herramientas/</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Git y ejecución</a:t>
                      </a:r>
                    </a:p>
                  </a:txBody>
                  <a:tcPr marL="114300" marR="114300" marT="38100" marB="38100" anchor="ctr">
                    <a:solidFill>
                      <a:srgbClr val="FFFFFF"/>
                    </a:solidFill>
                  </a:tcPr>
                </a:tc>
              </a:tr>
              <a:tr h="609600">
                <a:tc>
                  <a:txBody>
                    <a:bodyPr>
                      <a:noAutofit/>
                    </a:bodyPr>
                    <a:lstStyle/>
                    <a:p>
                      <a:r>
                        <a:rPr sz="1725" b="0">
                          <a:solidFill>
                            <a:srgbClr val="173747"/>
                          </a:solidFill>
                          <a:latin typeface="Arial"/>
                          <a:ea typeface="Arial"/>
                          <a:cs typeface="Arial"/>
                        </a:rPr>
                        <a:t>Requisitos, diseño y arquitectura</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.context/, specs/ y docs/</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Origen y estado</a:t>
                      </a:r>
                    </a:p>
                  </a:txBody>
                  <a:tcPr marL="114300" marR="114300" marT="38100" marB="38100" anchor="ctr">
                    <a:solidFill>
                      <a:srgbClr val="FFFFFF"/>
                    </a:solidFill>
                  </a:tcPr>
                </a:tc>
              </a:tr>
              <a:tr h="609600">
                <a:tc>
                  <a:txBody>
                    <a:bodyPr>
                      <a:noAutofit/>
                    </a:bodyPr>
                    <a:lstStyle/>
                    <a:p>
                      <a:r>
                        <a:rPr sz="1725" b="0">
                          <a:solidFill>
                            <a:srgbClr val="173747"/>
                          </a:solidFill>
                          <a:latin typeface="Arial"/>
                          <a:ea typeface="Arial"/>
                          <a:cs typeface="Arial"/>
                        </a:rPr>
                        <a:t>Pruebas y planes de calidad</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src/*/pruebas/, evidencia/</a:t>
                      </a:r>
                    </a:p>
                    <a:p>
                      <a:r>
                        <a:rPr sz="1725" b="0">
                          <a:solidFill>
                            <a:srgbClr val="173747"/>
                          </a:solidFill>
                          <a:latin typeface="Arial"/>
                          <a:ea typeface="Arial"/>
                          <a:cs typeface="Arial"/>
                        </a:rPr>
                        <a:t>y configuracion/</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Resultado y alcance</a:t>
                      </a:r>
                    </a:p>
                  </a:txBody>
                  <a:tcPr marL="114300" marR="114300" marT="38100" marB="38100" anchor="ctr">
                    <a:solidFill>
                      <a:srgbClr val="FFFFFF"/>
                    </a:solidFill>
                  </a:tcPr>
                </a:tc>
              </a:tr>
              <a:tr h="609600">
                <a:tc>
                  <a:txBody>
                    <a:bodyPr>
                      <a:noAutofit/>
                    </a:bodyPr>
                    <a:lstStyle/>
                    <a:p>
                      <a:r>
                        <a:rPr sz="1725" b="0">
                          <a:solidFill>
                            <a:srgbClr val="173747"/>
                          </a:solidFill>
                          <a:latin typeface="Arial"/>
                          <a:ea typeface="Arial"/>
                          <a:cs typeface="Arial"/>
                        </a:rPr>
                        <a:t>Curso y diapositivas</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referencias/ y docs/semanas/</a:t>
                      </a:r>
                    </a:p>
                  </a:txBody>
                  <a:tcPr marL="114300" marR="114300" marT="38100" marB="38100" anchor="ctr">
                    <a:solidFill>
                      <a:srgbClr val="FFFFFF"/>
                    </a:solidFill>
                  </a:tcPr>
                </a:tc>
                <a:tc>
                  <a:txBody>
                    <a:bodyPr>
                      <a:noAutofit/>
                    </a:bodyPr>
                    <a:lstStyle/>
                    <a:p>
                      <a:r>
                        <a:rPr sz="1725" b="0">
                          <a:solidFill>
                            <a:srgbClr val="173747"/>
                          </a:solidFill>
                          <a:latin typeface="Arial"/>
                          <a:ea typeface="Arial"/>
                          <a:cs typeface="Arial"/>
                        </a:rPr>
                        <a:t>Fuente y versión</a:t>
                      </a:r>
                    </a:p>
                  </a:txBody>
                  <a:tcPr marL="114300" marR="114300" marT="38100" marB="38100" anchor="ctr">
                    <a:solidFill>
                      <a:srgbClr val="FFFFFF"/>
                    </a:solidFill>
                  </a:tcPr>
                </a:tc>
              </a:tr>
            </a:tbl>
          </a:graphicData>
        </a:graphic>
      </p:graphicFrame>
      <p:sp>
        <p:nvSpPr>
          <p:cNvPr id="4" name="tabla-aclaracion">
            <a:extLst xmlns:a="http://schemas.openxmlformats.org/drawingml/2006/main">
              <a:ext uri="{FF2B5EF4-FFF2-40B4-BE49-F238E27FC236}">
                <a16:creationId xmlns:a16="http://schemas.microsoft.com/office/drawing/2014/main" id="{84474507-0590-4E48-A7E0-37DF8C587225}"/>
              </a:ext>
            </a:extLst>
          </p:cNvPr>
          <p:cNvSpPr>
            <a:spLocks xmlns:a="http://schemas.openxmlformats.org/drawingml/2006/main" noGrp="1"/>
          </p:cNvSpPr>
          <p:nvPr/>
        </p:nvSpPr>
        <p:spPr>
          <a:xfrm xmlns:a="http://schemas.openxmlformats.org/drawingml/2006/main">
            <a:off x="609600" y="59817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0">
                <a:solidFill>
                  <a:srgbClr val="526773"/>
                </a:solidFill>
                <a:latin typeface="Arial"/>
                <a:ea typeface="Arial"/>
                <a:cs typeface="Arial"/>
              </a:defRPr>
            </a:pPr>
            <a:r>
              <a:rPr sz="1725" b="0">
                <a:solidFill>
                  <a:srgbClr val="526773"/>
                </a:solidFill>
                <a:latin typeface="Arial"/>
                <a:ea typeface="Arial"/>
                <a:cs typeface="Arial"/>
              </a:rPr>
              <a:t>El informe amplía las categorías. .local/ permanece fuera de Git.</a:t>
            </a:r>
          </a:p>
        </p:txBody>
      </p:sp>
    </p:spTree>
    <p:extLst>
      <p:ext uri="{BB962C8B-B14F-4D97-AF65-F5344CB8AC3E}">
        <p14:creationId xmlns:p14="http://schemas.microsoft.com/office/powerpoint/2010/main" val="2289083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ulo-4">
            <a:extLst xmlns:a="http://schemas.openxmlformats.org/drawingml/2006/main">
              <a:ext uri="{FF2B5EF4-FFF2-40B4-BE49-F238E27FC236}">
                <a16:creationId xmlns:a16="http://schemas.microsoft.com/office/drawing/2014/main" id="{B75B3B49-49CF-4CFA-8607-30159A14C2FA}"/>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Organización del repositorio</a:t>
            </a:r>
          </a:p>
        </p:txBody>
      </p:sp>
      <p:sp>
        <p:nvSpPr>
          <p:cNvPr id="2" name="pagina-4">
            <a:extLst xmlns:a="http://schemas.openxmlformats.org/drawingml/2006/main">
              <a:ext uri="{FF2B5EF4-FFF2-40B4-BE49-F238E27FC236}">
                <a16:creationId xmlns:a16="http://schemas.microsoft.com/office/drawing/2014/main" id="{5248998C-0ADF-4B3B-BD79-F6BB1223B9E7}"/>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4</a:t>
            </a:r>
          </a:p>
        </p:txBody>
      </p:sp>
      <p:sp>
        <p:nvSpPr>
          <p:cNvPr id="3" name="estructura-izquierda">
            <a:extLst xmlns:a="http://schemas.openxmlformats.org/drawingml/2006/main">
              <a:ext uri="{FF2B5EF4-FFF2-40B4-BE49-F238E27FC236}">
                <a16:creationId xmlns:a16="http://schemas.microsoft.com/office/drawing/2014/main" id="{002DB374-78A0-491B-B550-F26E2ED76007}"/>
              </a:ext>
            </a:extLst>
          </p:cNvPr>
          <p:cNvSpPr>
            <a:spLocks xmlns:a="http://schemas.openxmlformats.org/drawingml/2006/main" noGrp="1"/>
          </p:cNvSpPr>
          <p:nvPr/>
        </p:nvSpPr>
        <p:spPr>
          <a:xfrm xmlns:a="http://schemas.openxmlformats.org/drawingml/2006/main">
            <a:off x="609600" y="1581150"/>
            <a:ext cx="51435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.context/ y specs/</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Contexto y contratos</a:t>
            </a:r>
          </a:p>
          <a:p xmlns:a="http://schemas.openxmlformats.org/drawingml/2006/main">
            <a:r>
              <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src/v1/ hasta src/v4/</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Fuentes por etapa</a:t>
            </a:r>
          </a:p>
          <a:p xmlns:a="http://schemas.openxmlformats.org/drawingml/2006/main">
            <a:r>
              <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legado/</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Referencia original</a:t>
            </a:r>
          </a:p>
        </p:txBody>
      </p:sp>
      <p:sp>
        <p:nvSpPr>
          <p:cNvPr id="4" name="estructura-derecha">
            <a:extLst xmlns:a="http://schemas.openxmlformats.org/drawingml/2006/main">
              <a:ext uri="{FF2B5EF4-FFF2-40B4-BE49-F238E27FC236}">
                <a16:creationId xmlns:a16="http://schemas.microsoft.com/office/drawing/2014/main" id="{24E2D9AA-2369-4F31-B6E0-7D9B42FD4FC0}"/>
              </a:ext>
            </a:extLst>
          </p:cNvPr>
          <p:cNvSpPr>
            <a:spLocks xmlns:a="http://schemas.openxmlformats.org/drawingml/2006/main" noGrp="1"/>
          </p:cNvSpPr>
          <p:nvPr/>
        </p:nvSpPr>
        <p:spPr>
          <a:xfrm xmlns:a="http://schemas.openxmlformats.org/drawingml/2006/main">
            <a:off x="6229350" y="1581150"/>
            <a:ext cx="5334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configuracion/</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Inventario, cambios y planes</a:t>
            </a:r>
          </a:p>
          <a:p xmlns:a="http://schemas.openxmlformats.org/drawingml/2006/main">
            <a:r>
              <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docs/ y evidencia/</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Explicación y comprobaciones</a:t>
            </a:r>
          </a:p>
          <a:p xmlns:a="http://schemas.openxmlformats.org/drawingml/2006/main">
            <a:r>
              <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herramientas/ y referencias/</a:t>
            </a:r>
          </a:p>
          <a:p xmlns:a="http://schemas.openxmlformats.org/drawingml/2006/main">
            <a:pPr algn="l">
              <a:lnSpc>
                <a:spcPct val="106000"/>
              </a:lnSpc>
              <a:buNone/>
              <a:defRPr sz="2175" b="0">
                <a:solidFill>
                  <a:srgbClr val="173747"/>
                </a:solidFill>
                <a:latin typeface="Arial"/>
                <a:ea typeface="Arial"/>
                <a:cs typeface="Arial"/>
              </a:defRPr>
            </a:pPr>
            <a:r>
              <a:rPr sz="2175" b="0">
                <a:solidFill>
                  <a:srgbClr val="173747"/>
                </a:solidFill>
                <a:latin typeface="Arial"/>
                <a:ea typeface="Arial"/>
                <a:cs typeface="Arial"/>
              </a:rPr>
              <a:t>Scripts y material del curso</a:t>
            </a:r>
          </a:p>
        </p:txBody>
      </p:sp>
      <p:sp>
        <p:nvSpPr>
          <p:cNvPr id="5" name="local">
            <a:extLst xmlns:a="http://schemas.openxmlformats.org/drawingml/2006/main">
              <a:ext uri="{FF2B5EF4-FFF2-40B4-BE49-F238E27FC236}">
                <a16:creationId xmlns:a16="http://schemas.microsoft.com/office/drawing/2014/main" id="{7E655975-3431-468E-8FBC-5FC2E1846F00}"/>
              </a:ext>
            </a:extLst>
          </p:cNvPr>
          <p:cNvSpPr>
            <a:spLocks xmlns:a="http://schemas.openxmlformats.org/drawingml/2006/main" noGrp="1"/>
          </p:cNvSpPr>
          <p:nvPr/>
        </p:nvSpPr>
        <p:spPr>
          <a:xfrm xmlns:a="http://schemas.openxmlformats.org/drawingml/2006/main">
            <a:off x="609600" y="58578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75" b="1">
                <a:solidFill>
                  <a:srgbClr val="007C87"/>
                </a:solidFill>
                <a:latin typeface="Arial"/>
                <a:ea typeface="Arial"/>
                <a:cs typeface="Arial"/>
              </a:defRPr>
            </a:pPr>
            <a:r>
              <a:rPr sz="1875" b="1">
                <a:solidFill>
                  <a:srgbClr val="007C87"/>
                </a:solidFill>
                <a:latin typeface="Arial"/>
                <a:ea typeface="Arial"/>
                <a:cs typeface="Arial"/>
              </a:rPr>
              <a:t>Copia privada en .local/, excluida mediante .gitignore</a:t>
            </a:r>
          </a:p>
        </p:txBody>
      </p:sp>
    </p:spTree>
    <p:extLst>
      <p:ext uri="{BB962C8B-B14F-4D97-AF65-F5344CB8AC3E}">
        <p14:creationId xmlns:p14="http://schemas.microsoft.com/office/powerpoint/2010/main" val="2020941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ulo-5">
            <a:extLst xmlns:a="http://schemas.openxmlformats.org/drawingml/2006/main">
              <a:ext uri="{FF2B5EF4-FFF2-40B4-BE49-F238E27FC236}">
                <a16:creationId xmlns:a16="http://schemas.microsoft.com/office/drawing/2014/main" id="{C915664C-A9F4-4BE9-A1CA-9A4E08EE2962}"/>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Versiones y línea base</a:t>
            </a:r>
          </a:p>
        </p:txBody>
      </p:sp>
      <p:sp>
        <p:nvSpPr>
          <p:cNvPr id="2" name="pagina-5">
            <a:extLst xmlns:a="http://schemas.openxmlformats.org/drawingml/2006/main">
              <a:ext uri="{FF2B5EF4-FFF2-40B4-BE49-F238E27FC236}">
                <a16:creationId xmlns:a16="http://schemas.microsoft.com/office/drawing/2014/main" id="{BB2AF78F-FA2A-4798-AFDD-9590DA5CE910}"/>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5</a:t>
            </a:r>
          </a:p>
        </p:txBody>
      </p:sp>
      <p:sp>
        <p:nvSpPr>
          <p:cNvPr id="3" name="etiqueta-versiones">
            <a:extLst xmlns:a="http://schemas.openxmlformats.org/drawingml/2006/main">
              <a:ext uri="{FF2B5EF4-FFF2-40B4-BE49-F238E27FC236}">
                <a16:creationId xmlns:a16="http://schemas.microsoft.com/office/drawing/2014/main" id="{DBCDAD95-70CD-4CD5-BDE6-DB3D67E1CE5C}"/>
              </a:ext>
            </a:extLst>
          </p:cNvPr>
          <p:cNvSpPr>
            <a:spLocks xmlns:a="http://schemas.openxmlformats.org/drawingml/2006/main" noGrp="1"/>
          </p:cNvSpPr>
          <p:nvPr/>
        </p:nvSpPr>
        <p:spPr>
          <a:xfrm xmlns:a="http://schemas.openxmlformats.org/drawingml/2006/main">
            <a:off x="609600" y="149542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Git y GitHub</a:t>
            </a:r>
          </a:p>
        </p:txBody>
      </p:sp>
      <p:sp>
        <p:nvSpPr>
          <p:cNvPr id="4" name="detalle-versiones">
            <a:extLst xmlns:a="http://schemas.openxmlformats.org/drawingml/2006/main">
              <a:ext uri="{FF2B5EF4-FFF2-40B4-BE49-F238E27FC236}">
                <a16:creationId xmlns:a16="http://schemas.microsoft.com/office/drawing/2014/main" id="{3F93ADB0-389F-4C64-B931-3C526F092600}"/>
              </a:ext>
            </a:extLst>
          </p:cNvPr>
          <p:cNvSpPr>
            <a:spLocks xmlns:a="http://schemas.openxmlformats.org/drawingml/2006/main" noGrp="1"/>
          </p:cNvSpPr>
          <p:nvPr/>
        </p:nvSpPr>
        <p:spPr>
          <a:xfrm xmlns:a="http://schemas.openxmlformats.org/drawingml/2006/main">
            <a:off x="4000500" y="149542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Historial local y repositorio</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RRHH-EvolucionSoftware.</a:t>
            </a:r>
          </a:p>
        </p:txBody>
      </p:sp>
      <p:sp>
        <p:nvSpPr>
          <p:cNvPr id="5" name="etiqueta-base">
            <a:extLst xmlns:a="http://schemas.openxmlformats.org/drawingml/2006/main">
              <a:ext uri="{FF2B5EF4-FFF2-40B4-BE49-F238E27FC236}">
                <a16:creationId xmlns:a16="http://schemas.microsoft.com/office/drawing/2014/main" id="{1E36EE63-ACD0-4438-ADE3-240F7F282001}"/>
              </a:ext>
            </a:extLst>
          </p:cNvPr>
          <p:cNvSpPr>
            <a:spLocks xmlns:a="http://schemas.openxmlformats.org/drawingml/2006/main" noGrp="1"/>
          </p:cNvSpPr>
          <p:nvPr/>
        </p:nvSpPr>
        <p:spPr>
          <a:xfrm xmlns:a="http://schemas.openxmlformats.org/drawingml/2006/main">
            <a:off x="609600" y="25812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Línea base C05</a:t>
            </a:r>
          </a:p>
        </p:txBody>
      </p:sp>
      <p:sp>
        <p:nvSpPr>
          <p:cNvPr id="6" name="detalle-base">
            <a:extLst xmlns:a="http://schemas.openxmlformats.org/drawingml/2006/main">
              <a:ext uri="{FF2B5EF4-FFF2-40B4-BE49-F238E27FC236}">
                <a16:creationId xmlns:a16="http://schemas.microsoft.com/office/drawing/2014/main" id="{870B2817-9931-4267-A187-019E20595FE5}"/>
              </a:ext>
            </a:extLst>
          </p:cNvPr>
          <p:cNvSpPr>
            <a:spLocks xmlns:a="http://schemas.openxmlformats.org/drawingml/2006/main" noGrp="1"/>
          </p:cNvSpPr>
          <p:nvPr/>
        </p:nvSpPr>
        <p:spPr>
          <a:xfrm xmlns:a="http://schemas.openxmlformats.org/drawingml/2006/main">
            <a:off x="4000500" y="258127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main, commit 6d82f9f</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531 archivos versionados.</a:t>
            </a:r>
          </a:p>
        </p:txBody>
      </p:sp>
      <p:sp>
        <p:nvSpPr>
          <p:cNvPr id="7" name="etiqueta-rama">
            <a:extLst xmlns:a="http://schemas.openxmlformats.org/drawingml/2006/main">
              <a:ext uri="{FF2B5EF4-FFF2-40B4-BE49-F238E27FC236}">
                <a16:creationId xmlns:a16="http://schemas.microsoft.com/office/drawing/2014/main" id="{E8EA41FE-EC46-477B-AA40-E110A075BFD3}"/>
              </a:ext>
            </a:extLst>
          </p:cNvPr>
          <p:cNvSpPr>
            <a:spLocks xmlns:a="http://schemas.openxmlformats.org/drawingml/2006/main" noGrp="1"/>
          </p:cNvSpPr>
          <p:nvPr/>
        </p:nvSpPr>
        <p:spPr>
          <a:xfrm xmlns:a="http://schemas.openxmlformats.org/drawingml/2006/main">
            <a:off x="609600" y="366712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Preparación C06</a:t>
            </a:r>
          </a:p>
        </p:txBody>
      </p:sp>
      <p:sp>
        <p:nvSpPr>
          <p:cNvPr id="8" name="detalle-rama">
            <a:extLst xmlns:a="http://schemas.openxmlformats.org/drawingml/2006/main">
              <a:ext uri="{FF2B5EF4-FFF2-40B4-BE49-F238E27FC236}">
                <a16:creationId xmlns:a16="http://schemas.microsoft.com/office/drawing/2014/main" id="{59DF592C-C2CC-48A7-8D31-5B141D33E1F4}"/>
              </a:ext>
            </a:extLst>
          </p:cNvPr>
          <p:cNvSpPr>
            <a:spLocks xmlns:a="http://schemas.openxmlformats.org/drawingml/2006/main" noGrp="1"/>
          </p:cNvSpPr>
          <p:nvPr/>
        </p:nvSpPr>
        <p:spPr>
          <a:xfrm xmlns:a="http://schemas.openxmlformats.org/drawingml/2006/main">
            <a:off x="4000500" y="366712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Rama semana-08-gcs</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Sexto commit pendiente.</a:t>
            </a:r>
          </a:p>
        </p:txBody>
      </p:sp>
      <p:sp>
        <p:nvSpPr>
          <p:cNvPr id="9" name="regla">
            <a:extLst xmlns:a="http://schemas.openxmlformats.org/drawingml/2006/main">
              <a:ext uri="{FF2B5EF4-FFF2-40B4-BE49-F238E27FC236}">
                <a16:creationId xmlns:a16="http://schemas.microsoft.com/office/drawing/2014/main" id="{C83B26F3-0ACC-4D5F-BC50-29FA1DD34E5C}"/>
              </a:ext>
            </a:extLst>
          </p:cNvPr>
          <p:cNvSpPr>
            <a:spLocks xmlns:a="http://schemas.openxmlformats.org/drawingml/2006/main" noGrp="1"/>
          </p:cNvSpPr>
          <p:nvPr/>
        </p:nvSpPr>
        <p:spPr>
          <a:xfrm xmlns:a="http://schemas.openxmlformats.org/drawingml/2006/main">
            <a:off x="609600" y="50577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325" b="1">
                <a:solidFill>
                  <a:srgbClr val="173747"/>
                </a:solidFill>
                <a:latin typeface="Arial"/>
                <a:ea typeface="Arial"/>
                <a:cs typeface="Arial"/>
              </a:defRPr>
            </a:pPr>
            <a:r>
              <a:rPr sz="2325" b="1">
                <a:solidFill>
                  <a:srgbClr val="173747"/>
                </a:solidFill>
                <a:latin typeface="Arial"/>
                <a:ea typeface="Arial"/>
                <a:cs typeface="Arial"/>
              </a:rPr>
              <a:t>Una etapa por commit, con qué cambió, por qué</a:t>
            </a:r>
          </a:p>
          <a:p xmlns:a="http://schemas.openxmlformats.org/drawingml/2006/main">
            <a:pPr algn="l">
              <a:lnSpc>
                <a:spcPct val="106000"/>
              </a:lnSpc>
              <a:buNone/>
              <a:defRPr sz="2325" b="1">
                <a:solidFill>
                  <a:srgbClr val="173747"/>
                </a:solidFill>
                <a:latin typeface="Arial"/>
                <a:ea typeface="Arial"/>
                <a:cs typeface="Arial"/>
              </a:defRPr>
            </a:pPr>
            <a:r>
              <a:rPr sz="2325" b="1">
                <a:solidFill>
                  <a:srgbClr val="173747"/>
                </a:solidFill>
                <a:latin typeface="Arial"/>
                <a:ea typeface="Arial"/>
                <a:cs typeface="Arial"/>
              </a:rPr>
              <a:t>y qué comprobaciones respaldan el resultado.</a:t>
            </a:r>
          </a:p>
        </p:txBody>
      </p:sp>
    </p:spTree>
    <p:extLst>
      <p:ext uri="{BB962C8B-B14F-4D97-AF65-F5344CB8AC3E}">
        <p14:creationId xmlns:p14="http://schemas.microsoft.com/office/powerpoint/2010/main" val="15402339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ulo-6">
            <a:extLst xmlns:a="http://schemas.openxmlformats.org/drawingml/2006/main">
              <a:ext uri="{FF2B5EF4-FFF2-40B4-BE49-F238E27FC236}">
                <a16:creationId xmlns:a16="http://schemas.microsoft.com/office/drawing/2014/main" id="{4C4035F5-4DD6-47C3-B632-0306646810A2}"/>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Control de cambios</a:t>
            </a:r>
          </a:p>
        </p:txBody>
      </p:sp>
      <p:sp>
        <p:nvSpPr>
          <p:cNvPr id="2" name="pagina-6">
            <a:extLst xmlns:a="http://schemas.openxmlformats.org/drawingml/2006/main">
              <a:ext uri="{FF2B5EF4-FFF2-40B4-BE49-F238E27FC236}">
                <a16:creationId xmlns:a16="http://schemas.microsoft.com/office/drawing/2014/main" id="{1A1E0C82-142B-4C97-9744-A0A1CE4ABA96}"/>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6</a:t>
            </a:r>
          </a:p>
        </p:txBody>
      </p:sp>
      <p:sp>
        <p:nvSpPr>
          <p:cNvPr id="3" name="etiqueta-registro">
            <a:extLst xmlns:a="http://schemas.openxmlformats.org/drawingml/2006/main">
              <a:ext uri="{FF2B5EF4-FFF2-40B4-BE49-F238E27FC236}">
                <a16:creationId xmlns:a16="http://schemas.microsoft.com/office/drawing/2014/main" id="{22D7A8BA-8B6A-4DCB-9D1A-8F214D3BF558}"/>
              </a:ext>
            </a:extLst>
          </p:cNvPr>
          <p:cNvSpPr>
            <a:spLocks xmlns:a="http://schemas.openxmlformats.org/drawingml/2006/main" noGrp="1"/>
          </p:cNvSpPr>
          <p:nvPr/>
        </p:nvSpPr>
        <p:spPr>
          <a:xfrm xmlns:a="http://schemas.openxmlformats.org/drawingml/2006/main">
            <a:off x="609600" y="143827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1. Registrar</a:t>
            </a:r>
          </a:p>
        </p:txBody>
      </p:sp>
      <p:sp>
        <p:nvSpPr>
          <p:cNvPr id="4" name="detalle-registro">
            <a:extLst xmlns:a="http://schemas.openxmlformats.org/drawingml/2006/main">
              <a:ext uri="{FF2B5EF4-FFF2-40B4-BE49-F238E27FC236}">
                <a16:creationId xmlns:a16="http://schemas.microsoft.com/office/drawing/2014/main" id="{1AFF1D2B-D73D-443D-9BBE-FFBE3B02F7F9}"/>
              </a:ext>
            </a:extLst>
          </p:cNvPr>
          <p:cNvSpPr>
            <a:spLocks xmlns:a="http://schemas.openxmlformats.org/drawingml/2006/main" noGrp="1"/>
          </p:cNvSpPr>
          <p:nvPr/>
        </p:nvSpPr>
        <p:spPr>
          <a:xfrm xmlns:a="http://schemas.openxmlformats.org/drawingml/2006/main">
            <a:off x="4000500" y="143827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CAM-S08-001 describe alcance, motivo</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y archivos que pueden cambiar.</a:t>
            </a:r>
          </a:p>
        </p:txBody>
      </p:sp>
      <p:sp>
        <p:nvSpPr>
          <p:cNvPr id="5" name="etiqueta-coordinar">
            <a:extLst xmlns:a="http://schemas.openxmlformats.org/drawingml/2006/main">
              <a:ext uri="{FF2B5EF4-FFF2-40B4-BE49-F238E27FC236}">
                <a16:creationId xmlns:a16="http://schemas.microsoft.com/office/drawing/2014/main" id="{08A07419-F29B-45A8-AF63-A796A63EE05B}"/>
              </a:ext>
            </a:extLst>
          </p:cNvPr>
          <p:cNvSpPr>
            <a:spLocks xmlns:a="http://schemas.openxmlformats.org/drawingml/2006/main" noGrp="1"/>
          </p:cNvSpPr>
          <p:nvPr/>
        </p:nvSpPr>
        <p:spPr>
          <a:xfrm xmlns:a="http://schemas.openxmlformats.org/drawingml/2006/main">
            <a:off x="609600" y="2514600"/>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2. Coordinar</a:t>
            </a:r>
          </a:p>
        </p:txBody>
      </p:sp>
      <p:sp>
        <p:nvSpPr>
          <p:cNvPr id="6" name="detalle-coordinar">
            <a:extLst xmlns:a="http://schemas.openxmlformats.org/drawingml/2006/main">
              <a:ext uri="{FF2B5EF4-FFF2-40B4-BE49-F238E27FC236}">
                <a16:creationId xmlns:a16="http://schemas.microsoft.com/office/drawing/2014/main" id="{4D78F6CA-4490-4C87-A9EE-FFE0022635F0}"/>
              </a:ext>
            </a:extLst>
          </p:cNvPr>
          <p:cNvSpPr>
            <a:spLocks xmlns:a="http://schemas.openxmlformats.org/drawingml/2006/main" noGrp="1"/>
          </p:cNvSpPr>
          <p:nvPr/>
        </p:nvSpPr>
        <p:spPr>
          <a:xfrm xmlns:a="http://schemas.openxmlformats.org/drawingml/2006/main">
            <a:off x="4000500" y="251460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El autor anuncia las rutas antes de editar</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y trabaja en la rama de la semana.</a:t>
            </a:r>
          </a:p>
        </p:txBody>
      </p:sp>
      <p:sp>
        <p:nvSpPr>
          <p:cNvPr id="7" name="etiqueta-comprobar">
            <a:extLst xmlns:a="http://schemas.openxmlformats.org/drawingml/2006/main">
              <a:ext uri="{FF2B5EF4-FFF2-40B4-BE49-F238E27FC236}">
                <a16:creationId xmlns:a16="http://schemas.microsoft.com/office/drawing/2014/main" id="{1FAD207F-E3FA-4638-8919-C89EEDE3BB40}"/>
              </a:ext>
            </a:extLst>
          </p:cNvPr>
          <p:cNvSpPr>
            <a:spLocks xmlns:a="http://schemas.openxmlformats.org/drawingml/2006/main" noGrp="1"/>
          </p:cNvSpPr>
          <p:nvPr/>
        </p:nvSpPr>
        <p:spPr>
          <a:xfrm xmlns:a="http://schemas.openxmlformats.org/drawingml/2006/main">
            <a:off x="609600" y="359092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3. Comprobar</a:t>
            </a:r>
          </a:p>
        </p:txBody>
      </p:sp>
      <p:sp>
        <p:nvSpPr>
          <p:cNvPr id="8" name="detalle-comprobar">
            <a:extLst xmlns:a="http://schemas.openxmlformats.org/drawingml/2006/main">
              <a:ext uri="{FF2B5EF4-FFF2-40B4-BE49-F238E27FC236}">
                <a16:creationId xmlns:a16="http://schemas.microsoft.com/office/drawing/2014/main" id="{5095832A-033F-4AA5-BF76-FABEC02D1454}"/>
              </a:ext>
            </a:extLst>
          </p:cNvPr>
          <p:cNvSpPr>
            <a:spLocks xmlns:a="http://schemas.openxmlformats.org/drawingml/2006/main" noGrp="1"/>
          </p:cNvSpPr>
          <p:nvPr/>
        </p:nvSpPr>
        <p:spPr>
          <a:xfrm xmlns:a="http://schemas.openxmlformats.org/drawingml/2006/main">
            <a:off x="4000500" y="359092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Auditoría, pruebas y documentación</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acompañan la propuesta de integración.</a:t>
            </a:r>
          </a:p>
        </p:txBody>
      </p:sp>
      <p:sp>
        <p:nvSpPr>
          <p:cNvPr id="9" name="etiqueta-revision">
            <a:extLst xmlns:a="http://schemas.openxmlformats.org/drawingml/2006/main">
              <a:ext uri="{FF2B5EF4-FFF2-40B4-BE49-F238E27FC236}">
                <a16:creationId xmlns:a16="http://schemas.microsoft.com/office/drawing/2014/main" id="{DF0D9DD1-E390-439A-A673-E2B5DD394E57}"/>
              </a:ext>
            </a:extLst>
          </p:cNvPr>
          <p:cNvSpPr>
            <a:spLocks xmlns:a="http://schemas.openxmlformats.org/drawingml/2006/main" noGrp="1"/>
          </p:cNvSpPr>
          <p:nvPr/>
        </p:nvSpPr>
        <p:spPr>
          <a:xfrm xmlns:a="http://schemas.openxmlformats.org/drawingml/2006/main">
            <a:off x="609600" y="4667250"/>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025" b="1">
                <a:solidFill>
                  <a:srgbClr val="007C87"/>
                </a:solidFill>
                <a:latin typeface="Arial"/>
                <a:ea typeface="Arial"/>
                <a:cs typeface="Arial"/>
              </a:defRPr>
            </a:pPr>
            <a:r>
              <a:rPr sz="2025" b="1">
                <a:solidFill>
                  <a:srgbClr val="007C87"/>
                </a:solidFill>
                <a:latin typeface="Arial"/>
                <a:ea typeface="Arial"/>
                <a:cs typeface="Arial"/>
              </a:rPr>
              <a:t>4. Revisar e integrar</a:t>
            </a:r>
          </a:p>
        </p:txBody>
      </p:sp>
      <p:sp>
        <p:nvSpPr>
          <p:cNvPr id="10" name="detalle-revision">
            <a:extLst xmlns:a="http://schemas.openxmlformats.org/drawingml/2006/main">
              <a:ext uri="{FF2B5EF4-FFF2-40B4-BE49-F238E27FC236}">
                <a16:creationId xmlns:a16="http://schemas.microsoft.com/office/drawing/2014/main" id="{EE0EB24F-A38D-447D-9D11-51159FA969B5}"/>
              </a:ext>
            </a:extLst>
          </p:cNvPr>
          <p:cNvSpPr>
            <a:spLocks xmlns:a="http://schemas.openxmlformats.org/drawingml/2006/main" noGrp="1"/>
          </p:cNvSpPr>
          <p:nvPr/>
        </p:nvSpPr>
        <p:spPr>
          <a:xfrm xmlns:a="http://schemas.openxmlformats.org/drawingml/2006/main">
            <a:off x="4000500" y="46672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KirderFaid13 revisa el cambio</a:t>
            </a:r>
          </a:p>
          <a:p xmlns:a="http://schemas.openxmlformats.org/drawingml/2006/main">
            <a:pPr algn="l">
              <a:lnSpc>
                <a:spcPct val="106000"/>
              </a:lnSpc>
              <a:buNone/>
              <a:defRPr sz="2100" b="0">
                <a:solidFill>
                  <a:srgbClr val="173747"/>
                </a:solidFill>
                <a:latin typeface="Arial"/>
                <a:ea typeface="Arial"/>
                <a:cs typeface="Arial"/>
              </a:defRPr>
            </a:pPr>
            <a:r>
              <a:rPr sz="2100" b="0">
                <a:solidFill>
                  <a:srgbClr val="173747"/>
                </a:solidFill>
                <a:latin typeface="Arial"/>
                <a:ea typeface="Arial"/>
                <a:cs typeface="Arial"/>
              </a:rPr>
              <a:t>y decide cuándo incorporarlo a main.</a:t>
            </a:r>
          </a:p>
        </p:txBody>
      </p:sp>
      <p:sp>
        <p:nvSpPr>
          <p:cNvPr id="11" name="proceso-estado">
            <a:extLst xmlns:a="http://schemas.openxmlformats.org/drawingml/2006/main">
              <a:ext uri="{FF2B5EF4-FFF2-40B4-BE49-F238E27FC236}">
                <a16:creationId xmlns:a16="http://schemas.microsoft.com/office/drawing/2014/main" id="{017BEC85-6280-4A83-84B7-6F6D91B02854}"/>
              </a:ext>
            </a:extLst>
          </p:cNvPr>
          <p:cNvSpPr>
            <a:spLocks xmlns:a="http://schemas.openxmlformats.org/drawingml/2006/main" noGrp="1"/>
          </p:cNvSpPr>
          <p:nvPr/>
        </p:nvSpPr>
        <p:spPr>
          <a:xfrm xmlns:a="http://schemas.openxmlformats.org/drawingml/2006/main">
            <a:off x="609600" y="58864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0">
                <a:solidFill>
                  <a:srgbClr val="526773"/>
                </a:solidFill>
                <a:latin typeface="Arial"/>
                <a:ea typeface="Arial"/>
                <a:cs typeface="Arial"/>
              </a:defRPr>
            </a:pPr>
            <a:r>
              <a:rPr sz="1725" b="0">
                <a:solidFill>
                  <a:srgbClr val="526773"/>
                </a:solidFill>
                <a:latin typeface="Arial"/>
                <a:ea typeface="Arial"/>
                <a:cs typeface="Arial"/>
              </a:rPr>
              <a:t>Procedimiento propuesto para las siguientes integraciones</a:t>
            </a:r>
          </a:p>
        </p:txBody>
      </p:sp>
    </p:spTree>
    <p:extLst>
      <p:ext uri="{BB962C8B-B14F-4D97-AF65-F5344CB8AC3E}">
        <p14:creationId xmlns:p14="http://schemas.microsoft.com/office/powerpoint/2010/main" val="9478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ulo-7">
            <a:extLst xmlns:a="http://schemas.openxmlformats.org/drawingml/2006/main">
              <a:ext uri="{FF2B5EF4-FFF2-40B4-BE49-F238E27FC236}">
                <a16:creationId xmlns:a16="http://schemas.microsoft.com/office/drawing/2014/main" id="{4AEDAC34-F42D-4CD6-9B46-542D0091C544}"/>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Plan inicial de pruebas</a:t>
            </a:r>
          </a:p>
        </p:txBody>
      </p:sp>
      <p:sp>
        <p:nvSpPr>
          <p:cNvPr id="2" name="pagina-7">
            <a:extLst xmlns:a="http://schemas.openxmlformats.org/drawingml/2006/main">
              <a:ext uri="{FF2B5EF4-FFF2-40B4-BE49-F238E27FC236}">
                <a16:creationId xmlns:a16="http://schemas.microsoft.com/office/drawing/2014/main" id="{8BAD71A9-11A3-4327-9C46-8A5F18B3F075}"/>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7</a:t>
            </a:r>
          </a:p>
        </p:txBody>
      </p:sp>
      <p:sp>
        <p:nvSpPr>
          <p:cNvPr id="3" name="ejecutadas-titulo">
            <a:extLst xmlns:a="http://schemas.openxmlformats.org/drawingml/2006/main">
              <a:ext uri="{FF2B5EF4-FFF2-40B4-BE49-F238E27FC236}">
                <a16:creationId xmlns:a16="http://schemas.microsoft.com/office/drawing/2014/main" id="{0D627BEF-606C-42DE-A245-BC90D911A37B}"/>
              </a:ext>
            </a:extLst>
          </p:cNvPr>
          <p:cNvSpPr>
            <a:spLocks xmlns:a="http://schemas.openxmlformats.org/drawingml/2006/main" noGrp="1"/>
          </p:cNvSpPr>
          <p:nvPr/>
        </p:nvSpPr>
        <p:spPr>
          <a:xfrm xmlns:a="http://schemas.openxmlformats.org/drawingml/2006/main">
            <a:off x="609600" y="1495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75" b="1">
                <a:solidFill>
                  <a:srgbClr val="007C87"/>
                </a:solidFill>
                <a:latin typeface="Arial"/>
                <a:ea typeface="Arial"/>
                <a:cs typeface="Arial"/>
              </a:defRPr>
            </a:pPr>
            <a:r>
              <a:rPr sz="2175" b="1">
                <a:solidFill>
                  <a:srgbClr val="007C87"/>
                </a:solidFill>
                <a:latin typeface="Arial"/>
                <a:ea typeface="Arial"/>
                <a:cs typeface="Arial"/>
              </a:rPr>
              <a:t>Comprobaciones ejecutadas</a:t>
            </a:r>
          </a:p>
        </p:txBody>
      </p:sp>
      <p:sp>
        <p:nvSpPr>
          <p:cNvPr id="4" name="ejecutadas-detalle">
            <a:extLst xmlns:a="http://schemas.openxmlformats.org/drawingml/2006/main">
              <a:ext uri="{FF2B5EF4-FFF2-40B4-BE49-F238E27FC236}">
                <a16:creationId xmlns:a16="http://schemas.microsoft.com/office/drawing/2014/main" id="{6D7552F2-C8A6-4C82-B252-65C11952E7C9}"/>
              </a:ext>
            </a:extLst>
          </p:cNvPr>
          <p:cNvSpPr>
            <a:spLocks xmlns:a="http://schemas.openxmlformats.org/drawingml/2006/main" noGrp="1"/>
          </p:cNvSpPr>
          <p:nvPr/>
        </p:nvSpPr>
        <p:spPr>
          <a:xfrm xmlns:a="http://schemas.openxmlformats.org/drawingml/2006/main">
            <a:off x="609600" y="2066925"/>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400" b="0">
                <a:solidFill>
                  <a:srgbClr val="173747"/>
                </a:solidFill>
                <a:latin typeface="Arial"/>
                <a:ea typeface="Arial"/>
                <a:cs typeface="Arial"/>
              </a:defRPr>
            </a:pPr>
            <a:r>
              <a:rPr sz="2400" b="0">
                <a:solidFill>
                  <a:srgbClr val="173747"/>
                </a:solidFill>
                <a:latin typeface="Arial"/>
                <a:ea typeface="Arial"/>
                <a:cs typeface="Arial"/>
              </a:rPr>
              <a:t>16 escenarios v4 con sustitutos, sin SQL.</a:t>
            </a:r>
          </a:p>
          <a:p xmlns:a="http://schemas.openxmlformats.org/drawingml/2006/main">
            <a:pPr algn="l">
              <a:lnSpc>
                <a:spcPct val="106000"/>
              </a:lnSpc>
              <a:buNone/>
              <a:defRPr sz="2400" b="0">
                <a:solidFill>
                  <a:srgbClr val="173747"/>
                </a:solidFill>
                <a:latin typeface="Arial"/>
                <a:ea typeface="Arial"/>
                <a:cs typeface="Arial"/>
              </a:defRPr>
            </a:pPr>
            <a:r>
              <a:rPr sz="2400" b="0">
                <a:solidFill>
                  <a:srgbClr val="173747"/>
                </a:solidFill>
                <a:latin typeface="Arial"/>
                <a:ea typeface="Arial"/>
                <a:cs typeface="Arial"/>
              </a:rPr>
              <a:t>14 escenarios aislados del auditor de configuración.</a:t>
            </a:r>
          </a:p>
        </p:txBody>
      </p:sp>
      <p:sp>
        <p:nvSpPr>
          <p:cNvPr id="5" name="propuestas-titulo">
            <a:extLst xmlns:a="http://schemas.openxmlformats.org/drawingml/2006/main">
              <a:ext uri="{FF2B5EF4-FFF2-40B4-BE49-F238E27FC236}">
                <a16:creationId xmlns:a16="http://schemas.microsoft.com/office/drawing/2014/main" id="{2F8A435E-1D36-4978-9A93-26CF8552AF52}"/>
              </a:ext>
            </a:extLst>
          </p:cNvPr>
          <p:cNvSpPr>
            <a:spLocks xmlns:a="http://schemas.openxmlformats.org/drawingml/2006/main" noGrp="1"/>
          </p:cNvSpPr>
          <p:nvPr/>
        </p:nvSpPr>
        <p:spPr>
          <a:xfrm xmlns:a="http://schemas.openxmlformats.org/drawingml/2006/main">
            <a:off x="609600" y="3429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75" b="1">
                <a:solidFill>
                  <a:srgbClr val="007C87"/>
                </a:solidFill>
                <a:latin typeface="Arial"/>
                <a:ea typeface="Arial"/>
                <a:cs typeface="Arial"/>
              </a:defRPr>
            </a:pPr>
            <a:r>
              <a:rPr sz="2175" b="1">
                <a:solidFill>
                  <a:srgbClr val="007C87"/>
                </a:solidFill>
                <a:latin typeface="Arial"/>
                <a:ea typeface="Arial"/>
                <a:cs typeface="Arial"/>
              </a:rPr>
              <a:t>Pruebas iniciales propuestas</a:t>
            </a:r>
          </a:p>
        </p:txBody>
      </p:sp>
      <p:sp>
        <p:nvSpPr>
          <p:cNvPr id="6" name="propuestas-detalle">
            <a:extLst xmlns:a="http://schemas.openxmlformats.org/drawingml/2006/main">
              <a:ext uri="{FF2B5EF4-FFF2-40B4-BE49-F238E27FC236}">
                <a16:creationId xmlns:a16="http://schemas.microsoft.com/office/drawing/2014/main" id="{49CDDA3F-E4A0-40CE-B6B0-98714821CBB1}"/>
              </a:ext>
            </a:extLst>
          </p:cNvPr>
          <p:cNvSpPr>
            <a:spLocks xmlns:a="http://schemas.openxmlformats.org/drawingml/2006/main" noGrp="1"/>
          </p:cNvSpPr>
          <p:nvPr/>
        </p:nvSpPr>
        <p:spPr>
          <a:xfrm xmlns:a="http://schemas.openxmlformats.org/drawingml/2006/main">
            <a:off x="609600" y="4000500"/>
            <a:ext cx="1095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b="0">
                <a:solidFill>
                  <a:srgbClr val="173747"/>
                </a:solidFill>
                <a:latin typeface="Arial"/>
                <a:ea typeface="Arial"/>
                <a:cs typeface="Arial"/>
              </a:defRPr>
            </a:pPr>
            <a:r>
              <a:rPr sz="2250" b="0">
                <a:solidFill>
                  <a:srgbClr val="173747"/>
                </a:solidFill>
                <a:latin typeface="Arial"/>
                <a:ea typeface="Arial"/>
                <a:cs typeface="Arial"/>
              </a:rPr>
              <a:t>Funcionales de interfaz e integración con SQL.</a:t>
            </a:r>
          </a:p>
          <a:p xmlns:a="http://schemas.openxmlformats.org/drawingml/2006/main">
            <a:pPr algn="l">
              <a:lnSpc>
                <a:spcPct val="106000"/>
              </a:lnSpc>
              <a:buNone/>
              <a:defRPr sz="2250" b="0">
                <a:solidFill>
                  <a:srgbClr val="173747"/>
                </a:solidFill>
                <a:latin typeface="Arial"/>
                <a:ea typeface="Arial"/>
                <a:cs typeface="Arial"/>
              </a:defRPr>
            </a:pPr>
            <a:r>
              <a:rPr sz="2250" b="0">
                <a:solidFill>
                  <a:srgbClr val="173747"/>
                </a:solidFill>
                <a:latin typeface="Arial"/>
                <a:ea typeface="Arial"/>
                <a:cs typeface="Arial"/>
              </a:rPr>
              <a:t>Rendimiento y seguridad con criterios acordados.</a:t>
            </a:r>
          </a:p>
          <a:p xmlns:a="http://schemas.openxmlformats.org/drawingml/2006/main">
            <a:pPr algn="l">
              <a:lnSpc>
                <a:spcPct val="106000"/>
              </a:lnSpc>
              <a:buNone/>
              <a:defRPr sz="2250" b="0">
                <a:solidFill>
                  <a:srgbClr val="173747"/>
                </a:solidFill>
                <a:latin typeface="Arial"/>
                <a:ea typeface="Arial"/>
                <a:cs typeface="Arial"/>
              </a:defRPr>
            </a:pPr>
            <a:r>
              <a:rPr sz="2250" b="0">
                <a:solidFill>
                  <a:srgbClr val="173747"/>
                </a:solidFill>
                <a:latin typeface="Arial"/>
                <a:ea typeface="Arial"/>
                <a:cs typeface="Arial"/>
              </a:rPr>
              <a:t>Pendientes de un entorno autorizado.</a:t>
            </a:r>
          </a:p>
        </p:txBody>
      </p:sp>
      <p:sp>
        <p:nvSpPr>
          <p:cNvPr id="7" name="clasificacion">
            <a:extLst xmlns:a="http://schemas.openxmlformats.org/drawingml/2006/main">
              <a:ext uri="{FF2B5EF4-FFF2-40B4-BE49-F238E27FC236}">
                <a16:creationId xmlns:a16="http://schemas.microsoft.com/office/drawing/2014/main" id="{42C170BD-503C-4938-A6DA-0947C19AC4E3}"/>
              </a:ext>
            </a:extLst>
          </p:cNvPr>
          <p:cNvSpPr>
            <a:spLocks xmlns:a="http://schemas.openxmlformats.org/drawingml/2006/main" noGrp="1"/>
          </p:cNvSpPr>
          <p:nvPr/>
        </p:nvSpPr>
        <p:spPr>
          <a:xfrm xmlns:a="http://schemas.openxmlformats.org/drawingml/2006/main">
            <a:off x="609600" y="5715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0">
                <a:solidFill>
                  <a:srgbClr val="526773"/>
                </a:solidFill>
                <a:latin typeface="Arial"/>
                <a:ea typeface="Arial"/>
                <a:cs typeface="Arial"/>
              </a:defRPr>
            </a:pPr>
            <a:r>
              <a:rPr sz="1725" b="0">
                <a:solidFill>
                  <a:srgbClr val="526773"/>
                </a:solidFill>
                <a:latin typeface="Arial"/>
                <a:ea typeface="Arial"/>
                <a:cs typeface="Arial"/>
              </a:rPr>
              <a:t>Caja negra, blanca o gris indica acceso al interior.</a:t>
            </a:r>
          </a:p>
          <a:p xmlns:a="http://schemas.openxmlformats.org/drawingml/2006/main">
            <a:pPr algn="l">
              <a:lnSpc>
                <a:spcPct val="106000"/>
              </a:lnSpc>
              <a:buNone/>
              <a:defRPr sz="1725" b="0">
                <a:solidFill>
                  <a:srgbClr val="526773"/>
                </a:solidFill>
                <a:latin typeface="Arial"/>
                <a:ea typeface="Arial"/>
                <a:cs typeface="Arial"/>
              </a:defRPr>
            </a:pPr>
            <a:r>
              <a:rPr sz="1725" b="0">
                <a:solidFill>
                  <a:srgbClr val="526773"/>
                </a:solidFill>
                <a:latin typeface="Arial"/>
                <a:ea typeface="Arial"/>
                <a:cs typeface="Arial"/>
              </a:rPr>
              <a:t>Funcionalidad, rendimiento o seguridad indica el objetivo.</a:t>
            </a:r>
          </a:p>
        </p:txBody>
      </p:sp>
    </p:spTree>
    <p:extLst>
      <p:ext uri="{BB962C8B-B14F-4D97-AF65-F5344CB8AC3E}">
        <p14:creationId xmlns:p14="http://schemas.microsoft.com/office/powerpoint/2010/main" val="11087506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ulo-8">
            <a:extLst xmlns:a="http://schemas.openxmlformats.org/drawingml/2006/main">
              <a:ext uri="{FF2B5EF4-FFF2-40B4-BE49-F238E27FC236}">
                <a16:creationId xmlns:a16="http://schemas.microsoft.com/office/drawing/2014/main" id="{DAC48193-B5AC-4219-A692-5453162A2DC8}"/>
              </a:ext>
            </a:extLst>
          </p:cNvPr>
          <p:cNvSpPr>
            <a:spLocks xmlns:a="http://schemas.openxmlformats.org/drawingml/2006/main" noGrp="1"/>
          </p:cNvSpPr>
          <p:nvPr/>
        </p:nvSpPr>
        <p:spPr>
          <a:xfrm xmlns:a="http://schemas.openxmlformats.org/drawingml/2006/main">
            <a:off x="609600" y="4381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225" b="1">
                <a:solidFill>
                  <a:srgbClr val="173747"/>
                </a:solidFill>
                <a:latin typeface="Arial"/>
                <a:ea typeface="Arial"/>
                <a:cs typeface="Arial"/>
              </a:defRPr>
            </a:pPr>
            <a:r>
              <a:rPr sz="3225" b="1">
                <a:solidFill>
                  <a:srgbClr val="173747"/>
                </a:solidFill>
                <a:latin typeface="Arial"/>
                <a:ea typeface="Arial"/>
                <a:cs typeface="Arial"/>
              </a:rPr>
              <a:t>Auditoría de la configuración</a:t>
            </a:r>
          </a:p>
        </p:txBody>
      </p:sp>
      <p:sp>
        <p:nvSpPr>
          <p:cNvPr id="2" name="pagina-8">
            <a:extLst xmlns:a="http://schemas.openxmlformats.org/drawingml/2006/main">
              <a:ext uri="{FF2B5EF4-FFF2-40B4-BE49-F238E27FC236}">
                <a16:creationId xmlns:a16="http://schemas.microsoft.com/office/drawing/2014/main" id="{A29052B4-C110-4CB3-9DD4-C4E6C41AFB8D}"/>
              </a:ext>
            </a:extLst>
          </p:cNvPr>
          <p:cNvSpPr>
            <a:spLocks xmlns:a="http://schemas.openxmlformats.org/drawingml/2006/main" noGrp="1"/>
          </p:cNvSpPr>
          <p:nvPr/>
        </p:nvSpPr>
        <p:spPr>
          <a:xfrm xmlns:a="http://schemas.openxmlformats.org/drawingml/2006/main">
            <a:off x="11334750" y="63150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6000"/>
              </a:lnSpc>
              <a:buNone/>
              <a:defRPr sz="1350" b="0">
                <a:solidFill>
                  <a:srgbClr val="526773"/>
                </a:solidFill>
                <a:latin typeface="Arial"/>
                <a:ea typeface="Arial"/>
                <a:cs typeface="Arial"/>
              </a:defRPr>
            </a:pPr>
            <a:r>
              <a:rPr sz="1350" b="0">
                <a:solidFill>
                  <a:srgbClr val="526773"/>
                </a:solidFill>
                <a:latin typeface="Arial"/>
                <a:ea typeface="Arial"/>
                <a:cs typeface="Arial"/>
              </a:rPr>
              <a:t>8</a:t>
            </a:r>
          </a:p>
        </p:txBody>
      </p:sp>
      <p:sp>
        <p:nvSpPr>
          <p:cNvPr id="3" name="auditor-comando">
            <a:extLst xmlns:a="http://schemas.openxmlformats.org/drawingml/2006/main">
              <a:ext uri="{FF2B5EF4-FFF2-40B4-BE49-F238E27FC236}">
                <a16:creationId xmlns:a16="http://schemas.microsoft.com/office/drawing/2014/main" id="{D000F7ED-0583-46E8-847D-F942382E64F5}"/>
              </a:ext>
            </a:extLst>
          </p:cNvPr>
          <p:cNvSpPr>
            <a:spLocks xmlns:a="http://schemas.openxmlformats.org/drawingml/2006/main" noGrp="1"/>
          </p:cNvSpPr>
          <p:nvPr/>
        </p:nvSpPr>
        <p:spPr>
          <a:xfrm xmlns:a="http://schemas.openxmlformats.org/drawingml/2006/main">
            <a:off x="609600" y="149542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1">
                <a:solidFill>
                  <a:srgbClr val="007C87"/>
                </a:solidFill>
                <a:latin typeface="Arial"/>
                <a:ea typeface="Arial"/>
                <a:cs typeface="Arial"/>
              </a:defRPr>
            </a:pPr>
            <a:r>
              <a:rPr sz="2100" b="1">
                <a:solidFill>
                  <a:srgbClr val="007C87"/>
                </a:solidFill>
                <a:latin typeface="Arial"/>
                <a:ea typeface="Arial"/>
                <a:cs typeface="Arial"/>
              </a:rPr>
              <a:t>python herramientas/auditar_configuracion.py</a:t>
            </a:r>
          </a:p>
        </p:txBody>
      </p:sp>
      <p:sp>
        <p:nvSpPr>
          <p:cNvPr id="4" name="auditor-resultado">
            <a:extLst xmlns:a="http://schemas.openxmlformats.org/drawingml/2006/main">
              <a:ext uri="{FF2B5EF4-FFF2-40B4-BE49-F238E27FC236}">
                <a16:creationId xmlns:a16="http://schemas.microsoft.com/office/drawing/2014/main" id="{8A0DC168-33F3-4C27-85F4-B4FF9A212F63}"/>
              </a:ext>
            </a:extLst>
          </p:cNvPr>
          <p:cNvSpPr>
            <a:spLocks xmlns:a="http://schemas.openxmlformats.org/drawingml/2006/main" noGrp="1"/>
          </p:cNvSpPr>
          <p:nvPr/>
        </p:nvSpPr>
        <p:spPr>
          <a:xfrm xmlns:a="http://schemas.openxmlformats.org/drawingml/2006/main">
            <a:off x="609600" y="2409825"/>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3150" b="1">
                <a:solidFill>
                  <a:srgbClr val="173747"/>
                </a:solidFill>
                <a:latin typeface="Arial"/>
                <a:ea typeface="Arial"/>
                <a:cs typeface="Arial"/>
              </a:defRPr>
            </a:pPr>
            <a:r>
              <a:rPr sz="3150" b="1">
                <a:solidFill>
                  <a:srgbClr val="173747"/>
                </a:solidFill>
                <a:latin typeface="Arial"/>
                <a:ea typeface="Arial"/>
                <a:cs typeface="Arial"/>
              </a:rPr>
              <a:t>531 archivos de la base comprobados</a:t>
            </a:r>
          </a:p>
        </p:txBody>
      </p:sp>
      <p:sp>
        <p:nvSpPr>
          <p:cNvPr id="5" name="auditor-detalle">
            <a:extLst xmlns:a="http://schemas.openxmlformats.org/drawingml/2006/main">
              <a:ext uri="{FF2B5EF4-FFF2-40B4-BE49-F238E27FC236}">
                <a16:creationId xmlns:a16="http://schemas.microsoft.com/office/drawing/2014/main" id="{799E81CD-E09F-495D-9D41-6C1069E8B1F5}"/>
              </a:ext>
            </a:extLst>
          </p:cNvPr>
          <p:cNvSpPr>
            <a:spLocks xmlns:a="http://schemas.openxmlformats.org/drawingml/2006/main" noGrp="1"/>
          </p:cNvSpPr>
          <p:nvPr/>
        </p:nvSpPr>
        <p:spPr>
          <a:xfrm xmlns:a="http://schemas.openxmlformats.org/drawingml/2006/main">
            <a:off x="609600" y="3419475"/>
            <a:ext cx="10953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325" b="0">
                <a:solidFill>
                  <a:srgbClr val="173747"/>
                </a:solidFill>
                <a:latin typeface="Arial"/>
                <a:ea typeface="Arial"/>
                <a:cs typeface="Arial"/>
              </a:defRPr>
            </a:pPr>
            <a:r>
              <a:rPr sz="2325" b="0">
                <a:solidFill>
                  <a:srgbClr val="173747"/>
                </a:solidFill>
                <a:latin typeface="Arial"/>
                <a:ea typeface="Arial"/>
                <a:cs typeface="Arial"/>
              </a:rPr>
              <a:t>Contenido protegido conservado.</a:t>
            </a:r>
          </a:p>
          <a:p xmlns:a="http://schemas.openxmlformats.org/drawingml/2006/main">
            <a:pPr algn="l">
              <a:lnSpc>
                <a:spcPct val="106000"/>
              </a:lnSpc>
              <a:buNone/>
              <a:defRPr sz="2325" b="0">
                <a:solidFill>
                  <a:srgbClr val="173747"/>
                </a:solidFill>
                <a:latin typeface="Arial"/>
                <a:ea typeface="Arial"/>
                <a:cs typeface="Arial"/>
              </a:defRPr>
            </a:pPr>
            <a:r>
              <a:rPr sz="2325" b="0">
                <a:solidFill>
                  <a:srgbClr val="173747"/>
                </a:solidFill>
                <a:latin typeface="Arial"/>
                <a:ea typeface="Arial"/>
                <a:cs typeface="Arial"/>
              </a:rPr>
              <a:t>Cambios autorizados separados de los archivos nuevos.</a:t>
            </a:r>
          </a:p>
          <a:p xmlns:a="http://schemas.openxmlformats.org/drawingml/2006/main">
            <a:pPr algn="l">
              <a:lnSpc>
                <a:spcPct val="106000"/>
              </a:lnSpc>
              <a:buNone/>
              <a:defRPr sz="2325" b="0">
                <a:solidFill>
                  <a:srgbClr val="173747"/>
                </a:solidFill>
                <a:latin typeface="Arial"/>
                <a:ea typeface="Arial"/>
                <a:cs typeface="Arial"/>
              </a:defRPr>
            </a:pPr>
            <a:r>
              <a:rPr sz="2325" b="0">
                <a:solidFill>
                  <a:srgbClr val="173747"/>
                </a:solidFill>
                <a:latin typeface="Arial"/>
                <a:ea typeface="Arial"/>
                <a:cs typeface="Arial"/>
              </a:rPr>
              <a:t>Cero fallos de configuración en la preparación.</a:t>
            </a:r>
          </a:p>
        </p:txBody>
      </p:sp>
      <p:sp>
        <p:nvSpPr>
          <p:cNvPr id="6" name="beneficio">
            <a:extLst xmlns:a="http://schemas.openxmlformats.org/drawingml/2006/main">
              <a:ext uri="{FF2B5EF4-FFF2-40B4-BE49-F238E27FC236}">
                <a16:creationId xmlns:a16="http://schemas.microsoft.com/office/drawing/2014/main" id="{72143816-C3A1-498A-8F2B-F028380D042C}"/>
              </a:ext>
            </a:extLst>
          </p:cNvPr>
          <p:cNvSpPr>
            <a:spLocks xmlns:a="http://schemas.openxmlformats.org/drawingml/2006/main" noGrp="1"/>
          </p:cNvSpPr>
          <p:nvPr/>
        </p:nvSpPr>
        <p:spPr>
          <a:xfrm xmlns:a="http://schemas.openxmlformats.org/drawingml/2006/main">
            <a:off x="609600" y="5153025"/>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b="0">
                <a:solidFill>
                  <a:srgbClr val="173747"/>
                </a:solidFill>
                <a:latin typeface="Arial"/>
                <a:ea typeface="Arial"/>
                <a:cs typeface="Arial"/>
              </a:defRPr>
            </a:pPr>
            <a:r>
              <a:rPr sz="2250" b="0">
                <a:solidFill>
                  <a:srgbClr val="173747"/>
                </a:solidFill>
                <a:latin typeface="Arial"/>
                <a:ea typeface="Arial"/>
                <a:cs typeface="Arial"/>
              </a:rPr>
              <a:t>Cada etapa mantiene su origen y evidencia</a:t>
            </a:r>
          </a:p>
          <a:p xmlns:a="http://schemas.openxmlformats.org/drawingml/2006/main">
            <a:pPr algn="l">
              <a:lnSpc>
                <a:spcPct val="106000"/>
              </a:lnSpc>
              <a:buNone/>
              <a:defRPr sz="2250" b="0">
                <a:solidFill>
                  <a:srgbClr val="173747"/>
                </a:solidFill>
                <a:latin typeface="Arial"/>
                <a:ea typeface="Arial"/>
                <a:cs typeface="Arial"/>
              </a:defRPr>
            </a:pPr>
            <a:r>
              <a:rPr sz="2250" b="0">
                <a:solidFill>
                  <a:srgbClr val="173747"/>
                </a:solidFill>
                <a:latin typeface="Arial"/>
                <a:ea typeface="Arial"/>
                <a:cs typeface="Arial"/>
              </a:rPr>
              <a:t>antes de que el responsable la integre.</a:t>
            </a:r>
          </a:p>
        </p:txBody>
      </p:sp>
    </p:spTree>
    <p:extLst>
      <p:ext uri="{BB962C8B-B14F-4D97-AF65-F5344CB8AC3E}">
        <p14:creationId xmlns:p14="http://schemas.microsoft.com/office/powerpoint/2010/main" val="6654939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2026-10-05T09:10:42.2040000Z</dcterms:created>
  <dcterms:modified xsi:type="dcterms:W3CDTF">2026-10-05T09:10:42.2040000Z</dcterms:modified>
</coreProperties>
</file>